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96" r:id="rId3"/>
    <p:sldId id="275" r:id="rId4"/>
    <p:sldId id="326" r:id="rId5"/>
    <p:sldId id="260" r:id="rId6"/>
    <p:sldId id="261" r:id="rId7"/>
    <p:sldId id="377" r:id="rId8"/>
    <p:sldId id="378" r:id="rId9"/>
    <p:sldId id="322" r:id="rId10"/>
    <p:sldId id="315" r:id="rId11"/>
    <p:sldId id="320" r:id="rId12"/>
    <p:sldId id="263" r:id="rId13"/>
    <p:sldId id="266" r:id="rId14"/>
    <p:sldId id="267" r:id="rId15"/>
    <p:sldId id="264" r:id="rId16"/>
    <p:sldId id="265" r:id="rId17"/>
    <p:sldId id="268" r:id="rId18"/>
    <p:sldId id="271" r:id="rId19"/>
    <p:sldId id="345" r:id="rId20"/>
    <p:sldId id="299" r:id="rId21"/>
    <p:sldId id="300" r:id="rId22"/>
    <p:sldId id="301" r:id="rId23"/>
    <p:sldId id="302" r:id="rId24"/>
    <p:sldId id="304" r:id="rId25"/>
    <p:sldId id="305" r:id="rId26"/>
    <p:sldId id="356" r:id="rId27"/>
    <p:sldId id="346" r:id="rId28"/>
    <p:sldId id="349" r:id="rId29"/>
    <p:sldId id="365" r:id="rId30"/>
    <p:sldId id="376" r:id="rId31"/>
    <p:sldId id="350" r:id="rId32"/>
    <p:sldId id="259" r:id="rId33"/>
    <p:sldId id="351" r:id="rId34"/>
    <p:sldId id="352" r:id="rId35"/>
    <p:sldId id="269" r:id="rId36"/>
    <p:sldId id="35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p:restoredTop sz="94658"/>
  </p:normalViewPr>
  <p:slideViewPr>
    <p:cSldViewPr snapToGrid="0">
      <p:cViewPr varScale="1">
        <p:scale>
          <a:sx n="120" d="100"/>
          <a:sy n="120" d="100"/>
        </p:scale>
        <p:origin x="8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A438B6-72DB-A646-8D9C-ACDCF426A44B}" type="doc">
      <dgm:prSet loTypeId="urn:microsoft.com/office/officeart/2005/8/layout/pyramid1" loCatId="" qsTypeId="urn:microsoft.com/office/officeart/2005/8/quickstyle/simple1#1" qsCatId="simple" csTypeId="urn:microsoft.com/office/officeart/2005/8/colors/colorful3#1" csCatId="colorful" phldr="1"/>
      <dgm:spPr/>
      <dgm:t>
        <a:bodyPr/>
        <a:lstStyle/>
        <a:p>
          <a:endParaRPr lang="en-US"/>
        </a:p>
      </dgm:t>
    </dgm:pt>
    <dgm:pt modelId="{D8C2F2D0-9A3F-1B4F-820D-9C2E4F8A9F23}">
      <dgm:prSet phldrT="[Text]" custT="1"/>
      <dgm:spPr>
        <a:xfrm>
          <a:off x="1495674" y="0"/>
          <a:ext cx="348860" cy="212516"/>
        </a:xfrm>
        <a:prstGeom prst="trapezoid">
          <a:avLst>
            <a:gd name="adj" fmla="val 82078"/>
          </a:avLst>
        </a:prstGeom>
        <a:solidFill>
          <a:srgbClr val="78909C">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buNone/>
          </a:pPr>
          <a:endPar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gm:t>
    </dgm:pt>
    <dgm:pt modelId="{BEEE835C-C11A-3547-9AB4-AFA03C1A4107}" type="parTrans" cxnId="{05E4C83A-B0DA-8048-88F5-AEDBF5AA632A}">
      <dgm:prSet/>
      <dgm:spPr/>
      <dgm:t>
        <a:bodyPr/>
        <a:lstStyle/>
        <a:p>
          <a:endParaRPr lang="en-US" sz="1400" b="0" i="0">
            <a:latin typeface="Gill Sans" panose="020B0502020104020203" pitchFamily="34" charset="-79"/>
            <a:cs typeface="Gill Sans" panose="020B0502020104020203" pitchFamily="34" charset="-79"/>
          </a:endParaRPr>
        </a:p>
      </dgm:t>
    </dgm:pt>
    <dgm:pt modelId="{9DDA49AD-6BF5-D542-8E1D-FF5CB85F300D}" type="sibTrans" cxnId="{05E4C83A-B0DA-8048-88F5-AEDBF5AA632A}">
      <dgm:prSet/>
      <dgm:spPr/>
      <dgm:t>
        <a:bodyPr/>
        <a:lstStyle/>
        <a:p>
          <a:endParaRPr lang="en-US" sz="1400" b="0" i="0">
            <a:latin typeface="Gill Sans" panose="020B0502020104020203" pitchFamily="34" charset="-79"/>
            <a:cs typeface="Gill Sans" panose="020B0502020104020203" pitchFamily="34" charset="-79"/>
          </a:endParaRPr>
        </a:p>
      </dgm:t>
    </dgm:pt>
    <dgm:pt modelId="{A49E0E69-A6A6-D44D-8CD1-025BBA76C5EE}">
      <dgm:prSet phldrT="[Text]" custT="1"/>
      <dgm:spPr>
        <a:xfrm>
          <a:off x="1303800" y="212516"/>
          <a:ext cx="732607" cy="233768"/>
        </a:xfrm>
        <a:prstGeom prst="trapezoid">
          <a:avLst>
            <a:gd name="adj" fmla="val 82078"/>
          </a:avLst>
        </a:prstGeom>
        <a:solidFill>
          <a:srgbClr val="78909C">
            <a:hueOff val="-1426188"/>
            <a:satOff val="12088"/>
            <a:lumOff val="1204"/>
            <a:alphaOff val="0"/>
          </a:srgbClr>
        </a:solidFill>
        <a:ln w="25400" cap="flat" cmpd="sng" algn="ctr">
          <a:solidFill>
            <a:srgbClr val="FFFFFF">
              <a:hueOff val="0"/>
              <a:satOff val="0"/>
              <a:lumOff val="0"/>
              <a:alphaOff val="0"/>
            </a:srgbClr>
          </a:solidFill>
          <a:prstDash val="solid"/>
        </a:ln>
        <a:effectLst/>
      </dgm:spPr>
      <dgm:t>
        <a:bodyPr/>
        <a:lstStyle/>
        <a:p>
          <a:pPr>
            <a:buNone/>
          </a:pPr>
          <a:endPar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gm:t>
    </dgm:pt>
    <dgm:pt modelId="{7EBAE81C-0F3A-F748-BDD8-DF7EB13F789C}" type="parTrans" cxnId="{61230491-8035-D442-B549-EE89B56C98F6}">
      <dgm:prSet/>
      <dgm:spPr/>
      <dgm:t>
        <a:bodyPr/>
        <a:lstStyle/>
        <a:p>
          <a:endParaRPr lang="en-US" sz="1400" b="0" i="0">
            <a:latin typeface="Gill Sans" panose="020B0502020104020203" pitchFamily="34" charset="-79"/>
            <a:cs typeface="Gill Sans" panose="020B0502020104020203" pitchFamily="34" charset="-79"/>
          </a:endParaRPr>
        </a:p>
      </dgm:t>
    </dgm:pt>
    <dgm:pt modelId="{980AC219-2211-A545-B609-8BE6BED54544}" type="sibTrans" cxnId="{61230491-8035-D442-B549-EE89B56C98F6}">
      <dgm:prSet/>
      <dgm:spPr/>
      <dgm:t>
        <a:bodyPr/>
        <a:lstStyle/>
        <a:p>
          <a:endParaRPr lang="en-US" sz="1400" b="0" i="0">
            <a:latin typeface="Gill Sans" panose="020B0502020104020203" pitchFamily="34" charset="-79"/>
            <a:cs typeface="Gill Sans" panose="020B0502020104020203" pitchFamily="34" charset="-79"/>
          </a:endParaRPr>
        </a:p>
      </dgm:t>
    </dgm:pt>
    <dgm:pt modelId="{3DB02328-6E11-B545-B6A0-EE49FAAE14D0}">
      <dgm:prSet phldrT="[Text]" custT="1"/>
      <dgm:spPr>
        <a:xfrm>
          <a:off x="1022877" y="446285"/>
          <a:ext cx="1294454" cy="342263"/>
        </a:xfrm>
        <a:prstGeom prst="trapezoid">
          <a:avLst>
            <a:gd name="adj" fmla="val 82078"/>
          </a:avLst>
        </a:prstGeom>
        <a:solidFill>
          <a:srgbClr val="78909C">
            <a:hueOff val="-2852377"/>
            <a:satOff val="24176"/>
            <a:lumOff val="2409"/>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Main Memory</a:t>
          </a:r>
        </a:p>
      </dgm:t>
    </dgm:pt>
    <dgm:pt modelId="{33BA7955-5B20-734C-8918-09BCDDF48C8F}" type="parTrans" cxnId="{6EC4491A-595E-894A-B7F1-35D84BD9417B}">
      <dgm:prSet/>
      <dgm:spPr/>
      <dgm:t>
        <a:bodyPr/>
        <a:lstStyle/>
        <a:p>
          <a:endParaRPr lang="en-US" sz="1400" b="0" i="0">
            <a:latin typeface="Gill Sans" panose="020B0502020104020203" pitchFamily="34" charset="-79"/>
            <a:cs typeface="Gill Sans" panose="020B0502020104020203" pitchFamily="34" charset="-79"/>
          </a:endParaRPr>
        </a:p>
      </dgm:t>
    </dgm:pt>
    <dgm:pt modelId="{6E55F130-5505-1A4D-B12D-0667FF84ED77}" type="sibTrans" cxnId="{6EC4491A-595E-894A-B7F1-35D84BD9417B}">
      <dgm:prSet/>
      <dgm:spPr/>
      <dgm:t>
        <a:bodyPr/>
        <a:lstStyle/>
        <a:p>
          <a:endParaRPr lang="en-US" sz="1400" b="0" i="0">
            <a:latin typeface="Gill Sans" panose="020B0502020104020203" pitchFamily="34" charset="-79"/>
            <a:cs typeface="Gill Sans" panose="020B0502020104020203" pitchFamily="34" charset="-79"/>
          </a:endParaRPr>
        </a:p>
      </dgm:t>
    </dgm:pt>
    <dgm:pt modelId="{2E9E6C01-7C26-4A4C-A1F8-B01F44E311FB}">
      <dgm:prSet phldrT="[Text]" custT="1"/>
      <dgm:spPr>
        <a:xfrm>
          <a:off x="575620" y="1099694"/>
          <a:ext cx="2188968" cy="233768"/>
        </a:xfrm>
        <a:prstGeom prst="trapezoid">
          <a:avLst>
            <a:gd name="adj" fmla="val 82078"/>
          </a:avLst>
        </a:prstGeom>
        <a:solidFill>
          <a:srgbClr val="78909C">
            <a:hueOff val="-5704754"/>
            <a:satOff val="48351"/>
            <a:lumOff val="4818"/>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NVM </a:t>
          </a:r>
        </a:p>
      </dgm:t>
    </dgm:pt>
    <dgm:pt modelId="{CF92F415-CAF0-CB48-B1D9-75D417DF74DE}" type="parTrans" cxnId="{4267D342-DDE0-CD49-851A-9956F677A546}">
      <dgm:prSet/>
      <dgm:spPr/>
      <dgm:t>
        <a:bodyPr/>
        <a:lstStyle/>
        <a:p>
          <a:endParaRPr lang="en-US" sz="1400" b="0" i="0">
            <a:latin typeface="Gill Sans" panose="020B0502020104020203" pitchFamily="34" charset="-79"/>
            <a:cs typeface="Gill Sans" panose="020B0502020104020203" pitchFamily="34" charset="-79"/>
          </a:endParaRPr>
        </a:p>
      </dgm:t>
    </dgm:pt>
    <dgm:pt modelId="{BA4730C5-C081-344A-90A8-74F0A2738B85}" type="sibTrans" cxnId="{4267D342-DDE0-CD49-851A-9956F677A546}">
      <dgm:prSet/>
      <dgm:spPr/>
      <dgm:t>
        <a:bodyPr/>
        <a:lstStyle/>
        <a:p>
          <a:endParaRPr lang="en-US" sz="1400" b="0" i="0">
            <a:latin typeface="Gill Sans" panose="020B0502020104020203" pitchFamily="34" charset="-79"/>
            <a:cs typeface="Gill Sans" panose="020B0502020104020203" pitchFamily="34" charset="-79"/>
          </a:endParaRPr>
        </a:p>
      </dgm:t>
    </dgm:pt>
    <dgm:pt modelId="{DBDEE9FF-44F1-7544-A2A4-3D668452FB91}">
      <dgm:prSet phldrT="[Text]" custT="1"/>
      <dgm:spPr>
        <a:xfrm>
          <a:off x="383746" y="1333463"/>
          <a:ext cx="2572715" cy="233768"/>
        </a:xfrm>
        <a:prstGeom prst="trapezoid">
          <a:avLst>
            <a:gd name="adj" fmla="val 82078"/>
          </a:avLst>
        </a:prstGeom>
        <a:solidFill>
          <a:srgbClr val="78909C">
            <a:hueOff val="-7130942"/>
            <a:satOff val="60439"/>
            <a:lumOff val="6022"/>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Network Attached Memory</a:t>
          </a:r>
        </a:p>
      </dgm:t>
    </dgm:pt>
    <dgm:pt modelId="{28FE6464-7AAB-8243-BB24-2552D6913FD8}" type="parTrans" cxnId="{BD90C863-221D-A74F-9707-EF7F0F47521C}">
      <dgm:prSet/>
      <dgm:spPr/>
      <dgm:t>
        <a:bodyPr/>
        <a:lstStyle/>
        <a:p>
          <a:endParaRPr lang="en-US" sz="1400" b="0" i="0">
            <a:latin typeface="Gill Sans" panose="020B0502020104020203" pitchFamily="34" charset="-79"/>
            <a:cs typeface="Gill Sans" panose="020B0502020104020203" pitchFamily="34" charset="-79"/>
          </a:endParaRPr>
        </a:p>
      </dgm:t>
    </dgm:pt>
    <dgm:pt modelId="{E785DB58-124B-294C-B72D-D27367C26D1D}" type="sibTrans" cxnId="{BD90C863-221D-A74F-9707-EF7F0F47521C}">
      <dgm:prSet/>
      <dgm:spPr/>
      <dgm:t>
        <a:bodyPr/>
        <a:lstStyle/>
        <a:p>
          <a:endParaRPr lang="en-US" sz="1400" b="0" i="0">
            <a:latin typeface="Gill Sans" panose="020B0502020104020203" pitchFamily="34" charset="-79"/>
            <a:cs typeface="Gill Sans" panose="020B0502020104020203" pitchFamily="34" charset="-79"/>
          </a:endParaRPr>
        </a:p>
      </dgm:t>
    </dgm:pt>
    <dgm:pt modelId="{03857B24-32D2-474A-8F77-3E8E9C3CFA7A}">
      <dgm:prSet phldrT="[Text]" custT="1"/>
      <dgm:spPr>
        <a:xfrm>
          <a:off x="191873" y="1567231"/>
          <a:ext cx="2956462" cy="233768"/>
        </a:xfrm>
        <a:prstGeom prst="trapezoid">
          <a:avLst>
            <a:gd name="adj" fmla="val 82078"/>
          </a:avLst>
        </a:prstGeom>
        <a:solidFill>
          <a:srgbClr val="78909C">
            <a:hueOff val="-8557130"/>
            <a:satOff val="72527"/>
            <a:lumOff val="7227"/>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SSD</a:t>
          </a:r>
        </a:p>
      </dgm:t>
    </dgm:pt>
    <dgm:pt modelId="{23B9CE12-EE3E-2341-984D-BE6E3EBD9E6C}" type="parTrans" cxnId="{18AA5F57-F168-DD4C-93FD-FE49DD33FA24}">
      <dgm:prSet/>
      <dgm:spPr/>
      <dgm:t>
        <a:bodyPr/>
        <a:lstStyle/>
        <a:p>
          <a:endParaRPr lang="en-US" sz="1400" b="0" i="0">
            <a:latin typeface="Gill Sans" panose="020B0502020104020203" pitchFamily="34" charset="-79"/>
            <a:cs typeface="Gill Sans" panose="020B0502020104020203" pitchFamily="34" charset="-79"/>
          </a:endParaRPr>
        </a:p>
      </dgm:t>
    </dgm:pt>
    <dgm:pt modelId="{5CFF365A-9EE3-0D46-9D31-0C063123CC16}" type="sibTrans" cxnId="{18AA5F57-F168-DD4C-93FD-FE49DD33FA24}">
      <dgm:prSet/>
      <dgm:spPr/>
      <dgm:t>
        <a:bodyPr/>
        <a:lstStyle/>
        <a:p>
          <a:endParaRPr lang="en-US" sz="1400" b="0" i="0">
            <a:latin typeface="Gill Sans" panose="020B0502020104020203" pitchFamily="34" charset="-79"/>
            <a:cs typeface="Gill Sans" panose="020B0502020104020203" pitchFamily="34" charset="-79"/>
          </a:endParaRPr>
        </a:p>
      </dgm:t>
    </dgm:pt>
    <dgm:pt modelId="{9D301182-D261-3340-8032-C8B2E4ED0413}">
      <dgm:prSet phldrT="[Text]" custT="1"/>
      <dgm:spPr>
        <a:xfrm>
          <a:off x="0" y="1801000"/>
          <a:ext cx="3340208" cy="233768"/>
        </a:xfrm>
        <a:prstGeom prst="trapezoid">
          <a:avLst>
            <a:gd name="adj" fmla="val 82078"/>
          </a:avLst>
        </a:prstGeom>
        <a:solidFill>
          <a:srgbClr val="78909C">
            <a:hueOff val="-9983318"/>
            <a:satOff val="84615"/>
            <a:lumOff val="8431"/>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HDD</a:t>
          </a:r>
        </a:p>
      </dgm:t>
    </dgm:pt>
    <dgm:pt modelId="{F2AA09AD-D74B-1448-B9AF-440D848DAEED}" type="parTrans" cxnId="{7B62015E-50F3-C342-8481-3A423F86EA1D}">
      <dgm:prSet/>
      <dgm:spPr/>
      <dgm:t>
        <a:bodyPr/>
        <a:lstStyle/>
        <a:p>
          <a:endParaRPr lang="en-US" sz="1400" b="0" i="0">
            <a:latin typeface="Gill Sans" panose="020B0502020104020203" pitchFamily="34" charset="-79"/>
            <a:cs typeface="Gill Sans" panose="020B0502020104020203" pitchFamily="34" charset="-79"/>
          </a:endParaRPr>
        </a:p>
      </dgm:t>
    </dgm:pt>
    <dgm:pt modelId="{9C78EAF3-196C-F143-A6BA-6327580CD30B}" type="sibTrans" cxnId="{7B62015E-50F3-C342-8481-3A423F86EA1D}">
      <dgm:prSet/>
      <dgm:spPr/>
      <dgm:t>
        <a:bodyPr/>
        <a:lstStyle/>
        <a:p>
          <a:endParaRPr lang="en-US" sz="1400" b="0" i="0">
            <a:latin typeface="Gill Sans" panose="020B0502020104020203" pitchFamily="34" charset="-79"/>
            <a:cs typeface="Gill Sans" panose="020B0502020104020203" pitchFamily="34" charset="-79"/>
          </a:endParaRPr>
        </a:p>
      </dgm:t>
    </dgm:pt>
    <dgm:pt modelId="{11498017-55F6-8E41-88CD-39664B8F2299}">
      <dgm:prSet phldrT="[Text]" custT="1"/>
      <dgm:spPr>
        <a:xfrm>
          <a:off x="767493" y="788548"/>
          <a:ext cx="1805221" cy="311146"/>
        </a:xfrm>
        <a:prstGeom prst="trapezoid">
          <a:avLst>
            <a:gd name="adj" fmla="val 82078"/>
          </a:avLst>
        </a:prstGeom>
        <a:solidFill>
          <a:srgbClr val="78909C">
            <a:hueOff val="-4278565"/>
            <a:satOff val="36264"/>
            <a:lumOff val="3613"/>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CXL-Memory</a:t>
          </a:r>
        </a:p>
      </dgm:t>
    </dgm:pt>
    <dgm:pt modelId="{A202CECB-AFF3-E34C-867C-C3F2CDF726DE}" type="sibTrans" cxnId="{6A581C02-8567-DD47-BA56-66D3B74205D8}">
      <dgm:prSet/>
      <dgm:spPr/>
      <dgm:t>
        <a:bodyPr/>
        <a:lstStyle/>
        <a:p>
          <a:endParaRPr lang="en-US" sz="1400" b="0" i="0">
            <a:latin typeface="Gill Sans" panose="020B0502020104020203" pitchFamily="34" charset="-79"/>
            <a:cs typeface="Gill Sans" panose="020B0502020104020203" pitchFamily="34" charset="-79"/>
          </a:endParaRPr>
        </a:p>
      </dgm:t>
    </dgm:pt>
    <dgm:pt modelId="{88B8CCE8-2FE3-4141-B937-F9B1F5D04861}" type="parTrans" cxnId="{6A581C02-8567-DD47-BA56-66D3B74205D8}">
      <dgm:prSet/>
      <dgm:spPr/>
      <dgm:t>
        <a:bodyPr/>
        <a:lstStyle/>
        <a:p>
          <a:endParaRPr lang="en-US" sz="1400" b="0" i="0">
            <a:latin typeface="Gill Sans" panose="020B0502020104020203" pitchFamily="34" charset="-79"/>
            <a:cs typeface="Gill Sans" panose="020B0502020104020203" pitchFamily="34" charset="-79"/>
          </a:endParaRPr>
        </a:p>
      </dgm:t>
    </dgm:pt>
    <dgm:pt modelId="{F9F48063-1FF5-EC41-A453-B824824ABF7A}" type="pres">
      <dgm:prSet presAssocID="{0BA438B6-72DB-A646-8D9C-ACDCF426A44B}" presName="Name0" presStyleCnt="0">
        <dgm:presLayoutVars>
          <dgm:dir/>
          <dgm:animLvl val="lvl"/>
          <dgm:resizeHandles val="exact"/>
        </dgm:presLayoutVars>
      </dgm:prSet>
      <dgm:spPr/>
    </dgm:pt>
    <dgm:pt modelId="{49024149-5DA6-EA4B-8222-767FBB1090FB}" type="pres">
      <dgm:prSet presAssocID="{D8C2F2D0-9A3F-1B4F-820D-9C2E4F8A9F23}" presName="Name8" presStyleCnt="0"/>
      <dgm:spPr/>
    </dgm:pt>
    <dgm:pt modelId="{7CACEAA5-55D2-4D41-A9A9-BFDE45EE714D}" type="pres">
      <dgm:prSet presAssocID="{D8C2F2D0-9A3F-1B4F-820D-9C2E4F8A9F23}" presName="level" presStyleLbl="node1" presStyleIdx="0" presStyleCnt="8" custScaleY="90909">
        <dgm:presLayoutVars>
          <dgm:chMax val="1"/>
          <dgm:bulletEnabled val="1"/>
        </dgm:presLayoutVars>
      </dgm:prSet>
      <dgm:spPr/>
    </dgm:pt>
    <dgm:pt modelId="{9FAAC3DA-F90D-424E-B07E-A81796926EEF}" type="pres">
      <dgm:prSet presAssocID="{D8C2F2D0-9A3F-1B4F-820D-9C2E4F8A9F23}" presName="levelTx" presStyleLbl="revTx" presStyleIdx="0" presStyleCnt="0">
        <dgm:presLayoutVars>
          <dgm:chMax val="1"/>
          <dgm:bulletEnabled val="1"/>
        </dgm:presLayoutVars>
      </dgm:prSet>
      <dgm:spPr/>
    </dgm:pt>
    <dgm:pt modelId="{7A373044-27E0-D540-8DD3-2BD7997BBC8F}" type="pres">
      <dgm:prSet presAssocID="{A49E0E69-A6A6-D44D-8CD1-025BBA76C5EE}" presName="Name8" presStyleCnt="0"/>
      <dgm:spPr/>
    </dgm:pt>
    <dgm:pt modelId="{EB562380-D9CC-1344-A314-42D1220A25B4}" type="pres">
      <dgm:prSet presAssocID="{A49E0E69-A6A6-D44D-8CD1-025BBA76C5EE}" presName="level" presStyleLbl="node1" presStyleIdx="1" presStyleCnt="8">
        <dgm:presLayoutVars>
          <dgm:chMax val="1"/>
          <dgm:bulletEnabled val="1"/>
        </dgm:presLayoutVars>
      </dgm:prSet>
      <dgm:spPr/>
    </dgm:pt>
    <dgm:pt modelId="{B9301774-D678-3248-A9EE-ED4E3F5F70E3}" type="pres">
      <dgm:prSet presAssocID="{A49E0E69-A6A6-D44D-8CD1-025BBA76C5EE}" presName="levelTx" presStyleLbl="revTx" presStyleIdx="0" presStyleCnt="0">
        <dgm:presLayoutVars>
          <dgm:chMax val="1"/>
          <dgm:bulletEnabled val="1"/>
        </dgm:presLayoutVars>
      </dgm:prSet>
      <dgm:spPr/>
    </dgm:pt>
    <dgm:pt modelId="{D145A361-5647-5440-87F6-74FA4EE20323}" type="pres">
      <dgm:prSet presAssocID="{3DB02328-6E11-B545-B6A0-EE49FAAE14D0}" presName="Name8" presStyleCnt="0"/>
      <dgm:spPr/>
    </dgm:pt>
    <dgm:pt modelId="{A4EAE70E-6864-4C44-AFB4-89136C79E7DC}" type="pres">
      <dgm:prSet presAssocID="{3DB02328-6E11-B545-B6A0-EE49FAAE14D0}" presName="level" presStyleLbl="node1" presStyleIdx="2" presStyleCnt="8" custScaleY="146411">
        <dgm:presLayoutVars>
          <dgm:chMax val="1"/>
          <dgm:bulletEnabled val="1"/>
        </dgm:presLayoutVars>
      </dgm:prSet>
      <dgm:spPr/>
    </dgm:pt>
    <dgm:pt modelId="{EDFE8FF9-3CA9-7748-90C2-91EBCD0656E0}" type="pres">
      <dgm:prSet presAssocID="{3DB02328-6E11-B545-B6A0-EE49FAAE14D0}" presName="levelTx" presStyleLbl="revTx" presStyleIdx="0" presStyleCnt="0">
        <dgm:presLayoutVars>
          <dgm:chMax val="1"/>
          <dgm:bulletEnabled val="1"/>
        </dgm:presLayoutVars>
      </dgm:prSet>
      <dgm:spPr/>
    </dgm:pt>
    <dgm:pt modelId="{B95EA96E-A8AC-A84E-9B89-83CD23B42DAC}" type="pres">
      <dgm:prSet presAssocID="{11498017-55F6-8E41-88CD-39664B8F2299}" presName="Name8" presStyleCnt="0"/>
      <dgm:spPr/>
    </dgm:pt>
    <dgm:pt modelId="{444F5993-A0DA-A341-9CF3-EC87161A5B0F}" type="pres">
      <dgm:prSet presAssocID="{11498017-55F6-8E41-88CD-39664B8F2299}" presName="level" presStyleLbl="node1" presStyleIdx="3" presStyleCnt="8" custScaleY="133100">
        <dgm:presLayoutVars>
          <dgm:chMax val="1"/>
          <dgm:bulletEnabled val="1"/>
        </dgm:presLayoutVars>
      </dgm:prSet>
      <dgm:spPr/>
    </dgm:pt>
    <dgm:pt modelId="{0CDCD97E-F0CD-F64D-9F2F-480C1963DBB0}" type="pres">
      <dgm:prSet presAssocID="{11498017-55F6-8E41-88CD-39664B8F2299}" presName="levelTx" presStyleLbl="revTx" presStyleIdx="0" presStyleCnt="0">
        <dgm:presLayoutVars>
          <dgm:chMax val="1"/>
          <dgm:bulletEnabled val="1"/>
        </dgm:presLayoutVars>
      </dgm:prSet>
      <dgm:spPr/>
    </dgm:pt>
    <dgm:pt modelId="{9AE1FCC0-BFD6-6840-A7F7-F56ADD827977}" type="pres">
      <dgm:prSet presAssocID="{2E9E6C01-7C26-4A4C-A1F8-B01F44E311FB}" presName="Name8" presStyleCnt="0"/>
      <dgm:spPr/>
    </dgm:pt>
    <dgm:pt modelId="{048A76DA-6852-A941-8B04-6EEED2DD99C8}" type="pres">
      <dgm:prSet presAssocID="{2E9E6C01-7C26-4A4C-A1F8-B01F44E311FB}" presName="level" presStyleLbl="node1" presStyleIdx="4" presStyleCnt="8">
        <dgm:presLayoutVars>
          <dgm:chMax val="1"/>
          <dgm:bulletEnabled val="1"/>
        </dgm:presLayoutVars>
      </dgm:prSet>
      <dgm:spPr/>
    </dgm:pt>
    <dgm:pt modelId="{D04BD80A-1E08-4146-9FA0-52AF05C4B7DE}" type="pres">
      <dgm:prSet presAssocID="{2E9E6C01-7C26-4A4C-A1F8-B01F44E311FB}" presName="levelTx" presStyleLbl="revTx" presStyleIdx="0" presStyleCnt="0">
        <dgm:presLayoutVars>
          <dgm:chMax val="1"/>
          <dgm:bulletEnabled val="1"/>
        </dgm:presLayoutVars>
      </dgm:prSet>
      <dgm:spPr/>
    </dgm:pt>
    <dgm:pt modelId="{DC91245C-9D0A-6047-AF77-C112F4EBF31F}" type="pres">
      <dgm:prSet presAssocID="{DBDEE9FF-44F1-7544-A2A4-3D668452FB91}" presName="Name8" presStyleCnt="0"/>
      <dgm:spPr/>
    </dgm:pt>
    <dgm:pt modelId="{11B0D671-AC68-8748-B7BB-72C5302EEB7B}" type="pres">
      <dgm:prSet presAssocID="{DBDEE9FF-44F1-7544-A2A4-3D668452FB91}" presName="level" presStyleLbl="node1" presStyleIdx="5" presStyleCnt="8">
        <dgm:presLayoutVars>
          <dgm:chMax val="1"/>
          <dgm:bulletEnabled val="1"/>
        </dgm:presLayoutVars>
      </dgm:prSet>
      <dgm:spPr/>
    </dgm:pt>
    <dgm:pt modelId="{3D7358E0-E384-884F-A7DF-2DBFE0A28F31}" type="pres">
      <dgm:prSet presAssocID="{DBDEE9FF-44F1-7544-A2A4-3D668452FB91}" presName="levelTx" presStyleLbl="revTx" presStyleIdx="0" presStyleCnt="0">
        <dgm:presLayoutVars>
          <dgm:chMax val="1"/>
          <dgm:bulletEnabled val="1"/>
        </dgm:presLayoutVars>
      </dgm:prSet>
      <dgm:spPr/>
    </dgm:pt>
    <dgm:pt modelId="{C91A3480-E123-534A-82A7-A6DC7A1F1C54}" type="pres">
      <dgm:prSet presAssocID="{03857B24-32D2-474A-8F77-3E8E9C3CFA7A}" presName="Name8" presStyleCnt="0"/>
      <dgm:spPr/>
    </dgm:pt>
    <dgm:pt modelId="{3479AF6D-63FE-C84D-9D14-1ED329C3278C}" type="pres">
      <dgm:prSet presAssocID="{03857B24-32D2-474A-8F77-3E8E9C3CFA7A}" presName="level" presStyleLbl="node1" presStyleIdx="6" presStyleCnt="8">
        <dgm:presLayoutVars>
          <dgm:chMax val="1"/>
          <dgm:bulletEnabled val="1"/>
        </dgm:presLayoutVars>
      </dgm:prSet>
      <dgm:spPr/>
    </dgm:pt>
    <dgm:pt modelId="{7AE33E7D-3210-3744-99C6-DC5308FB4EAD}" type="pres">
      <dgm:prSet presAssocID="{03857B24-32D2-474A-8F77-3E8E9C3CFA7A}" presName="levelTx" presStyleLbl="revTx" presStyleIdx="0" presStyleCnt="0">
        <dgm:presLayoutVars>
          <dgm:chMax val="1"/>
          <dgm:bulletEnabled val="1"/>
        </dgm:presLayoutVars>
      </dgm:prSet>
      <dgm:spPr/>
    </dgm:pt>
    <dgm:pt modelId="{AE3968B5-18DD-D244-9FE8-5764D43771A1}" type="pres">
      <dgm:prSet presAssocID="{9D301182-D261-3340-8032-C8B2E4ED0413}" presName="Name8" presStyleCnt="0"/>
      <dgm:spPr/>
    </dgm:pt>
    <dgm:pt modelId="{6727E15D-A8A8-1846-A32E-3ED549E239BE}" type="pres">
      <dgm:prSet presAssocID="{9D301182-D261-3340-8032-C8B2E4ED0413}" presName="level" presStyleLbl="node1" presStyleIdx="7" presStyleCnt="8">
        <dgm:presLayoutVars>
          <dgm:chMax val="1"/>
          <dgm:bulletEnabled val="1"/>
        </dgm:presLayoutVars>
      </dgm:prSet>
      <dgm:spPr/>
    </dgm:pt>
    <dgm:pt modelId="{8ADCEEBB-11A4-7A4A-93FB-137DAAE51320}" type="pres">
      <dgm:prSet presAssocID="{9D301182-D261-3340-8032-C8B2E4ED0413}" presName="levelTx" presStyleLbl="revTx" presStyleIdx="0" presStyleCnt="0">
        <dgm:presLayoutVars>
          <dgm:chMax val="1"/>
          <dgm:bulletEnabled val="1"/>
        </dgm:presLayoutVars>
      </dgm:prSet>
      <dgm:spPr/>
    </dgm:pt>
  </dgm:ptLst>
  <dgm:cxnLst>
    <dgm:cxn modelId="{6A581C02-8567-DD47-BA56-66D3B74205D8}" srcId="{0BA438B6-72DB-A646-8D9C-ACDCF426A44B}" destId="{11498017-55F6-8E41-88CD-39664B8F2299}" srcOrd="3" destOrd="0" parTransId="{88B8CCE8-2FE3-4141-B937-F9B1F5D04861}" sibTransId="{A202CECB-AFF3-E34C-867C-C3F2CDF726DE}"/>
    <dgm:cxn modelId="{6EC4491A-595E-894A-B7F1-35D84BD9417B}" srcId="{0BA438B6-72DB-A646-8D9C-ACDCF426A44B}" destId="{3DB02328-6E11-B545-B6A0-EE49FAAE14D0}" srcOrd="2" destOrd="0" parTransId="{33BA7955-5B20-734C-8918-09BCDDF48C8F}" sibTransId="{6E55F130-5505-1A4D-B12D-0667FF84ED77}"/>
    <dgm:cxn modelId="{9F1A751D-033D-174F-856B-A84DBE4D098A}" type="presOf" srcId="{A49E0E69-A6A6-D44D-8CD1-025BBA76C5EE}" destId="{B9301774-D678-3248-A9EE-ED4E3F5F70E3}" srcOrd="1" destOrd="0" presId="urn:microsoft.com/office/officeart/2005/8/layout/pyramid1"/>
    <dgm:cxn modelId="{AD744122-9D67-5B4B-81CD-6AF25C5A33A6}" type="presOf" srcId="{03857B24-32D2-474A-8F77-3E8E9C3CFA7A}" destId="{7AE33E7D-3210-3744-99C6-DC5308FB4EAD}" srcOrd="1" destOrd="0" presId="urn:microsoft.com/office/officeart/2005/8/layout/pyramid1"/>
    <dgm:cxn modelId="{05E4C83A-B0DA-8048-88F5-AEDBF5AA632A}" srcId="{0BA438B6-72DB-A646-8D9C-ACDCF426A44B}" destId="{D8C2F2D0-9A3F-1B4F-820D-9C2E4F8A9F23}" srcOrd="0" destOrd="0" parTransId="{BEEE835C-C11A-3547-9AB4-AFA03C1A4107}" sibTransId="{9DDA49AD-6BF5-D542-8E1D-FF5CB85F300D}"/>
    <dgm:cxn modelId="{DFEF8340-B880-E946-B28C-3684513CE281}" type="presOf" srcId="{3DB02328-6E11-B545-B6A0-EE49FAAE14D0}" destId="{EDFE8FF9-3CA9-7748-90C2-91EBCD0656E0}" srcOrd="1" destOrd="0" presId="urn:microsoft.com/office/officeart/2005/8/layout/pyramid1"/>
    <dgm:cxn modelId="{0DAA1542-6853-2349-9258-E028EE7647EE}" type="presOf" srcId="{A49E0E69-A6A6-D44D-8CD1-025BBA76C5EE}" destId="{EB562380-D9CC-1344-A314-42D1220A25B4}" srcOrd="0" destOrd="0" presId="urn:microsoft.com/office/officeart/2005/8/layout/pyramid1"/>
    <dgm:cxn modelId="{4267D342-DDE0-CD49-851A-9956F677A546}" srcId="{0BA438B6-72DB-A646-8D9C-ACDCF426A44B}" destId="{2E9E6C01-7C26-4A4C-A1F8-B01F44E311FB}" srcOrd="4" destOrd="0" parTransId="{CF92F415-CAF0-CB48-B1D9-75D417DF74DE}" sibTransId="{BA4730C5-C081-344A-90A8-74F0A2738B85}"/>
    <dgm:cxn modelId="{18AA5F57-F168-DD4C-93FD-FE49DD33FA24}" srcId="{0BA438B6-72DB-A646-8D9C-ACDCF426A44B}" destId="{03857B24-32D2-474A-8F77-3E8E9C3CFA7A}" srcOrd="6" destOrd="0" parTransId="{23B9CE12-EE3E-2341-984D-BE6E3EBD9E6C}" sibTransId="{5CFF365A-9EE3-0D46-9D31-0C063123CC16}"/>
    <dgm:cxn modelId="{7B62015E-50F3-C342-8481-3A423F86EA1D}" srcId="{0BA438B6-72DB-A646-8D9C-ACDCF426A44B}" destId="{9D301182-D261-3340-8032-C8B2E4ED0413}" srcOrd="7" destOrd="0" parTransId="{F2AA09AD-D74B-1448-B9AF-440D848DAEED}" sibTransId="{9C78EAF3-196C-F143-A6BA-6327580CD30B}"/>
    <dgm:cxn modelId="{BD90C863-221D-A74F-9707-EF7F0F47521C}" srcId="{0BA438B6-72DB-A646-8D9C-ACDCF426A44B}" destId="{DBDEE9FF-44F1-7544-A2A4-3D668452FB91}" srcOrd="5" destOrd="0" parTransId="{28FE6464-7AAB-8243-BB24-2552D6913FD8}" sibTransId="{E785DB58-124B-294C-B72D-D27367C26D1D}"/>
    <dgm:cxn modelId="{1B45BC69-F34B-6A4D-909E-316284969F02}" type="presOf" srcId="{DBDEE9FF-44F1-7544-A2A4-3D668452FB91}" destId="{11B0D671-AC68-8748-B7BB-72C5302EEB7B}" srcOrd="0" destOrd="0" presId="urn:microsoft.com/office/officeart/2005/8/layout/pyramid1"/>
    <dgm:cxn modelId="{F702D47F-ECD0-DC41-976A-D13B2D7B4C94}" type="presOf" srcId="{DBDEE9FF-44F1-7544-A2A4-3D668452FB91}" destId="{3D7358E0-E384-884F-A7DF-2DBFE0A28F31}" srcOrd="1" destOrd="0" presId="urn:microsoft.com/office/officeart/2005/8/layout/pyramid1"/>
    <dgm:cxn modelId="{32DACE86-2696-824D-BBBD-D856233F58F6}" type="presOf" srcId="{03857B24-32D2-474A-8F77-3E8E9C3CFA7A}" destId="{3479AF6D-63FE-C84D-9D14-1ED329C3278C}" srcOrd="0" destOrd="0" presId="urn:microsoft.com/office/officeart/2005/8/layout/pyramid1"/>
    <dgm:cxn modelId="{D358828B-2533-E64A-8402-220DF8A2B5B2}" type="presOf" srcId="{D8C2F2D0-9A3F-1B4F-820D-9C2E4F8A9F23}" destId="{7CACEAA5-55D2-4D41-A9A9-BFDE45EE714D}" srcOrd="0" destOrd="0" presId="urn:microsoft.com/office/officeart/2005/8/layout/pyramid1"/>
    <dgm:cxn modelId="{61230491-8035-D442-B549-EE89B56C98F6}" srcId="{0BA438B6-72DB-A646-8D9C-ACDCF426A44B}" destId="{A49E0E69-A6A6-D44D-8CD1-025BBA76C5EE}" srcOrd="1" destOrd="0" parTransId="{7EBAE81C-0F3A-F748-BDD8-DF7EB13F789C}" sibTransId="{980AC219-2211-A545-B609-8BE6BED54544}"/>
    <dgm:cxn modelId="{E87B44A2-D195-8748-8F65-28D3DD446823}" type="presOf" srcId="{0BA438B6-72DB-A646-8D9C-ACDCF426A44B}" destId="{F9F48063-1FF5-EC41-A453-B824824ABF7A}" srcOrd="0" destOrd="0" presId="urn:microsoft.com/office/officeart/2005/8/layout/pyramid1"/>
    <dgm:cxn modelId="{F2FFFCA8-FC22-AE4A-B6F1-3849B26FAB34}" type="presOf" srcId="{2E9E6C01-7C26-4A4C-A1F8-B01F44E311FB}" destId="{D04BD80A-1E08-4146-9FA0-52AF05C4B7DE}" srcOrd="1" destOrd="0" presId="urn:microsoft.com/office/officeart/2005/8/layout/pyramid1"/>
    <dgm:cxn modelId="{87DBADB5-CA24-8D46-81D4-5EE6042C8E25}" type="presOf" srcId="{11498017-55F6-8E41-88CD-39664B8F2299}" destId="{444F5993-A0DA-A341-9CF3-EC87161A5B0F}" srcOrd="0" destOrd="0" presId="urn:microsoft.com/office/officeart/2005/8/layout/pyramid1"/>
    <dgm:cxn modelId="{6A1BAEB8-4F2C-764E-A8D1-3A5C274EC67B}" type="presOf" srcId="{3DB02328-6E11-B545-B6A0-EE49FAAE14D0}" destId="{A4EAE70E-6864-4C44-AFB4-89136C79E7DC}" srcOrd="0" destOrd="0" presId="urn:microsoft.com/office/officeart/2005/8/layout/pyramid1"/>
    <dgm:cxn modelId="{0BDEBEC9-AA16-A143-BFFA-34E8213124D5}" type="presOf" srcId="{9D301182-D261-3340-8032-C8B2E4ED0413}" destId="{6727E15D-A8A8-1846-A32E-3ED549E239BE}" srcOrd="0" destOrd="0" presId="urn:microsoft.com/office/officeart/2005/8/layout/pyramid1"/>
    <dgm:cxn modelId="{D14513D0-CB17-C840-A55F-7AC850E61CE0}" type="presOf" srcId="{D8C2F2D0-9A3F-1B4F-820D-9C2E4F8A9F23}" destId="{9FAAC3DA-F90D-424E-B07E-A81796926EEF}" srcOrd="1" destOrd="0" presId="urn:microsoft.com/office/officeart/2005/8/layout/pyramid1"/>
    <dgm:cxn modelId="{005D24DC-A013-1C45-881D-7022F954B130}" type="presOf" srcId="{9D301182-D261-3340-8032-C8B2E4ED0413}" destId="{8ADCEEBB-11A4-7A4A-93FB-137DAAE51320}" srcOrd="1" destOrd="0" presId="urn:microsoft.com/office/officeart/2005/8/layout/pyramid1"/>
    <dgm:cxn modelId="{81CB4CDC-D02F-7F4B-AB47-D8063FD48CD8}" type="presOf" srcId="{2E9E6C01-7C26-4A4C-A1F8-B01F44E311FB}" destId="{048A76DA-6852-A941-8B04-6EEED2DD99C8}" srcOrd="0" destOrd="0" presId="urn:microsoft.com/office/officeart/2005/8/layout/pyramid1"/>
    <dgm:cxn modelId="{60C4E5E5-B2D5-504B-9895-CF9D3CFA6B93}" type="presOf" srcId="{11498017-55F6-8E41-88CD-39664B8F2299}" destId="{0CDCD97E-F0CD-F64D-9F2F-480C1963DBB0}" srcOrd="1" destOrd="0" presId="urn:microsoft.com/office/officeart/2005/8/layout/pyramid1"/>
    <dgm:cxn modelId="{3A5072DF-9810-BA46-B168-DAD77A5F46EA}" type="presParOf" srcId="{F9F48063-1FF5-EC41-A453-B824824ABF7A}" destId="{49024149-5DA6-EA4B-8222-767FBB1090FB}" srcOrd="0" destOrd="0" presId="urn:microsoft.com/office/officeart/2005/8/layout/pyramid1"/>
    <dgm:cxn modelId="{427009C1-3A56-9D4E-B5D3-B32B4D8D6CC5}" type="presParOf" srcId="{49024149-5DA6-EA4B-8222-767FBB1090FB}" destId="{7CACEAA5-55D2-4D41-A9A9-BFDE45EE714D}" srcOrd="0" destOrd="0" presId="urn:microsoft.com/office/officeart/2005/8/layout/pyramid1"/>
    <dgm:cxn modelId="{4CDE93C9-7DAF-F14E-B605-F0E9E82613FA}" type="presParOf" srcId="{49024149-5DA6-EA4B-8222-767FBB1090FB}" destId="{9FAAC3DA-F90D-424E-B07E-A81796926EEF}" srcOrd="1" destOrd="0" presId="urn:microsoft.com/office/officeart/2005/8/layout/pyramid1"/>
    <dgm:cxn modelId="{9E4BEFFE-2650-8541-B036-161A02091DFC}" type="presParOf" srcId="{F9F48063-1FF5-EC41-A453-B824824ABF7A}" destId="{7A373044-27E0-D540-8DD3-2BD7997BBC8F}" srcOrd="1" destOrd="0" presId="urn:microsoft.com/office/officeart/2005/8/layout/pyramid1"/>
    <dgm:cxn modelId="{0D5C9A3F-5540-6E47-8AB5-A73D7E20CCBD}" type="presParOf" srcId="{7A373044-27E0-D540-8DD3-2BD7997BBC8F}" destId="{EB562380-D9CC-1344-A314-42D1220A25B4}" srcOrd="0" destOrd="0" presId="urn:microsoft.com/office/officeart/2005/8/layout/pyramid1"/>
    <dgm:cxn modelId="{83BCF106-BCE2-5642-9025-8F681B94E328}" type="presParOf" srcId="{7A373044-27E0-D540-8DD3-2BD7997BBC8F}" destId="{B9301774-D678-3248-A9EE-ED4E3F5F70E3}" srcOrd="1" destOrd="0" presId="urn:microsoft.com/office/officeart/2005/8/layout/pyramid1"/>
    <dgm:cxn modelId="{9A6A5B84-AEF9-B347-8DFD-1B596A81A7C8}" type="presParOf" srcId="{F9F48063-1FF5-EC41-A453-B824824ABF7A}" destId="{D145A361-5647-5440-87F6-74FA4EE20323}" srcOrd="2" destOrd="0" presId="urn:microsoft.com/office/officeart/2005/8/layout/pyramid1"/>
    <dgm:cxn modelId="{F26B0061-4C70-5F4C-BF61-C8D04F762FBF}" type="presParOf" srcId="{D145A361-5647-5440-87F6-74FA4EE20323}" destId="{A4EAE70E-6864-4C44-AFB4-89136C79E7DC}" srcOrd="0" destOrd="0" presId="urn:microsoft.com/office/officeart/2005/8/layout/pyramid1"/>
    <dgm:cxn modelId="{5A36FA2A-62E0-EA44-B7C6-B206AAF5D371}" type="presParOf" srcId="{D145A361-5647-5440-87F6-74FA4EE20323}" destId="{EDFE8FF9-3CA9-7748-90C2-91EBCD0656E0}" srcOrd="1" destOrd="0" presId="urn:microsoft.com/office/officeart/2005/8/layout/pyramid1"/>
    <dgm:cxn modelId="{308ED701-9A04-AF4B-BD66-AA6A5BE592CB}" type="presParOf" srcId="{F9F48063-1FF5-EC41-A453-B824824ABF7A}" destId="{B95EA96E-A8AC-A84E-9B89-83CD23B42DAC}" srcOrd="3" destOrd="0" presId="urn:microsoft.com/office/officeart/2005/8/layout/pyramid1"/>
    <dgm:cxn modelId="{379031AA-032D-E449-A957-2C8D0F9E1A6B}" type="presParOf" srcId="{B95EA96E-A8AC-A84E-9B89-83CD23B42DAC}" destId="{444F5993-A0DA-A341-9CF3-EC87161A5B0F}" srcOrd="0" destOrd="0" presId="urn:microsoft.com/office/officeart/2005/8/layout/pyramid1"/>
    <dgm:cxn modelId="{A0BF93D6-1F72-E648-BE7B-FA3C325E59FA}" type="presParOf" srcId="{B95EA96E-A8AC-A84E-9B89-83CD23B42DAC}" destId="{0CDCD97E-F0CD-F64D-9F2F-480C1963DBB0}" srcOrd="1" destOrd="0" presId="urn:microsoft.com/office/officeart/2005/8/layout/pyramid1"/>
    <dgm:cxn modelId="{F70183E0-9055-3547-97A3-05C2740EE1D4}" type="presParOf" srcId="{F9F48063-1FF5-EC41-A453-B824824ABF7A}" destId="{9AE1FCC0-BFD6-6840-A7F7-F56ADD827977}" srcOrd="4" destOrd="0" presId="urn:microsoft.com/office/officeart/2005/8/layout/pyramid1"/>
    <dgm:cxn modelId="{B3C34CB2-DAB8-6F46-9FB8-5C342BB57594}" type="presParOf" srcId="{9AE1FCC0-BFD6-6840-A7F7-F56ADD827977}" destId="{048A76DA-6852-A941-8B04-6EEED2DD99C8}" srcOrd="0" destOrd="0" presId="urn:microsoft.com/office/officeart/2005/8/layout/pyramid1"/>
    <dgm:cxn modelId="{2EE37321-4FDE-2744-B4C2-0A7650276B4E}" type="presParOf" srcId="{9AE1FCC0-BFD6-6840-A7F7-F56ADD827977}" destId="{D04BD80A-1E08-4146-9FA0-52AF05C4B7DE}" srcOrd="1" destOrd="0" presId="urn:microsoft.com/office/officeart/2005/8/layout/pyramid1"/>
    <dgm:cxn modelId="{25FD73A2-D2D0-5949-84B6-4879F64AA8C7}" type="presParOf" srcId="{F9F48063-1FF5-EC41-A453-B824824ABF7A}" destId="{DC91245C-9D0A-6047-AF77-C112F4EBF31F}" srcOrd="5" destOrd="0" presId="urn:microsoft.com/office/officeart/2005/8/layout/pyramid1"/>
    <dgm:cxn modelId="{76C66FDD-C786-7E4E-9233-0314D45BEA69}" type="presParOf" srcId="{DC91245C-9D0A-6047-AF77-C112F4EBF31F}" destId="{11B0D671-AC68-8748-B7BB-72C5302EEB7B}" srcOrd="0" destOrd="0" presId="urn:microsoft.com/office/officeart/2005/8/layout/pyramid1"/>
    <dgm:cxn modelId="{91CCC73B-37F1-B540-AD7F-BFAA17A995AE}" type="presParOf" srcId="{DC91245C-9D0A-6047-AF77-C112F4EBF31F}" destId="{3D7358E0-E384-884F-A7DF-2DBFE0A28F31}" srcOrd="1" destOrd="0" presId="urn:microsoft.com/office/officeart/2005/8/layout/pyramid1"/>
    <dgm:cxn modelId="{EA6894F3-918A-CC43-8869-BBCBA09AF8EA}" type="presParOf" srcId="{F9F48063-1FF5-EC41-A453-B824824ABF7A}" destId="{C91A3480-E123-534A-82A7-A6DC7A1F1C54}" srcOrd="6" destOrd="0" presId="urn:microsoft.com/office/officeart/2005/8/layout/pyramid1"/>
    <dgm:cxn modelId="{B420F3E9-2E9C-904E-874D-336AC4EE79E4}" type="presParOf" srcId="{C91A3480-E123-534A-82A7-A6DC7A1F1C54}" destId="{3479AF6D-63FE-C84D-9D14-1ED329C3278C}" srcOrd="0" destOrd="0" presId="urn:microsoft.com/office/officeart/2005/8/layout/pyramid1"/>
    <dgm:cxn modelId="{6F58BF89-6ECF-7D42-BF0D-FFE4E5AEBC58}" type="presParOf" srcId="{C91A3480-E123-534A-82A7-A6DC7A1F1C54}" destId="{7AE33E7D-3210-3744-99C6-DC5308FB4EAD}" srcOrd="1" destOrd="0" presId="urn:microsoft.com/office/officeart/2005/8/layout/pyramid1"/>
    <dgm:cxn modelId="{9C6AEAF0-8C23-084B-A4E5-B247584398C5}" type="presParOf" srcId="{F9F48063-1FF5-EC41-A453-B824824ABF7A}" destId="{AE3968B5-18DD-D244-9FE8-5764D43771A1}" srcOrd="7" destOrd="0" presId="urn:microsoft.com/office/officeart/2005/8/layout/pyramid1"/>
    <dgm:cxn modelId="{91B489D9-C8FA-8945-979C-107D3F4C5FB8}" type="presParOf" srcId="{AE3968B5-18DD-D244-9FE8-5764D43771A1}" destId="{6727E15D-A8A8-1846-A32E-3ED549E239BE}" srcOrd="0" destOrd="0" presId="urn:microsoft.com/office/officeart/2005/8/layout/pyramid1"/>
    <dgm:cxn modelId="{A31AD776-27A2-5B41-A9C3-FD339F66A3D3}" type="presParOf" srcId="{AE3968B5-18DD-D244-9FE8-5764D43771A1}" destId="{8ADCEEBB-11A4-7A4A-93FB-137DAAE51320}"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CEAA5-55D2-4D41-A9A9-BFDE45EE714D}">
      <dsp:nvSpPr>
        <dsp:cNvPr id="0" name=""/>
        <dsp:cNvSpPr/>
      </dsp:nvSpPr>
      <dsp:spPr>
        <a:xfrm>
          <a:off x="2164338" y="0"/>
          <a:ext cx="504823" cy="307525"/>
        </a:xfrm>
        <a:prstGeom prst="trapezoid">
          <a:avLst>
            <a:gd name="adj" fmla="val 82078"/>
          </a:avLst>
        </a:prstGeom>
        <a:solidFill>
          <a:srgbClr val="78909C">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sp:txBody>
      <dsp:txXfrm>
        <a:off x="2332612" y="102508"/>
        <a:ext cx="168275" cy="205017"/>
      </dsp:txXfrm>
    </dsp:sp>
    <dsp:sp modelId="{EB562380-D9CC-1344-A314-42D1220A25B4}">
      <dsp:nvSpPr>
        <dsp:cNvPr id="0" name=""/>
        <dsp:cNvSpPr/>
      </dsp:nvSpPr>
      <dsp:spPr>
        <a:xfrm>
          <a:off x="1886684" y="307525"/>
          <a:ext cx="1060130" cy="338278"/>
        </a:xfrm>
        <a:prstGeom prst="trapezoid">
          <a:avLst>
            <a:gd name="adj" fmla="val 82078"/>
          </a:avLst>
        </a:prstGeom>
        <a:solidFill>
          <a:srgbClr val="78909C">
            <a:hueOff val="-1426188"/>
            <a:satOff val="12088"/>
            <a:lumOff val="1204"/>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sp:txBody>
      <dsp:txXfrm>
        <a:off x="2257308" y="398393"/>
        <a:ext cx="318882" cy="247410"/>
      </dsp:txXfrm>
    </dsp:sp>
    <dsp:sp modelId="{A4EAE70E-6864-4C44-AFB4-89136C79E7DC}">
      <dsp:nvSpPr>
        <dsp:cNvPr id="0" name=""/>
        <dsp:cNvSpPr/>
      </dsp:nvSpPr>
      <dsp:spPr>
        <a:xfrm>
          <a:off x="1480169" y="645803"/>
          <a:ext cx="1873160" cy="495276"/>
        </a:xfrm>
        <a:prstGeom prst="trapezoid">
          <a:avLst>
            <a:gd name="adj" fmla="val 82078"/>
          </a:avLst>
        </a:prstGeom>
        <a:solidFill>
          <a:srgbClr val="78909C">
            <a:hueOff val="-2852377"/>
            <a:satOff val="24176"/>
            <a:lumOff val="2409"/>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Main Memory</a:t>
          </a:r>
        </a:p>
      </dsp:txBody>
      <dsp:txXfrm>
        <a:off x="2078980" y="756044"/>
        <a:ext cx="675538" cy="385035"/>
      </dsp:txXfrm>
    </dsp:sp>
    <dsp:sp modelId="{444F5993-A0DA-A341-9CF3-EC87161A5B0F}">
      <dsp:nvSpPr>
        <dsp:cNvPr id="0" name=""/>
        <dsp:cNvSpPr/>
      </dsp:nvSpPr>
      <dsp:spPr>
        <a:xfrm>
          <a:off x="1110613" y="1141080"/>
          <a:ext cx="2612273" cy="450248"/>
        </a:xfrm>
        <a:prstGeom prst="trapezoid">
          <a:avLst>
            <a:gd name="adj" fmla="val 82078"/>
          </a:avLst>
        </a:prstGeom>
        <a:solidFill>
          <a:srgbClr val="78909C">
            <a:hueOff val="-4278565"/>
            <a:satOff val="36264"/>
            <a:lumOff val="3613"/>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CXL-Memory</a:t>
          </a:r>
        </a:p>
      </dsp:txBody>
      <dsp:txXfrm>
        <a:off x="1814131" y="1206409"/>
        <a:ext cx="1205237" cy="384919"/>
      </dsp:txXfrm>
    </dsp:sp>
    <dsp:sp modelId="{048A76DA-6852-A941-8B04-6EEED2DD99C8}">
      <dsp:nvSpPr>
        <dsp:cNvPr id="0" name=""/>
        <dsp:cNvSpPr/>
      </dsp:nvSpPr>
      <dsp:spPr>
        <a:xfrm>
          <a:off x="832959" y="1591329"/>
          <a:ext cx="3167580" cy="338278"/>
        </a:xfrm>
        <a:prstGeom prst="trapezoid">
          <a:avLst>
            <a:gd name="adj" fmla="val 82078"/>
          </a:avLst>
        </a:prstGeom>
        <a:solidFill>
          <a:srgbClr val="78909C">
            <a:hueOff val="-5704754"/>
            <a:satOff val="48351"/>
            <a:lumOff val="4818"/>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NVM </a:t>
          </a:r>
        </a:p>
      </dsp:txBody>
      <dsp:txXfrm>
        <a:off x="1572387" y="1621741"/>
        <a:ext cx="1688725" cy="307866"/>
      </dsp:txXfrm>
    </dsp:sp>
    <dsp:sp modelId="{11B0D671-AC68-8748-B7BB-72C5302EEB7B}">
      <dsp:nvSpPr>
        <dsp:cNvPr id="0" name=""/>
        <dsp:cNvSpPr/>
      </dsp:nvSpPr>
      <dsp:spPr>
        <a:xfrm>
          <a:off x="555306" y="1929607"/>
          <a:ext cx="3722886" cy="338278"/>
        </a:xfrm>
        <a:prstGeom prst="trapezoid">
          <a:avLst>
            <a:gd name="adj" fmla="val 82078"/>
          </a:avLst>
        </a:prstGeom>
        <a:solidFill>
          <a:srgbClr val="78909C">
            <a:hueOff val="-7130942"/>
            <a:satOff val="60439"/>
            <a:lumOff val="6022"/>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Network Attached Memory</a:t>
          </a:r>
        </a:p>
      </dsp:txBody>
      <dsp:txXfrm>
        <a:off x="1391912" y="1955483"/>
        <a:ext cx="2049674" cy="312402"/>
      </dsp:txXfrm>
    </dsp:sp>
    <dsp:sp modelId="{3479AF6D-63FE-C84D-9D14-1ED329C3278C}">
      <dsp:nvSpPr>
        <dsp:cNvPr id="0" name=""/>
        <dsp:cNvSpPr/>
      </dsp:nvSpPr>
      <dsp:spPr>
        <a:xfrm>
          <a:off x="277653" y="2267886"/>
          <a:ext cx="4278193" cy="338278"/>
        </a:xfrm>
        <a:prstGeom prst="trapezoid">
          <a:avLst>
            <a:gd name="adj" fmla="val 82078"/>
          </a:avLst>
        </a:prstGeom>
        <a:solidFill>
          <a:srgbClr val="78909C">
            <a:hueOff val="-8557130"/>
            <a:satOff val="72527"/>
            <a:lumOff val="7227"/>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SSD</a:t>
          </a:r>
        </a:p>
      </dsp:txBody>
      <dsp:txXfrm>
        <a:off x="1211438" y="2290403"/>
        <a:ext cx="2410623" cy="315761"/>
      </dsp:txXfrm>
    </dsp:sp>
    <dsp:sp modelId="{6727E15D-A8A8-1846-A32E-3ED549E239BE}">
      <dsp:nvSpPr>
        <dsp:cNvPr id="0" name=""/>
        <dsp:cNvSpPr/>
      </dsp:nvSpPr>
      <dsp:spPr>
        <a:xfrm>
          <a:off x="0" y="2606164"/>
          <a:ext cx="4833499" cy="338278"/>
        </a:xfrm>
        <a:prstGeom prst="trapezoid">
          <a:avLst>
            <a:gd name="adj" fmla="val 82078"/>
          </a:avLst>
        </a:prstGeom>
        <a:solidFill>
          <a:srgbClr val="78909C">
            <a:hueOff val="-9983318"/>
            <a:satOff val="84615"/>
            <a:lumOff val="8431"/>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HDD</a:t>
          </a:r>
        </a:p>
      </dsp:txBody>
      <dsp:txXfrm>
        <a:off x="1030963" y="2626094"/>
        <a:ext cx="2771573" cy="31834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DD726-0BBB-F242-AC4F-3B13238EDD99}" type="datetimeFigureOut">
              <a:rPr lang="en-US" smtClean="0"/>
              <a:t>9/6/26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A3D15B-CB70-134B-BD5E-11E4649994BA}" type="slidenum">
              <a:rPr lang="en-US" smtClean="0"/>
              <a:t>‹#›</a:t>
            </a:fld>
            <a:endParaRPr lang="en-US"/>
          </a:p>
        </p:txBody>
      </p:sp>
    </p:spTree>
    <p:extLst>
      <p:ext uri="{BB962C8B-B14F-4D97-AF65-F5344CB8AC3E}">
        <p14:creationId xmlns:p14="http://schemas.microsoft.com/office/powerpoint/2010/main" val="4251527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2DBF5F-E884-8D4B-8536-498293E3FBD0}" type="slidenum">
              <a:rPr lang="en-US" smtClean="0"/>
              <a:t>1</a:t>
            </a:fld>
            <a:endParaRPr lang="en-US"/>
          </a:p>
        </p:txBody>
      </p:sp>
    </p:spTree>
    <p:extLst>
      <p:ext uri="{BB962C8B-B14F-4D97-AF65-F5344CB8AC3E}">
        <p14:creationId xmlns:p14="http://schemas.microsoft.com/office/powerpoint/2010/main" val="1276240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DBF5F-E884-8D4B-8536-498293E3FBD0}" type="slidenum">
              <a:rPr lang="en-US" smtClean="0"/>
              <a:t>9</a:t>
            </a:fld>
            <a:endParaRPr lang="en-US"/>
          </a:p>
        </p:txBody>
      </p:sp>
    </p:spTree>
    <p:extLst>
      <p:ext uri="{BB962C8B-B14F-4D97-AF65-F5344CB8AC3E}">
        <p14:creationId xmlns:p14="http://schemas.microsoft.com/office/powerpoint/2010/main" val="112782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2DBF5F-E884-8D4B-8536-498293E3FBD0}" type="slidenum">
              <a:rPr lang="en-US" smtClean="0"/>
              <a:t>20</a:t>
            </a:fld>
            <a:endParaRPr lang="en-US"/>
          </a:p>
        </p:txBody>
      </p:sp>
    </p:spTree>
    <p:extLst>
      <p:ext uri="{BB962C8B-B14F-4D97-AF65-F5344CB8AC3E}">
        <p14:creationId xmlns:p14="http://schemas.microsoft.com/office/powerpoint/2010/main" val="298107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1E135-39F4-E0E7-B682-13DA6ED7D7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E40B28-A0E9-83EE-4A5B-4298BD391F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842A3E-06DC-62B9-6265-D12552856D98}"/>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6" name="Slide Number Placeholder 5">
            <a:extLst>
              <a:ext uri="{FF2B5EF4-FFF2-40B4-BE49-F238E27FC236}">
                <a16:creationId xmlns:a16="http://schemas.microsoft.com/office/drawing/2014/main" id="{E5383E01-563C-A233-EEAD-4CF437FE69EB}"/>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1018135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3D92E-B265-156F-C9F3-11B5905BA4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4F75C0-FA32-CCEB-2F49-0F8E49637F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1813A-23A4-5001-EF32-F507EFB615C0}"/>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6" name="Slide Number Placeholder 5">
            <a:extLst>
              <a:ext uri="{FF2B5EF4-FFF2-40B4-BE49-F238E27FC236}">
                <a16:creationId xmlns:a16="http://schemas.microsoft.com/office/drawing/2014/main" id="{2BA9C1D2-F866-1E29-FB57-F5C390FEBD4A}"/>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2700835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9871-A5B2-3F30-CA43-271454542F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8ADBBD-C720-287B-B88C-E37DE67FF9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4406A3-D2B0-D24B-E08C-9BCE240FBEC5}"/>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6" name="Slide Number Placeholder 5">
            <a:extLst>
              <a:ext uri="{FF2B5EF4-FFF2-40B4-BE49-F238E27FC236}">
                <a16:creationId xmlns:a16="http://schemas.microsoft.com/office/drawing/2014/main" id="{819267BB-9D75-3D4A-AFC7-A4C6DED72DFE}"/>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533949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DF99-2A16-437A-890E-BF190615E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ADB858-CD57-115C-48F2-1277D7A187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1A8398-21F6-EF90-48E5-7B752EF1A2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63314F-371E-938D-7B0D-2F3932D360FC}"/>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7" name="Slide Number Placeholder 6">
            <a:extLst>
              <a:ext uri="{FF2B5EF4-FFF2-40B4-BE49-F238E27FC236}">
                <a16:creationId xmlns:a16="http://schemas.microsoft.com/office/drawing/2014/main" id="{D9E9E1E9-842A-A483-41E5-853036AB4AC4}"/>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1975763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F1063-5B4D-DA8E-AFA3-075C69A3DE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8A3FB3-8162-05B6-4736-B8A299BE6A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E1088-6CB3-72CB-2050-DF6EC86C06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83B2C1-F81E-F63F-84D8-E8C4D759B1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E70D4F-9245-734C-F17B-B069877874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B0ED2F-9A6A-A7DA-90EA-A6AA9CEBD2AC}"/>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9" name="Slide Number Placeholder 8">
            <a:extLst>
              <a:ext uri="{FF2B5EF4-FFF2-40B4-BE49-F238E27FC236}">
                <a16:creationId xmlns:a16="http://schemas.microsoft.com/office/drawing/2014/main" id="{0D8730AB-FE28-C3A0-686F-FC355832F6FA}"/>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1926628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548C-B710-2351-B545-8140A7B3C5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659EC9-BFCE-B823-BED4-58D949C2FEDD}"/>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5" name="Slide Number Placeholder 4">
            <a:extLst>
              <a:ext uri="{FF2B5EF4-FFF2-40B4-BE49-F238E27FC236}">
                <a16:creationId xmlns:a16="http://schemas.microsoft.com/office/drawing/2014/main" id="{5687F3D0-F931-FFB5-EEEF-E1D8EE9C0021}"/>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3778099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64409D-2077-8D12-BF90-7E3FD124C28C}"/>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4" name="Slide Number Placeholder 3">
            <a:extLst>
              <a:ext uri="{FF2B5EF4-FFF2-40B4-BE49-F238E27FC236}">
                <a16:creationId xmlns:a16="http://schemas.microsoft.com/office/drawing/2014/main" id="{30E07BC8-1AA7-A01B-5B07-D890FC1750F7}"/>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425197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0E5E-15F4-52EF-6EF6-45A5A50762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234A6D-F7C6-E784-4111-D517663529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75C946-C187-51A9-0CF9-69F5DC984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D01F7-5795-5847-7018-0E95F5BDBB26}"/>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6" name="Footer Placeholder 5">
            <a:extLst>
              <a:ext uri="{FF2B5EF4-FFF2-40B4-BE49-F238E27FC236}">
                <a16:creationId xmlns:a16="http://schemas.microsoft.com/office/drawing/2014/main" id="{189484D5-463A-2460-0362-B989C3FBF02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DC08A2A-2B9C-7A7B-30E8-D2E191D7CA33}"/>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4079171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0BAF4-C6B2-09B3-1D58-6828BA9E5E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76EFCE-FDCC-6F1A-229C-8D384A40AF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968E4-8662-0AAD-CA5A-D70E22542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82B727-2558-ECAE-F5C5-3B1EBD9C5115}"/>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6" name="Footer Placeholder 5">
            <a:extLst>
              <a:ext uri="{FF2B5EF4-FFF2-40B4-BE49-F238E27FC236}">
                <a16:creationId xmlns:a16="http://schemas.microsoft.com/office/drawing/2014/main" id="{EF3C56A6-A6B4-4E74-B4CB-E263D2119F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FBDEFFE-0EAB-6ED4-7B23-818F4FD6B281}"/>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2261294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8094-798E-74AC-A486-6DF72F9F5F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863737-C5DD-26F6-4486-9E71393992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8123E-B71C-48FB-E765-6ED68C8DE140}"/>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5" name="Footer Placeholder 4">
            <a:extLst>
              <a:ext uri="{FF2B5EF4-FFF2-40B4-BE49-F238E27FC236}">
                <a16:creationId xmlns:a16="http://schemas.microsoft.com/office/drawing/2014/main" id="{57B2ACCF-82C8-B7BA-DB6B-8BFEBF19B4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83BA07-4B05-F0D4-9426-E0BE98B3A538}"/>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228752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1EDB3C-B323-EAAE-7E40-BFA0A65B40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188AAC-3524-6877-2E58-B1B3DB51D6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A6A5E9-279C-42CE-5199-3BFD2FF255F2}"/>
              </a:ext>
            </a:extLst>
          </p:cNvPr>
          <p:cNvSpPr>
            <a:spLocks noGrp="1"/>
          </p:cNvSpPr>
          <p:nvPr>
            <p:ph type="dt" sz="half" idx="10"/>
          </p:nvPr>
        </p:nvSpPr>
        <p:spPr/>
        <p:txBody>
          <a:bodyPr/>
          <a:lstStyle/>
          <a:p>
            <a:fld id="{4036F74B-B97C-1E43-9F44-DB73EB79D117}" type="datetimeFigureOut">
              <a:rPr lang="en-US" smtClean="0"/>
              <a:t>9/6/26</a:t>
            </a:fld>
            <a:endParaRPr lang="en-US"/>
          </a:p>
        </p:txBody>
      </p:sp>
      <p:sp>
        <p:nvSpPr>
          <p:cNvPr id="5" name="Footer Placeholder 4">
            <a:extLst>
              <a:ext uri="{FF2B5EF4-FFF2-40B4-BE49-F238E27FC236}">
                <a16:creationId xmlns:a16="http://schemas.microsoft.com/office/drawing/2014/main" id="{17D9E3A5-79C1-42EB-F4A4-D60D033CC5F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171AA3-2F23-D22D-ECEF-8247DF4DE65C}"/>
              </a:ext>
            </a:extLst>
          </p:cNvPr>
          <p:cNvSpPr>
            <a:spLocks noGrp="1"/>
          </p:cNvSpPr>
          <p:nvPr>
            <p:ph type="sldNum" sz="quarter" idx="12"/>
          </p:nvPr>
        </p:nvSpPr>
        <p:spPr/>
        <p:txBody>
          <a:bodyPr/>
          <a:lstStyle/>
          <a:p>
            <a:fld id="{7DC9BF15-0328-8E43-9129-9572F5F2D2BD}" type="slidenum">
              <a:rPr lang="en-US" smtClean="0"/>
              <a:t>‹#›</a:t>
            </a:fld>
            <a:endParaRPr lang="en-US"/>
          </a:p>
        </p:txBody>
      </p:sp>
    </p:spTree>
    <p:extLst>
      <p:ext uri="{BB962C8B-B14F-4D97-AF65-F5344CB8AC3E}">
        <p14:creationId xmlns:p14="http://schemas.microsoft.com/office/powerpoint/2010/main" val="190204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E1022-0A87-ACA9-EAED-D923E70F11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20D24B-ABB1-C389-90FC-7C65DF6DD4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39E8D-E087-3334-7680-6B9762FAFB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36F74B-B97C-1E43-9F44-DB73EB79D117}" type="datetimeFigureOut">
              <a:rPr lang="en-US" smtClean="0"/>
              <a:t>9/6/26</a:t>
            </a:fld>
            <a:endParaRPr lang="en-US"/>
          </a:p>
        </p:txBody>
      </p:sp>
      <p:sp>
        <p:nvSpPr>
          <p:cNvPr id="6" name="Slide Number Placeholder 5">
            <a:extLst>
              <a:ext uri="{FF2B5EF4-FFF2-40B4-BE49-F238E27FC236}">
                <a16:creationId xmlns:a16="http://schemas.microsoft.com/office/drawing/2014/main" id="{2ED057E6-701B-D31D-17C5-8E70188F66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C9BF15-0328-8E43-9129-9572F5F2D2BD}" type="slidenum">
              <a:rPr lang="en-US" smtClean="0"/>
              <a:t>‹#›</a:t>
            </a:fld>
            <a:endParaRPr lang="en-US"/>
          </a:p>
        </p:txBody>
      </p:sp>
    </p:spTree>
    <p:extLst>
      <p:ext uri="{BB962C8B-B14F-4D97-AF65-F5344CB8AC3E}">
        <p14:creationId xmlns:p14="http://schemas.microsoft.com/office/powerpoint/2010/main" val="1047712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henryhxu/CSCI55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hyperlink" Target="https://henryhxu.github.io/index.html"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henryhxu/CSCI554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cs.berkeley.edu/~pattrsn/talks/BadTalk.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research.microsoft.com/en-us/um/people/simonpj/papers/giving-a-talk/writing-a-paper-slides.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tiff"/></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tiff"/></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420" y="1122363"/>
            <a:ext cx="11567160" cy="2387600"/>
          </a:xfrm>
        </p:spPr>
        <p:txBody>
          <a:bodyPr anchor="ctr"/>
          <a:lstStyle/>
          <a:p>
            <a:r>
              <a:rPr lang="en-US" dirty="0"/>
              <a:t>CS</a:t>
            </a:r>
            <a:r>
              <a:rPr lang="en-US" altLang="zh-CN" dirty="0"/>
              <a:t>CI</a:t>
            </a:r>
            <a:r>
              <a:rPr lang="en-US" dirty="0"/>
              <a:t> 55</a:t>
            </a:r>
            <a:r>
              <a:rPr lang="en-US" altLang="zh-CN" dirty="0"/>
              <a:t>40</a:t>
            </a:r>
            <a:r>
              <a:rPr lang="en-US" dirty="0"/>
              <a:t>: </a:t>
            </a:r>
            <a:r>
              <a:rPr lang="en-US" altLang="zh-CN" dirty="0"/>
              <a:t>Machine</a:t>
            </a:r>
            <a:r>
              <a:rPr lang="zh-CN" altLang="en-US" dirty="0"/>
              <a:t> </a:t>
            </a:r>
            <a:r>
              <a:rPr lang="en-US" altLang="zh-CN" dirty="0"/>
              <a:t>Learning</a:t>
            </a:r>
            <a:r>
              <a:rPr lang="zh-CN" altLang="en-US" dirty="0"/>
              <a:t> </a:t>
            </a:r>
            <a:r>
              <a:rPr lang="en-US" dirty="0"/>
              <a:t>Systems</a:t>
            </a:r>
          </a:p>
        </p:txBody>
      </p:sp>
      <p:sp>
        <p:nvSpPr>
          <p:cNvPr id="5" name="Slide Number Placeholder 4"/>
          <p:cNvSpPr>
            <a:spLocks noGrp="1"/>
          </p:cNvSpPr>
          <p:nvPr>
            <p:ph type="sldNum" sz="quarter" idx="12"/>
          </p:nvPr>
        </p:nvSpPr>
        <p:spPr/>
        <p:txBody>
          <a:bodyPr/>
          <a:lstStyle/>
          <a:p>
            <a:fld id="{4EEF9975-6C58-5C4C-8961-54FFA2646BAA}" type="slidenum">
              <a:rPr lang="en-US" smtClean="0"/>
              <a:t>1</a:t>
            </a:fld>
            <a:endParaRPr lang="en-US"/>
          </a:p>
        </p:txBody>
      </p:sp>
      <p:sp>
        <p:nvSpPr>
          <p:cNvPr id="6" name="Date Placeholder 5"/>
          <p:cNvSpPr>
            <a:spLocks noGrp="1"/>
          </p:cNvSpPr>
          <p:nvPr>
            <p:ph type="dt" sz="half" idx="10"/>
          </p:nvPr>
        </p:nvSpPr>
        <p:spPr/>
        <p:txBody>
          <a:bodyPr/>
          <a:lstStyle/>
          <a:p>
            <a:r>
              <a:rPr lang="en-US" dirty="0"/>
              <a:t>9/7/26</a:t>
            </a:r>
          </a:p>
        </p:txBody>
      </p:sp>
      <p:sp>
        <p:nvSpPr>
          <p:cNvPr id="12" name="Subtitle 8">
            <a:extLst>
              <a:ext uri="{FF2B5EF4-FFF2-40B4-BE49-F238E27FC236}">
                <a16:creationId xmlns:a16="http://schemas.microsoft.com/office/drawing/2014/main" id="{003AB824-0F81-BC69-DE9B-34B6EF0EF0E2}"/>
              </a:ext>
            </a:extLst>
          </p:cNvPr>
          <p:cNvSpPr txBox="1">
            <a:spLocks/>
          </p:cNvSpPr>
          <p:nvPr/>
        </p:nvSpPr>
        <p:spPr bwMode="auto">
          <a:xfrm>
            <a:off x="4500644" y="3881134"/>
            <a:ext cx="3136922" cy="50970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0" indent="0" algn="l" defTabSz="457200" rtl="0" eaLnBrk="0" fontAlgn="base" hangingPunct="0">
              <a:spcBef>
                <a:spcPts val="2000"/>
              </a:spcBef>
              <a:spcAft>
                <a:spcPct val="0"/>
              </a:spcAft>
              <a:buNone/>
              <a:defRPr sz="2800" kern="1200">
                <a:solidFill>
                  <a:schemeClr val="tx1"/>
                </a:solidFill>
                <a:latin typeface="Gill Sans"/>
                <a:ea typeface="ＭＳ Ｐゴシック" pitchFamily="-65" charset="-128"/>
                <a:cs typeface="Gill Sans"/>
              </a:defRPr>
            </a:lvl1pPr>
            <a:lvl2pPr marL="457200" indent="0" algn="ctr" defTabSz="457200" rtl="0" eaLnBrk="0" fontAlgn="base" hangingPunct="0">
              <a:spcBef>
                <a:spcPct val="0"/>
              </a:spcBef>
              <a:spcAft>
                <a:spcPct val="0"/>
              </a:spcAft>
              <a:buSzPct val="100000"/>
              <a:buFont typeface="Lucida Grande" charset="0"/>
              <a:buNone/>
              <a:defRPr sz="2700" kern="1200">
                <a:solidFill>
                  <a:schemeClr val="tx1">
                    <a:tint val="75000"/>
                  </a:schemeClr>
                </a:solidFill>
                <a:latin typeface="Gill Sans"/>
                <a:ea typeface="ＭＳ Ｐゴシック" pitchFamily="-65" charset="-128"/>
                <a:cs typeface="Gill Sans"/>
              </a:defRPr>
            </a:lvl2pPr>
            <a:lvl3pPr marL="914400" indent="0" algn="ctr" defTabSz="457200" rtl="0" eaLnBrk="0" fontAlgn="base" hangingPunct="0">
              <a:spcBef>
                <a:spcPct val="20000"/>
              </a:spcBef>
              <a:spcAft>
                <a:spcPct val="0"/>
              </a:spcAft>
              <a:buFont typeface="Arial" charset="0"/>
              <a:buNone/>
              <a:defRPr sz="2400" kern="1200">
                <a:solidFill>
                  <a:schemeClr val="tx1">
                    <a:tint val="75000"/>
                  </a:schemeClr>
                </a:solidFill>
                <a:latin typeface="Gill Sans"/>
                <a:ea typeface="ＭＳ Ｐゴシック" pitchFamily="-65" charset="-128"/>
                <a:cs typeface="Gill Sans"/>
              </a:defRPr>
            </a:lvl3pPr>
            <a:lvl4pPr marL="1371600" indent="0" algn="ctr" defTabSz="457200" rtl="0" eaLnBrk="0" fontAlgn="base" hangingPunct="0">
              <a:spcBef>
                <a:spcPct val="20000"/>
              </a:spcBef>
              <a:spcAft>
                <a:spcPct val="0"/>
              </a:spcAft>
              <a:buFont typeface="Arial" charset="0"/>
              <a:buNone/>
              <a:defRPr sz="2000" kern="1200">
                <a:solidFill>
                  <a:schemeClr val="tx1">
                    <a:tint val="75000"/>
                  </a:schemeClr>
                </a:solidFill>
                <a:latin typeface="Gill Sans"/>
                <a:ea typeface="ＭＳ Ｐゴシック" pitchFamily="-65" charset="-128"/>
                <a:cs typeface="Gill Sans"/>
              </a:defRPr>
            </a:lvl4pPr>
            <a:lvl5pPr marL="1828800" indent="0" algn="ctr" defTabSz="457200" rtl="0" eaLnBrk="0" fontAlgn="base" hangingPunct="0">
              <a:spcBef>
                <a:spcPct val="20000"/>
              </a:spcBef>
              <a:spcAft>
                <a:spcPct val="0"/>
              </a:spcAft>
              <a:buFont typeface="Arial" charset="0"/>
              <a:buNone/>
              <a:defRPr sz="2000" kern="1200">
                <a:solidFill>
                  <a:schemeClr val="tx1">
                    <a:tint val="75000"/>
                  </a:schemeClr>
                </a:solidFill>
                <a:latin typeface="Gill Sans"/>
                <a:ea typeface="ＭＳ Ｐゴシック" pitchFamily="-65" charset="-128"/>
                <a:cs typeface="Gill San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ctr"/>
            <a:r>
              <a:rPr lang="en-US" altLang="zh-CN" sz="2400" dirty="0">
                <a:latin typeface="Gill Sans" panose="020B0502020104020203" pitchFamily="34" charset="-79"/>
                <a:ea typeface="Gill Sans" charset="0"/>
                <a:cs typeface="Gill Sans" panose="020B0502020104020203" pitchFamily="34" charset="-79"/>
              </a:rPr>
              <a:t>Hong</a:t>
            </a:r>
            <a:r>
              <a:rPr lang="zh-CN" altLang="en-US" sz="2400" dirty="0">
                <a:latin typeface="Gill Sans" panose="020B0502020104020203" pitchFamily="34" charset="-79"/>
                <a:ea typeface="Gill Sans" charset="0"/>
                <a:cs typeface="Gill Sans" panose="020B0502020104020203" pitchFamily="34" charset="-79"/>
              </a:rPr>
              <a:t> </a:t>
            </a:r>
            <a:r>
              <a:rPr lang="en-US" altLang="zh-CN" sz="2400" dirty="0">
                <a:latin typeface="Gill Sans" panose="020B0502020104020203" pitchFamily="34" charset="-79"/>
                <a:ea typeface="Gill Sans" charset="0"/>
                <a:cs typeface="Gill Sans" panose="020B0502020104020203" pitchFamily="34" charset="-79"/>
              </a:rPr>
              <a:t>Xu</a:t>
            </a:r>
            <a:endParaRPr lang="en-US" sz="2400" dirty="0">
              <a:latin typeface="Gill Sans" panose="020B0502020104020203" pitchFamily="34" charset="-79"/>
              <a:ea typeface="Gill Sans" charset="0"/>
              <a:cs typeface="Gill Sans" panose="020B0502020104020203" pitchFamily="34" charset="-79"/>
            </a:endParaRPr>
          </a:p>
        </p:txBody>
      </p:sp>
      <p:pic>
        <p:nvPicPr>
          <p:cNvPr id="13" name="Picture 12">
            <a:extLst>
              <a:ext uri="{FF2B5EF4-FFF2-40B4-BE49-F238E27FC236}">
                <a16:creationId xmlns:a16="http://schemas.microsoft.com/office/drawing/2014/main" id="{14D356A5-C8CA-920C-E9F7-77723ECB1FA0}"/>
              </a:ext>
            </a:extLst>
          </p:cNvPr>
          <p:cNvPicPr>
            <a:picLocks noChangeAspect="1"/>
          </p:cNvPicPr>
          <p:nvPr/>
        </p:nvPicPr>
        <p:blipFill>
          <a:blip r:embed="rId3"/>
          <a:stretch>
            <a:fillRect/>
          </a:stretch>
        </p:blipFill>
        <p:spPr>
          <a:xfrm>
            <a:off x="2722655" y="4762014"/>
            <a:ext cx="6692900" cy="1346200"/>
          </a:xfrm>
          <a:prstGeom prst="rect">
            <a:avLst/>
          </a:prstGeom>
        </p:spPr>
      </p:pic>
    </p:spTree>
    <p:extLst>
      <p:ext uri="{BB962C8B-B14F-4D97-AF65-F5344CB8AC3E}">
        <p14:creationId xmlns:p14="http://schemas.microsoft.com/office/powerpoint/2010/main" val="532126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Agenda</a:t>
            </a:r>
          </a:p>
        </p:txBody>
      </p:sp>
      <p:sp>
        <p:nvSpPr>
          <p:cNvPr id="3" name="Content Placeholder 2"/>
          <p:cNvSpPr>
            <a:spLocks noGrp="1"/>
          </p:cNvSpPr>
          <p:nvPr>
            <p:ph idx="1"/>
          </p:nvPr>
        </p:nvSpPr>
        <p:spPr/>
        <p:txBody>
          <a:bodyPr/>
          <a:lstStyle/>
          <a:p>
            <a:r>
              <a:rPr lang="en-US" dirty="0"/>
              <a:t>Administrivia</a:t>
            </a:r>
          </a:p>
          <a:p>
            <a:r>
              <a:rPr lang="en-US" dirty="0"/>
              <a:t>Topics</a:t>
            </a:r>
          </a:p>
          <a:p>
            <a:r>
              <a:rPr lang="en-US" dirty="0"/>
              <a:t>Projects</a:t>
            </a:r>
          </a:p>
          <a:p>
            <a:r>
              <a:rPr lang="en-US" dirty="0">
                <a:hlinkClick r:id="rId2"/>
              </a:rPr>
              <a:t>https://github.com/henryhxu/CSCI5540</a:t>
            </a:r>
            <a:endParaRPr lang="en-US" dirty="0"/>
          </a:p>
          <a:p>
            <a:endParaRPr lang="en-US" dirty="0"/>
          </a:p>
        </p:txBody>
      </p:sp>
      <p:sp>
        <p:nvSpPr>
          <p:cNvPr id="5" name="Slide Number Placeholder 4"/>
          <p:cNvSpPr>
            <a:spLocks noGrp="1"/>
          </p:cNvSpPr>
          <p:nvPr>
            <p:ph type="sldNum" sz="quarter" idx="12"/>
          </p:nvPr>
        </p:nvSpPr>
        <p:spPr/>
        <p:txBody>
          <a:bodyPr/>
          <a:lstStyle/>
          <a:p>
            <a:fld id="{4EEF9975-6C58-5C4C-8961-54FFA2646BAA}" type="slidenum">
              <a:rPr lang="en-US" smtClean="0"/>
              <a:t>2</a:t>
            </a:fld>
            <a:endParaRPr lang="en-US"/>
          </a:p>
        </p:txBody>
      </p:sp>
      <p:sp>
        <p:nvSpPr>
          <p:cNvPr id="9" name="Text Placeholder 2">
            <a:extLst>
              <a:ext uri="{FF2B5EF4-FFF2-40B4-BE49-F238E27FC236}">
                <a16:creationId xmlns:a16="http://schemas.microsoft.com/office/drawing/2014/main" id="{9E96BF68-BEE7-DAC4-3E77-62339A9FB785}"/>
              </a:ext>
            </a:extLst>
          </p:cNvPr>
          <p:cNvSpPr txBox="1">
            <a:spLocks/>
          </p:cNvSpPr>
          <p:nvPr/>
        </p:nvSpPr>
        <p:spPr>
          <a:xfrm>
            <a:off x="831850" y="4589463"/>
            <a:ext cx="10515600" cy="1500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bg2">
                    <a:lumMod val="50000"/>
                  </a:schemeClr>
                </a:solidFill>
              </a:rPr>
              <a:t>Credit:</a:t>
            </a:r>
            <a:r>
              <a:rPr lang="zh-CN" altLang="en-US" dirty="0">
                <a:solidFill>
                  <a:schemeClr val="bg2">
                    <a:lumMod val="50000"/>
                  </a:schemeClr>
                </a:solidFill>
              </a:rPr>
              <a:t> </a:t>
            </a:r>
            <a:r>
              <a:rPr lang="en-US" altLang="zh-CN" dirty="0">
                <a:solidFill>
                  <a:schemeClr val="bg2">
                    <a:lumMod val="50000"/>
                  </a:schemeClr>
                </a:solidFill>
              </a:rPr>
              <a:t>Prof.</a:t>
            </a:r>
            <a:r>
              <a:rPr lang="zh-CN" altLang="en-US" dirty="0">
                <a:solidFill>
                  <a:schemeClr val="bg2">
                    <a:lumMod val="50000"/>
                  </a:schemeClr>
                </a:solidFill>
              </a:rPr>
              <a:t> </a:t>
            </a:r>
            <a:r>
              <a:rPr lang="en-US" altLang="zh-CN" dirty="0" err="1">
                <a:solidFill>
                  <a:schemeClr val="bg2">
                    <a:lumMod val="50000"/>
                  </a:schemeClr>
                </a:solidFill>
              </a:rPr>
              <a:t>Mosharaf</a:t>
            </a:r>
            <a:r>
              <a:rPr lang="zh-CN" altLang="en-US" dirty="0">
                <a:solidFill>
                  <a:schemeClr val="bg2">
                    <a:lumMod val="50000"/>
                  </a:schemeClr>
                </a:solidFill>
              </a:rPr>
              <a:t> </a:t>
            </a:r>
            <a:r>
              <a:rPr lang="en-US" altLang="zh-CN" dirty="0">
                <a:solidFill>
                  <a:schemeClr val="bg2">
                    <a:lumMod val="50000"/>
                  </a:schemeClr>
                </a:solidFill>
              </a:rPr>
              <a:t>Chowdhury’s</a:t>
            </a:r>
            <a:r>
              <a:rPr lang="zh-CN" altLang="en-US" dirty="0">
                <a:solidFill>
                  <a:schemeClr val="bg2">
                    <a:lumMod val="50000"/>
                  </a:schemeClr>
                </a:solidFill>
              </a:rPr>
              <a:t> </a:t>
            </a:r>
            <a:r>
              <a:rPr lang="en-US" altLang="zh-CN" dirty="0">
                <a:solidFill>
                  <a:schemeClr val="bg2">
                    <a:lumMod val="50000"/>
                  </a:schemeClr>
                </a:solidFill>
              </a:rPr>
              <a:t>CSE</a:t>
            </a:r>
            <a:r>
              <a:rPr lang="zh-CN" altLang="en-US" dirty="0">
                <a:solidFill>
                  <a:schemeClr val="bg2">
                    <a:lumMod val="50000"/>
                  </a:schemeClr>
                </a:solidFill>
              </a:rPr>
              <a:t> </a:t>
            </a:r>
            <a:r>
              <a:rPr lang="en-US" altLang="zh-CN" dirty="0">
                <a:solidFill>
                  <a:schemeClr val="bg2">
                    <a:lumMod val="50000"/>
                  </a:schemeClr>
                </a:solidFill>
              </a:rPr>
              <a:t>585,</a:t>
            </a:r>
            <a:r>
              <a:rPr lang="zh-CN" altLang="en-US" dirty="0">
                <a:solidFill>
                  <a:schemeClr val="bg2">
                    <a:lumMod val="50000"/>
                  </a:schemeClr>
                </a:solidFill>
              </a:rPr>
              <a:t> </a:t>
            </a:r>
            <a:r>
              <a:rPr lang="en-US" altLang="zh-CN" dirty="0">
                <a:solidFill>
                  <a:schemeClr val="bg2">
                    <a:lumMod val="50000"/>
                  </a:schemeClr>
                </a:solidFill>
              </a:rPr>
              <a:t>Fall</a:t>
            </a:r>
            <a:r>
              <a:rPr lang="zh-CN" altLang="en-US" dirty="0">
                <a:solidFill>
                  <a:schemeClr val="bg2">
                    <a:lumMod val="50000"/>
                  </a:schemeClr>
                </a:solidFill>
              </a:rPr>
              <a:t> </a:t>
            </a:r>
            <a:r>
              <a:rPr lang="en-US" altLang="zh-CN" dirty="0">
                <a:solidFill>
                  <a:schemeClr val="bg2">
                    <a:lumMod val="50000"/>
                  </a:schemeClr>
                </a:solidFill>
              </a:rPr>
              <a:t>2026</a:t>
            </a:r>
            <a:endParaRPr lang="en-US" dirty="0">
              <a:solidFill>
                <a:schemeClr val="bg2">
                  <a:lumMod val="50000"/>
                </a:schemeClr>
              </a:solidFill>
            </a:endParaRPr>
          </a:p>
        </p:txBody>
      </p:sp>
    </p:spTree>
    <p:extLst>
      <p:ext uri="{BB962C8B-B14F-4D97-AF65-F5344CB8AC3E}">
        <p14:creationId xmlns:p14="http://schemas.microsoft.com/office/powerpoint/2010/main" val="2102742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Me</a:t>
            </a:r>
          </a:p>
        </p:txBody>
      </p:sp>
      <p:sp>
        <p:nvSpPr>
          <p:cNvPr id="3" name="Content Placeholder 2"/>
          <p:cNvSpPr>
            <a:spLocks noGrp="1"/>
          </p:cNvSpPr>
          <p:nvPr>
            <p:ph idx="1"/>
          </p:nvPr>
        </p:nvSpPr>
        <p:spPr>
          <a:xfrm>
            <a:off x="838200" y="1825625"/>
            <a:ext cx="5257800" cy="3372828"/>
          </a:xfrm>
        </p:spPr>
        <p:txBody>
          <a:bodyPr>
            <a:normAutofit/>
          </a:bodyPr>
          <a:lstStyle/>
          <a:p>
            <a:r>
              <a:rPr lang="en-US" dirty="0"/>
              <a:t>Associate Professor of CSE</a:t>
            </a:r>
          </a:p>
          <a:p>
            <a:pPr lvl="1"/>
            <a:r>
              <a:rPr lang="en-US" dirty="0">
                <a:hlinkClick r:id="rId2"/>
              </a:rPr>
              <a:t>https://henryhxu.github.io</a:t>
            </a:r>
            <a:endParaRPr lang="en-US" dirty="0"/>
          </a:p>
          <a:p>
            <a:r>
              <a:rPr lang="en-US" dirty="0"/>
              <a:t>Research areas</a:t>
            </a:r>
          </a:p>
          <a:p>
            <a:pPr lvl="1"/>
            <a:r>
              <a:rPr lang="en-US" dirty="0"/>
              <a:t>AI infra and systems</a:t>
            </a:r>
          </a:p>
          <a:p>
            <a:pPr lvl="1"/>
            <a:r>
              <a:rPr lang="en-US" dirty="0"/>
              <a:t>Networking</a:t>
            </a:r>
          </a:p>
          <a:p>
            <a:r>
              <a:rPr lang="en-US" dirty="0"/>
              <a:t>Office hours:</a:t>
            </a:r>
          </a:p>
          <a:p>
            <a:pPr lvl="1"/>
            <a:r>
              <a:rPr lang="en-US" dirty="0"/>
              <a:t>Appointment-only</a:t>
            </a:r>
          </a:p>
        </p:txBody>
      </p:sp>
      <p:sp>
        <p:nvSpPr>
          <p:cNvPr id="6" name="Slide Number Placeholder 5"/>
          <p:cNvSpPr>
            <a:spLocks noGrp="1"/>
          </p:cNvSpPr>
          <p:nvPr>
            <p:ph type="sldNum" sz="quarter" idx="12"/>
          </p:nvPr>
        </p:nvSpPr>
        <p:spPr/>
        <p:txBody>
          <a:bodyPr/>
          <a:lstStyle/>
          <a:p>
            <a:fld id="{4EEF9975-6C58-5C4C-8961-54FFA2646BAA}" type="slidenum">
              <a:rPr lang="en-US" smtClean="0"/>
              <a:t>3</a:t>
            </a:fld>
            <a:endParaRPr lang="en-US"/>
          </a:p>
        </p:txBody>
      </p:sp>
      <p:sp>
        <p:nvSpPr>
          <p:cNvPr id="7" name="Cube 6">
            <a:extLst>
              <a:ext uri="{FF2B5EF4-FFF2-40B4-BE49-F238E27FC236}">
                <a16:creationId xmlns:a16="http://schemas.microsoft.com/office/drawing/2014/main" id="{09099912-3A83-CA88-007F-59B8C8126044}"/>
              </a:ext>
            </a:extLst>
          </p:cNvPr>
          <p:cNvSpPr/>
          <p:nvPr/>
        </p:nvSpPr>
        <p:spPr>
          <a:xfrm>
            <a:off x="5708430" y="970476"/>
            <a:ext cx="5804340" cy="1351524"/>
          </a:xfrm>
          <a:prstGeom prst="cube">
            <a:avLst>
              <a:gd name="adj" fmla="val 18234"/>
            </a:avLst>
          </a:prstGeom>
          <a:solidFill>
            <a:srgbClr val="0070C0">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Performance and Efficiency </a:t>
            </a:r>
            <a:endParaRPr lang="en-US" sz="3200" dirty="0"/>
          </a:p>
        </p:txBody>
      </p:sp>
      <p:sp>
        <p:nvSpPr>
          <p:cNvPr id="8" name="Cube 7">
            <a:extLst>
              <a:ext uri="{FF2B5EF4-FFF2-40B4-BE49-F238E27FC236}">
                <a16:creationId xmlns:a16="http://schemas.microsoft.com/office/drawing/2014/main" id="{A566C04E-2407-B75C-DBF1-4DA4135583E8}"/>
              </a:ext>
            </a:extLst>
          </p:cNvPr>
          <p:cNvSpPr/>
          <p:nvPr/>
        </p:nvSpPr>
        <p:spPr>
          <a:xfrm>
            <a:off x="5708430" y="3037417"/>
            <a:ext cx="5804340" cy="1351524"/>
          </a:xfrm>
          <a:prstGeom prst="cube">
            <a:avLst>
              <a:gd name="adj" fmla="val 18234"/>
            </a:avLst>
          </a:prstGeom>
          <a:solidFill>
            <a:srgbClr val="008F00">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Reliability,</a:t>
            </a:r>
            <a:r>
              <a:rPr lang="zh-CN" altLang="en-US" sz="3200" dirty="0"/>
              <a:t> </a:t>
            </a:r>
            <a:r>
              <a:rPr lang="en-US" altLang="zh-CN" sz="3200" dirty="0"/>
              <a:t>Usability,</a:t>
            </a:r>
            <a:r>
              <a:rPr lang="zh-CN" altLang="en-US" sz="3200" dirty="0"/>
              <a:t> </a:t>
            </a:r>
            <a:r>
              <a:rPr lang="en-US" altLang="zh-CN" sz="3200" dirty="0"/>
              <a:t>and</a:t>
            </a:r>
            <a:r>
              <a:rPr lang="zh-CN" altLang="en-US" sz="3200" dirty="0"/>
              <a:t> </a:t>
            </a:r>
            <a:r>
              <a:rPr lang="en-US" altLang="zh-CN" sz="3200" dirty="0"/>
              <a:t>Beyond</a:t>
            </a:r>
            <a:endParaRPr lang="en-US" sz="3200" dirty="0"/>
          </a:p>
        </p:txBody>
      </p:sp>
      <p:pic>
        <p:nvPicPr>
          <p:cNvPr id="9" name="Picture 2">
            <a:extLst>
              <a:ext uri="{FF2B5EF4-FFF2-40B4-BE49-F238E27FC236}">
                <a16:creationId xmlns:a16="http://schemas.microsoft.com/office/drawing/2014/main" id="{C5519C87-D34F-4A7D-075C-FF735F3FE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1097" y="5228685"/>
            <a:ext cx="2364167" cy="50001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C64D3C50-E3FF-E2A9-2B69-B22CFFB447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 y="5241880"/>
            <a:ext cx="2743200" cy="47363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stepfun-ai/stepvideo-ti2v · Hugging Face">
            <a:extLst>
              <a:ext uri="{FF2B5EF4-FFF2-40B4-BE49-F238E27FC236}">
                <a16:creationId xmlns:a16="http://schemas.microsoft.com/office/drawing/2014/main" id="{D2BB8D7A-51AD-3C0E-ABEC-DB613E0EDD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2197" y="5198453"/>
            <a:ext cx="2256214" cy="54026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a:extLst>
              <a:ext uri="{FF2B5EF4-FFF2-40B4-BE49-F238E27FC236}">
                <a16:creationId xmlns:a16="http://schemas.microsoft.com/office/drawing/2014/main" id="{EA12276E-7BC3-7F53-BA83-85ACDC1C79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23410" y="5016802"/>
            <a:ext cx="709548" cy="72191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8928C221-90C1-B120-6C2D-B7404632E4FD}"/>
              </a:ext>
            </a:extLst>
          </p:cNvPr>
          <p:cNvPicPr>
            <a:picLocks noChangeAspect="1"/>
          </p:cNvPicPr>
          <p:nvPr/>
        </p:nvPicPr>
        <p:blipFill>
          <a:blip r:embed="rId7"/>
          <a:stretch>
            <a:fillRect/>
          </a:stretch>
        </p:blipFill>
        <p:spPr>
          <a:xfrm>
            <a:off x="8959997" y="5183837"/>
            <a:ext cx="1603286" cy="544867"/>
          </a:xfrm>
          <a:prstGeom prst="rect">
            <a:avLst/>
          </a:prstGeom>
        </p:spPr>
      </p:pic>
    </p:spTree>
    <p:extLst>
      <p:ext uri="{BB962C8B-B14F-4D97-AF65-F5344CB8AC3E}">
        <p14:creationId xmlns:p14="http://schemas.microsoft.com/office/powerpoint/2010/main" val="72772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a:t>
            </a:r>
          </a:p>
        </p:txBody>
      </p:sp>
      <p:sp>
        <p:nvSpPr>
          <p:cNvPr id="7" name="Content Placeholder 6"/>
          <p:cNvSpPr>
            <a:spLocks noGrp="1"/>
          </p:cNvSpPr>
          <p:nvPr>
            <p:ph sz="half" idx="1"/>
          </p:nvPr>
        </p:nvSpPr>
        <p:spPr/>
        <p:txBody>
          <a:bodyPr anchor="t">
            <a:normAutofit/>
          </a:bodyPr>
          <a:lstStyle/>
          <a:p>
            <a:r>
              <a:rPr lang="en-US" altLang="zh-CN" dirty="0"/>
              <a:t>2</a:t>
            </a:r>
            <a:r>
              <a:rPr lang="en-US" altLang="zh-CN" baseline="30000" dirty="0"/>
              <a:t>n</a:t>
            </a:r>
            <a:r>
              <a:rPr lang="en-US" baseline="30000" dirty="0"/>
              <a:t>d</a:t>
            </a:r>
            <a:r>
              <a:rPr lang="en-US" dirty="0"/>
              <a:t>-year PhD student</a:t>
            </a:r>
            <a:r>
              <a:rPr lang="en-US" altLang="zh-CN" dirty="0"/>
              <a:t>s</a:t>
            </a:r>
            <a:r>
              <a:rPr lang="en-US" dirty="0"/>
              <a:t> </a:t>
            </a:r>
            <a:r>
              <a:rPr lang="en-US" altLang="zh-CN" dirty="0"/>
              <a:t>in</a:t>
            </a:r>
            <a:r>
              <a:rPr lang="en-US" dirty="0"/>
              <a:t> </a:t>
            </a:r>
            <a:r>
              <a:rPr lang="en-US" altLang="zh-CN" dirty="0"/>
              <a:t>my</a:t>
            </a:r>
            <a:r>
              <a:rPr lang="zh-CN" altLang="en-US" dirty="0"/>
              <a:t> </a:t>
            </a:r>
            <a:r>
              <a:rPr lang="en-US" altLang="zh-CN" dirty="0"/>
              <a:t>lab</a:t>
            </a:r>
            <a:endParaRPr lang="en-US" dirty="0"/>
          </a:p>
          <a:p>
            <a:pPr marL="0" indent="0">
              <a:buNone/>
            </a:pPr>
            <a:endParaRPr lang="en-US" dirty="0">
              <a:latin typeface="Gill Sans Light" charset="0"/>
              <a:cs typeface="Gill Sans Light" charset="0"/>
            </a:endParaRPr>
          </a:p>
          <a:p>
            <a:r>
              <a:rPr lang="en-US" altLang="zh-CN" dirty="0">
                <a:latin typeface="Aptos" panose="020B0004020202020204" pitchFamily="34" charset="0"/>
                <a:cs typeface="Gill Sans Light" charset="0"/>
              </a:rPr>
              <a:t>AI</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infra</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veterans:</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Both</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have</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been</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working</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with</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frontier</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labs</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and</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have</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shipped</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production</a:t>
            </a:r>
            <a:r>
              <a:rPr lang="zh-CN" altLang="en-US" dirty="0">
                <a:latin typeface="Aptos" panose="020B0004020202020204" pitchFamily="34" charset="0"/>
                <a:cs typeface="Gill Sans Light" charset="0"/>
              </a:rPr>
              <a:t> </a:t>
            </a:r>
            <a:r>
              <a:rPr lang="en-US" altLang="zh-CN" dirty="0">
                <a:latin typeface="Aptos" panose="020B0004020202020204" pitchFamily="34" charset="0"/>
                <a:cs typeface="Gill Sans Light" charset="0"/>
              </a:rPr>
              <a:t>systems</a:t>
            </a:r>
            <a:endParaRPr lang="en-US" dirty="0">
              <a:latin typeface="Aptos" panose="020B0004020202020204" pitchFamily="34" charset="0"/>
              <a:cs typeface="Gill Sans Light" charset="0"/>
            </a:endParaRPr>
          </a:p>
        </p:txBody>
      </p:sp>
      <p:sp>
        <p:nvSpPr>
          <p:cNvPr id="6" name="Slide Number Placeholder 5"/>
          <p:cNvSpPr>
            <a:spLocks noGrp="1"/>
          </p:cNvSpPr>
          <p:nvPr>
            <p:ph type="sldNum" sz="quarter" idx="12"/>
          </p:nvPr>
        </p:nvSpPr>
        <p:spPr/>
        <p:txBody>
          <a:bodyPr/>
          <a:lstStyle/>
          <a:p>
            <a:fld id="{4EEF9975-6C58-5C4C-8961-54FFA2646BAA}" type="slidenum">
              <a:rPr lang="en-US" smtClean="0"/>
              <a:t>4</a:t>
            </a:fld>
            <a:endParaRPr lang="en-US"/>
          </a:p>
        </p:txBody>
      </p:sp>
      <p:pic>
        <p:nvPicPr>
          <p:cNvPr id="11" name="Content Placeholder 10">
            <a:extLst>
              <a:ext uri="{FF2B5EF4-FFF2-40B4-BE49-F238E27FC236}">
                <a16:creationId xmlns:a16="http://schemas.microsoft.com/office/drawing/2014/main" id="{349822A8-2E12-0927-4541-5A65EDDB46B5}"/>
              </a:ext>
            </a:extLst>
          </p:cNvPr>
          <p:cNvPicPr>
            <a:picLocks noGrp="1" noChangeAspect="1"/>
          </p:cNvPicPr>
          <p:nvPr>
            <p:ph sz="half" idx="2"/>
          </p:nvPr>
        </p:nvPicPr>
        <p:blipFill>
          <a:blip r:embed="rId2"/>
          <a:stretch>
            <a:fillRect/>
          </a:stretch>
        </p:blipFill>
        <p:spPr>
          <a:xfrm>
            <a:off x="6430888" y="721200"/>
            <a:ext cx="2599698" cy="2732568"/>
          </a:xfrm>
          <a:prstGeom prst="rect">
            <a:avLst/>
          </a:prstGeom>
        </p:spPr>
      </p:pic>
      <p:sp>
        <p:nvSpPr>
          <p:cNvPr id="12" name="TextBox 11">
            <a:extLst>
              <a:ext uri="{FF2B5EF4-FFF2-40B4-BE49-F238E27FC236}">
                <a16:creationId xmlns:a16="http://schemas.microsoft.com/office/drawing/2014/main" id="{8CF151F7-0AEE-24AF-7339-CE7C9EA54CF9}"/>
              </a:ext>
            </a:extLst>
          </p:cNvPr>
          <p:cNvSpPr txBox="1"/>
          <p:nvPr/>
        </p:nvSpPr>
        <p:spPr>
          <a:xfrm>
            <a:off x="6964322" y="3646963"/>
            <a:ext cx="1669312" cy="646331"/>
          </a:xfrm>
          <a:prstGeom prst="rect">
            <a:avLst/>
          </a:prstGeom>
          <a:noFill/>
        </p:spPr>
        <p:txBody>
          <a:bodyPr wrap="square" rtlCol="0">
            <a:spAutoFit/>
          </a:bodyPr>
          <a:lstStyle/>
          <a:p>
            <a:r>
              <a:rPr lang="en-US" altLang="zh-CN" dirty="0"/>
              <a:t>DENG</a:t>
            </a:r>
            <a:r>
              <a:rPr lang="zh-CN" altLang="en-US" dirty="0"/>
              <a:t> </a:t>
            </a:r>
            <a:r>
              <a:rPr lang="en-US" altLang="zh-CN" dirty="0" err="1"/>
              <a:t>Yangtao</a:t>
            </a:r>
            <a:endParaRPr lang="en-US" altLang="zh-CN" dirty="0"/>
          </a:p>
          <a:p>
            <a:r>
              <a:rPr lang="en-US" altLang="zh-CN" dirty="0"/>
              <a:t>Head</a:t>
            </a:r>
            <a:r>
              <a:rPr lang="zh-CN" altLang="en-US" dirty="0"/>
              <a:t> </a:t>
            </a:r>
            <a:r>
              <a:rPr lang="en-US" altLang="zh-CN" dirty="0"/>
              <a:t>TA</a:t>
            </a:r>
            <a:endParaRPr lang="en-US" dirty="0"/>
          </a:p>
        </p:txBody>
      </p:sp>
      <p:sp>
        <p:nvSpPr>
          <p:cNvPr id="13" name="TextBox 12">
            <a:extLst>
              <a:ext uri="{FF2B5EF4-FFF2-40B4-BE49-F238E27FC236}">
                <a16:creationId xmlns:a16="http://schemas.microsoft.com/office/drawing/2014/main" id="{27926CBD-4CF9-D699-8E81-452180D7E1F3}"/>
              </a:ext>
            </a:extLst>
          </p:cNvPr>
          <p:cNvSpPr txBox="1"/>
          <p:nvPr/>
        </p:nvSpPr>
        <p:spPr>
          <a:xfrm>
            <a:off x="9764232" y="5541264"/>
            <a:ext cx="1669312" cy="369332"/>
          </a:xfrm>
          <a:prstGeom prst="rect">
            <a:avLst/>
          </a:prstGeom>
          <a:noFill/>
        </p:spPr>
        <p:txBody>
          <a:bodyPr wrap="square" rtlCol="0">
            <a:spAutoFit/>
          </a:bodyPr>
          <a:lstStyle/>
          <a:p>
            <a:r>
              <a:rPr lang="en-US" altLang="zh-CN" dirty="0"/>
              <a:t>JIA</a:t>
            </a:r>
            <a:r>
              <a:rPr lang="zh-CN" altLang="en-US" dirty="0"/>
              <a:t> </a:t>
            </a:r>
            <a:r>
              <a:rPr lang="en-US" altLang="zh-CN" dirty="0" err="1"/>
              <a:t>Chaobo</a:t>
            </a:r>
            <a:endParaRPr lang="en-US" dirty="0"/>
          </a:p>
        </p:txBody>
      </p:sp>
      <p:pic>
        <p:nvPicPr>
          <p:cNvPr id="4" name="Picture 3">
            <a:extLst>
              <a:ext uri="{FF2B5EF4-FFF2-40B4-BE49-F238E27FC236}">
                <a16:creationId xmlns:a16="http://schemas.microsoft.com/office/drawing/2014/main" id="{8D17B8A6-675B-22B6-D4C0-5259960EE474}"/>
              </a:ext>
            </a:extLst>
          </p:cNvPr>
          <p:cNvPicPr>
            <a:picLocks noChangeAspect="1"/>
          </p:cNvPicPr>
          <p:nvPr/>
        </p:nvPicPr>
        <p:blipFill>
          <a:blip r:embed="rId3"/>
          <a:stretch>
            <a:fillRect/>
          </a:stretch>
        </p:blipFill>
        <p:spPr>
          <a:xfrm>
            <a:off x="9217247" y="2683276"/>
            <a:ext cx="2136553" cy="2670691"/>
          </a:xfrm>
          <a:prstGeom prst="rect">
            <a:avLst/>
          </a:prstGeom>
        </p:spPr>
      </p:pic>
    </p:spTree>
    <p:extLst>
      <p:ext uri="{BB962C8B-B14F-4D97-AF65-F5344CB8AC3E}">
        <p14:creationId xmlns:p14="http://schemas.microsoft.com/office/powerpoint/2010/main" val="4273082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Schedule</a:t>
            </a:r>
          </a:p>
        </p:txBody>
      </p:sp>
      <p:sp>
        <p:nvSpPr>
          <p:cNvPr id="3" name="Content Placeholder 2"/>
          <p:cNvSpPr>
            <a:spLocks noGrp="1"/>
          </p:cNvSpPr>
          <p:nvPr>
            <p:ph idx="1"/>
          </p:nvPr>
        </p:nvSpPr>
        <p:spPr/>
        <p:txBody>
          <a:bodyPr/>
          <a:lstStyle/>
          <a:p>
            <a:r>
              <a:rPr lang="en-US" dirty="0"/>
              <a:t>Webpage: </a:t>
            </a:r>
            <a:r>
              <a:rPr lang="en-US" dirty="0">
                <a:hlinkClick r:id="rId2"/>
              </a:rPr>
              <a:t>https://github.com/henryhxu/CSCI5540</a:t>
            </a:r>
            <a:r>
              <a:rPr lang="zh-CN" altLang="en-US" dirty="0"/>
              <a:t> </a:t>
            </a:r>
            <a:endParaRPr lang="en-US" dirty="0"/>
          </a:p>
          <a:p>
            <a:r>
              <a:rPr lang="en-US" altLang="zh-CN" dirty="0"/>
              <a:t>Discussion</a:t>
            </a:r>
            <a:r>
              <a:rPr lang="zh-CN" altLang="en-US" dirty="0"/>
              <a:t> </a:t>
            </a:r>
            <a:r>
              <a:rPr lang="en-US" altLang="zh-CN" dirty="0"/>
              <a:t>on</a:t>
            </a:r>
            <a:r>
              <a:rPr lang="zh-CN" altLang="en-US" dirty="0"/>
              <a:t> </a:t>
            </a:r>
            <a:r>
              <a:rPr lang="en-US" altLang="zh-CN" dirty="0"/>
              <a:t>Ed:</a:t>
            </a:r>
            <a:r>
              <a:rPr lang="zh-CN" altLang="en-US" dirty="0"/>
              <a:t> </a:t>
            </a:r>
            <a:r>
              <a:rPr lang="en-US" altLang="zh-CN" dirty="0"/>
              <a:t>Check</a:t>
            </a:r>
            <a:r>
              <a:rPr lang="zh-CN" altLang="en-US" dirty="0"/>
              <a:t> </a:t>
            </a:r>
            <a:r>
              <a:rPr lang="en-US" altLang="zh-CN" dirty="0"/>
              <a:t>course</a:t>
            </a:r>
            <a:r>
              <a:rPr lang="zh-CN" altLang="en-US" dirty="0"/>
              <a:t> </a:t>
            </a:r>
            <a:r>
              <a:rPr lang="en-US" altLang="zh-CN" dirty="0"/>
              <a:t>website</a:t>
            </a:r>
            <a:r>
              <a:rPr lang="zh-CN" altLang="en-US" dirty="0"/>
              <a:t> </a:t>
            </a:r>
            <a:r>
              <a:rPr lang="en-US" altLang="zh-CN" dirty="0"/>
              <a:t>for</a:t>
            </a:r>
            <a:r>
              <a:rPr lang="zh-CN" altLang="en-US" dirty="0"/>
              <a:t> </a:t>
            </a:r>
            <a:r>
              <a:rPr lang="en-US" altLang="zh-CN" dirty="0"/>
              <a:t>self</a:t>
            </a:r>
            <a:r>
              <a:rPr lang="zh-CN" altLang="en-US" dirty="0"/>
              <a:t> </a:t>
            </a:r>
            <a:r>
              <a:rPr lang="en-US" altLang="zh-CN" dirty="0"/>
              <a:t>sign-up</a:t>
            </a:r>
          </a:p>
          <a:p>
            <a:pPr lvl="1"/>
            <a:r>
              <a:rPr lang="en-US" altLang="zh-CN" dirty="0"/>
              <a:t>All</a:t>
            </a:r>
            <a:r>
              <a:rPr lang="zh-CN" altLang="en-US" dirty="0"/>
              <a:t> </a:t>
            </a:r>
            <a:r>
              <a:rPr lang="en-US" altLang="zh-CN" dirty="0"/>
              <a:t>announcements</a:t>
            </a:r>
            <a:r>
              <a:rPr lang="zh-CN" altLang="en-US" dirty="0"/>
              <a:t> </a:t>
            </a:r>
            <a:r>
              <a:rPr lang="en-US" altLang="zh-CN" dirty="0"/>
              <a:t>also</a:t>
            </a:r>
            <a:r>
              <a:rPr lang="zh-CN" altLang="en-US" dirty="0"/>
              <a:t> </a:t>
            </a:r>
            <a:r>
              <a:rPr lang="en-US" altLang="zh-CN" dirty="0"/>
              <a:t>on</a:t>
            </a:r>
            <a:r>
              <a:rPr lang="zh-CN" altLang="en-US" dirty="0"/>
              <a:t> </a:t>
            </a:r>
            <a:r>
              <a:rPr lang="en-US" altLang="zh-CN" dirty="0"/>
              <a:t>Ed</a:t>
            </a:r>
            <a:endParaRPr lang="en-US" dirty="0"/>
          </a:p>
          <a:p>
            <a:r>
              <a:rPr lang="en-US" dirty="0"/>
              <a:t>Pay attention to the online announcements and schedule</a:t>
            </a:r>
          </a:p>
          <a:p>
            <a:pPr lvl="1"/>
            <a:r>
              <a:rPr lang="en-US" dirty="0"/>
              <a:t>Chec</a:t>
            </a:r>
            <a:r>
              <a:rPr lang="en-US" altLang="zh-CN" dirty="0"/>
              <a:t>k</a:t>
            </a:r>
            <a:r>
              <a:rPr lang="zh-CN" altLang="en-US" dirty="0"/>
              <a:t> </a:t>
            </a:r>
            <a:r>
              <a:rPr lang="en-US" altLang="zh-CN" dirty="0"/>
              <a:t>back</a:t>
            </a:r>
            <a:r>
              <a:rPr lang="zh-CN" altLang="en-US" dirty="0"/>
              <a:t> </a:t>
            </a:r>
            <a:r>
              <a:rPr lang="en-US" altLang="zh-CN" dirty="0"/>
              <a:t>often!</a:t>
            </a:r>
            <a:endParaRPr lang="en-US" dirty="0"/>
          </a:p>
        </p:txBody>
      </p:sp>
      <p:sp>
        <p:nvSpPr>
          <p:cNvPr id="5" name="Slide Number Placeholder 4"/>
          <p:cNvSpPr>
            <a:spLocks noGrp="1"/>
          </p:cNvSpPr>
          <p:nvPr>
            <p:ph type="sldNum" sz="quarter" idx="12"/>
          </p:nvPr>
        </p:nvSpPr>
        <p:spPr/>
        <p:txBody>
          <a:bodyPr/>
          <a:lstStyle/>
          <a:p>
            <a:fld id="{4EEF9975-6C58-5C4C-8961-54FFA2646BAA}" type="slidenum">
              <a:rPr lang="en-US" smtClean="0"/>
              <a:t>5</a:t>
            </a:fld>
            <a:endParaRPr lang="en-US"/>
          </a:p>
        </p:txBody>
      </p:sp>
    </p:spTree>
    <p:extLst>
      <p:ext uri="{BB962C8B-B14F-4D97-AF65-F5344CB8AC3E}">
        <p14:creationId xmlns:p14="http://schemas.microsoft.com/office/powerpoint/2010/main" val="1846708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Requirements</a:t>
            </a:r>
          </a:p>
        </p:txBody>
      </p:sp>
      <p:graphicFrame>
        <p:nvGraphicFramePr>
          <p:cNvPr id="6" name="Content Placeholder 5"/>
          <p:cNvGraphicFramePr>
            <a:graphicFrameLocks noGrp="1"/>
          </p:cNvGraphicFramePr>
          <p:nvPr>
            <p:ph idx="1"/>
          </p:nvPr>
        </p:nvGraphicFramePr>
        <p:xfrm>
          <a:off x="838200" y="2501900"/>
          <a:ext cx="10515600" cy="259080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800" dirty="0">
                          <a:latin typeface="Gill Sans" charset="0"/>
                          <a:ea typeface="Gill Sans" charset="0"/>
                          <a:cs typeface="Gill Sans" charset="0"/>
                        </a:rPr>
                        <a:t>Paper </a:t>
                      </a:r>
                      <a:r>
                        <a:rPr lang="en-US" sz="2800" baseline="0" dirty="0">
                          <a:latin typeface="Gill Sans" charset="0"/>
                          <a:ea typeface="Gill Sans" charset="0"/>
                          <a:cs typeface="Gill Sans" charset="0"/>
                        </a:rPr>
                        <a:t>Presentation</a:t>
                      </a:r>
                      <a:endParaRPr lang="en-US" sz="2800" dirty="0">
                        <a:latin typeface="Gill Sans" charset="0"/>
                        <a:ea typeface="Gill Sans" charset="0"/>
                        <a:cs typeface="Gill Sans" charset="0"/>
                      </a:endParaRPr>
                    </a:p>
                  </a:txBody>
                  <a:tcPr/>
                </a:tc>
                <a:tc>
                  <a:txBody>
                    <a:bodyPr/>
                    <a:lstStyle/>
                    <a:p>
                      <a:pPr algn="r"/>
                      <a:r>
                        <a:rPr lang="en-US" sz="2800" dirty="0">
                          <a:latin typeface="Gill Sans" charset="0"/>
                          <a:ea typeface="Gill Sans" charset="0"/>
                          <a:cs typeface="Gill Sans" charset="0"/>
                        </a:rPr>
                        <a:t>20%</a:t>
                      </a:r>
                    </a:p>
                  </a:txBody>
                  <a:tcPr/>
                </a:tc>
                <a:extLst>
                  <a:ext uri="{0D108BD9-81ED-4DB2-BD59-A6C34878D82A}">
                    <a16:rowId xmlns:a16="http://schemas.microsoft.com/office/drawing/2014/main" val="10000"/>
                  </a:ext>
                </a:extLst>
              </a:tr>
              <a:tr h="370840">
                <a:tc>
                  <a:txBody>
                    <a:bodyPr/>
                    <a:lstStyle/>
                    <a:p>
                      <a:r>
                        <a:rPr lang="en-US" sz="2800" dirty="0">
                          <a:latin typeface="Gill Sans" charset="0"/>
                          <a:ea typeface="Gill Sans" charset="0"/>
                          <a:cs typeface="Gill Sans" charset="0"/>
                        </a:rPr>
                        <a:t>Paper Summary</a:t>
                      </a:r>
                    </a:p>
                  </a:txBody>
                  <a:tcPr/>
                </a:tc>
                <a:tc>
                  <a:txBody>
                    <a:bodyPr/>
                    <a:lstStyle/>
                    <a:p>
                      <a:pPr algn="r"/>
                      <a:r>
                        <a:rPr lang="en-US" sz="2800" dirty="0">
                          <a:latin typeface="Gill Sans" charset="0"/>
                          <a:ea typeface="Gill Sans" charset="0"/>
                          <a:cs typeface="Gill Sans" charset="0"/>
                        </a:rPr>
                        <a:t>10%</a:t>
                      </a:r>
                    </a:p>
                  </a:txBody>
                  <a:tcPr/>
                </a:tc>
                <a:extLst>
                  <a:ext uri="{0D108BD9-81ED-4DB2-BD59-A6C34878D82A}">
                    <a16:rowId xmlns:a16="http://schemas.microsoft.com/office/drawing/2014/main" val="10001"/>
                  </a:ext>
                </a:extLst>
              </a:tr>
              <a:tr h="370840">
                <a:tc>
                  <a:txBody>
                    <a:bodyPr/>
                    <a:lstStyle/>
                    <a:p>
                      <a:r>
                        <a:rPr lang="en-US" sz="2800" dirty="0">
                          <a:latin typeface="Gill Sans" charset="0"/>
                          <a:ea typeface="Gill Sans" charset="0"/>
                          <a:cs typeface="Gill Sans" charset="0"/>
                        </a:rPr>
                        <a:t>Participation</a:t>
                      </a:r>
                    </a:p>
                  </a:txBody>
                  <a:tcPr/>
                </a:tc>
                <a:tc>
                  <a:txBody>
                    <a:bodyPr/>
                    <a:lstStyle/>
                    <a:p>
                      <a:pPr algn="r"/>
                      <a:r>
                        <a:rPr lang="en-US" sz="2800" dirty="0">
                          <a:latin typeface="Gill Sans" charset="0"/>
                          <a:ea typeface="Gill Sans" charset="0"/>
                          <a:cs typeface="Gill Sans" charset="0"/>
                        </a:rPr>
                        <a:t>10%</a:t>
                      </a:r>
                    </a:p>
                  </a:txBody>
                  <a:tcPr/>
                </a:tc>
                <a:extLst>
                  <a:ext uri="{0D108BD9-81ED-4DB2-BD59-A6C34878D82A}">
                    <a16:rowId xmlns:a16="http://schemas.microsoft.com/office/drawing/2014/main" val="10002"/>
                  </a:ext>
                </a:extLst>
              </a:tr>
              <a:tr h="370840">
                <a:tc>
                  <a:txBody>
                    <a:bodyPr/>
                    <a:lstStyle/>
                    <a:p>
                      <a:r>
                        <a:rPr lang="en-US" sz="2800" dirty="0">
                          <a:latin typeface="Gill Sans" charset="0"/>
                          <a:ea typeface="Gill Sans" charset="0"/>
                          <a:cs typeface="Gill Sans" charset="0"/>
                        </a:rPr>
                        <a:t>Project Report</a:t>
                      </a:r>
                    </a:p>
                  </a:txBody>
                  <a:tcPr/>
                </a:tc>
                <a:tc>
                  <a:txBody>
                    <a:bodyPr/>
                    <a:lstStyle/>
                    <a:p>
                      <a:pPr algn="r"/>
                      <a:r>
                        <a:rPr lang="en-US" sz="2800" dirty="0">
                          <a:latin typeface="Gill Sans" charset="0"/>
                          <a:ea typeface="Gill Sans" charset="0"/>
                          <a:cs typeface="Gill Sans" charset="0"/>
                        </a:rPr>
                        <a:t>40%</a:t>
                      </a:r>
                    </a:p>
                  </a:txBody>
                  <a:tcPr/>
                </a:tc>
                <a:extLst>
                  <a:ext uri="{0D108BD9-81ED-4DB2-BD59-A6C34878D82A}">
                    <a16:rowId xmlns:a16="http://schemas.microsoft.com/office/drawing/2014/main" val="1339468468"/>
                  </a:ext>
                </a:extLst>
              </a:tr>
              <a:tr h="370840">
                <a:tc>
                  <a:txBody>
                    <a:bodyPr/>
                    <a:lstStyle/>
                    <a:p>
                      <a:r>
                        <a:rPr lang="en-US" sz="2800" baseline="0" dirty="0">
                          <a:latin typeface="Gill Sans" charset="0"/>
                          <a:ea typeface="Gill Sans" charset="0"/>
                          <a:cs typeface="Gill Sans" charset="0"/>
                        </a:rPr>
                        <a:t>Project Presentations</a:t>
                      </a:r>
                      <a:endParaRPr lang="en-US" sz="2800" dirty="0">
                        <a:latin typeface="Gill Sans" charset="0"/>
                        <a:ea typeface="Gill Sans" charset="0"/>
                        <a:cs typeface="Gill Sans" charset="0"/>
                      </a:endParaRPr>
                    </a:p>
                  </a:txBody>
                  <a:tcPr/>
                </a:tc>
                <a:tc>
                  <a:txBody>
                    <a:bodyPr/>
                    <a:lstStyle/>
                    <a:p>
                      <a:pPr algn="r"/>
                      <a:r>
                        <a:rPr lang="en-US" sz="2800" dirty="0">
                          <a:latin typeface="Gill Sans" charset="0"/>
                          <a:ea typeface="Gill Sans" charset="0"/>
                          <a:cs typeface="Gill Sans" charset="0"/>
                        </a:rPr>
                        <a:t>20%</a:t>
                      </a:r>
                    </a:p>
                  </a:txBody>
                  <a:tcPr/>
                </a:tc>
                <a:extLst>
                  <a:ext uri="{0D108BD9-81ED-4DB2-BD59-A6C34878D82A}">
                    <a16:rowId xmlns:a16="http://schemas.microsoft.com/office/drawing/2014/main" val="10003"/>
                  </a:ext>
                </a:extLst>
              </a:tr>
            </a:tbl>
          </a:graphicData>
        </a:graphic>
      </p:graphicFrame>
      <p:sp>
        <p:nvSpPr>
          <p:cNvPr id="5" name="Slide Number Placeholder 4"/>
          <p:cNvSpPr>
            <a:spLocks noGrp="1"/>
          </p:cNvSpPr>
          <p:nvPr>
            <p:ph type="sldNum" sz="quarter" idx="12"/>
          </p:nvPr>
        </p:nvSpPr>
        <p:spPr/>
        <p:txBody>
          <a:bodyPr/>
          <a:lstStyle/>
          <a:p>
            <a:fld id="{4EEF9975-6C58-5C4C-8961-54FFA2646BAA}" type="slidenum">
              <a:rPr lang="en-US" smtClean="0"/>
              <a:t>6</a:t>
            </a:fld>
            <a:endParaRPr lang="en-US"/>
          </a:p>
        </p:txBody>
      </p:sp>
    </p:spTree>
    <p:extLst>
      <p:ext uri="{BB962C8B-B14F-4D97-AF65-F5344CB8AC3E}">
        <p14:creationId xmlns:p14="http://schemas.microsoft.com/office/powerpoint/2010/main" val="1910357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5B88-4D17-3F0F-09EF-C74887C07B31}"/>
              </a:ext>
            </a:extLst>
          </p:cNvPr>
          <p:cNvSpPr>
            <a:spLocks noGrp="1"/>
          </p:cNvSpPr>
          <p:nvPr>
            <p:ph type="title"/>
          </p:nvPr>
        </p:nvSpPr>
        <p:spPr/>
        <p:txBody>
          <a:bodyPr/>
          <a:lstStyle/>
          <a:p>
            <a:r>
              <a:rPr lang="en-US" altLang="zh-CN" dirty="0"/>
              <a:t>Policies</a:t>
            </a:r>
            <a:endParaRPr lang="en-US" dirty="0"/>
          </a:p>
        </p:txBody>
      </p:sp>
      <p:sp>
        <p:nvSpPr>
          <p:cNvPr id="3" name="Content Placeholder 2">
            <a:extLst>
              <a:ext uri="{FF2B5EF4-FFF2-40B4-BE49-F238E27FC236}">
                <a16:creationId xmlns:a16="http://schemas.microsoft.com/office/drawing/2014/main" id="{C4B65418-71D2-22B4-DD9A-BB758E052F0D}"/>
              </a:ext>
            </a:extLst>
          </p:cNvPr>
          <p:cNvSpPr>
            <a:spLocks noGrp="1"/>
          </p:cNvSpPr>
          <p:nvPr>
            <p:ph idx="1"/>
          </p:nvPr>
        </p:nvSpPr>
        <p:spPr/>
        <p:txBody>
          <a:bodyPr/>
          <a:lstStyle/>
          <a:p>
            <a:r>
              <a:rPr lang="en-US" altLang="zh-CN" dirty="0"/>
              <a:t>Adverse</a:t>
            </a:r>
            <a:r>
              <a:rPr lang="zh-CN" altLang="en-US" dirty="0"/>
              <a:t> </a:t>
            </a:r>
            <a:r>
              <a:rPr lang="en-US" altLang="zh-CN" dirty="0"/>
              <a:t>weather</a:t>
            </a:r>
            <a:r>
              <a:rPr lang="zh-CN" altLang="en-US" dirty="0"/>
              <a:t> </a:t>
            </a:r>
            <a:r>
              <a:rPr lang="en-US" altLang="zh-CN" dirty="0"/>
              <a:t>(read</a:t>
            </a:r>
            <a:r>
              <a:rPr lang="zh-CN" altLang="en-US" dirty="0"/>
              <a:t> </a:t>
            </a:r>
            <a:r>
              <a:rPr lang="en-US" altLang="zh-CN" dirty="0"/>
              <a:t>the</a:t>
            </a:r>
            <a:r>
              <a:rPr lang="zh-CN" altLang="en-US" dirty="0"/>
              <a:t> </a:t>
            </a:r>
            <a:r>
              <a:rPr lang="en-US" altLang="zh-CN" dirty="0"/>
              <a:t>website):</a:t>
            </a:r>
            <a:r>
              <a:rPr lang="zh-CN" altLang="en-US" dirty="0"/>
              <a:t> </a:t>
            </a:r>
            <a:r>
              <a:rPr lang="en-US" altLang="zh-CN" dirty="0"/>
              <a:t>Switch</a:t>
            </a:r>
            <a:r>
              <a:rPr lang="zh-CN" altLang="en-US" dirty="0"/>
              <a:t> </a:t>
            </a:r>
            <a:r>
              <a:rPr lang="en-US" altLang="zh-CN" dirty="0"/>
              <a:t>to</a:t>
            </a:r>
            <a:r>
              <a:rPr lang="zh-CN" altLang="en-US" dirty="0"/>
              <a:t> </a:t>
            </a:r>
            <a:r>
              <a:rPr lang="en-US" altLang="zh-CN" dirty="0"/>
              <a:t>Zoom</a:t>
            </a:r>
            <a:r>
              <a:rPr lang="zh-CN" altLang="en-US" dirty="0"/>
              <a:t> </a:t>
            </a:r>
            <a:r>
              <a:rPr lang="en-US" altLang="zh-CN" dirty="0"/>
              <a:t>at</a:t>
            </a:r>
            <a:r>
              <a:rPr lang="zh-CN" altLang="en-US" dirty="0"/>
              <a:t> </a:t>
            </a:r>
            <a:r>
              <a:rPr lang="en-US" altLang="zh-CN" dirty="0"/>
              <a:t>the</a:t>
            </a:r>
            <a:r>
              <a:rPr lang="zh-CN" altLang="en-US" dirty="0"/>
              <a:t> </a:t>
            </a:r>
            <a:r>
              <a:rPr lang="en-US" altLang="zh-CN" dirty="0"/>
              <a:t>original</a:t>
            </a:r>
            <a:r>
              <a:rPr lang="zh-CN" altLang="en-US" dirty="0"/>
              <a:t> </a:t>
            </a:r>
            <a:r>
              <a:rPr lang="en-US" altLang="zh-CN" dirty="0"/>
              <a:t>time</a:t>
            </a:r>
            <a:r>
              <a:rPr lang="zh-CN" altLang="en-US" dirty="0"/>
              <a:t> </a:t>
            </a:r>
            <a:r>
              <a:rPr lang="en-US" altLang="zh-CN" dirty="0"/>
              <a:t>by</a:t>
            </a:r>
            <a:r>
              <a:rPr lang="zh-CN" altLang="en-US" dirty="0"/>
              <a:t> </a:t>
            </a:r>
            <a:r>
              <a:rPr lang="en-US" altLang="zh-CN" dirty="0"/>
              <a:t>default</a:t>
            </a:r>
          </a:p>
          <a:p>
            <a:endParaRPr lang="en-US" dirty="0"/>
          </a:p>
          <a:p>
            <a:r>
              <a:rPr lang="en-US" altLang="zh-CN" dirty="0"/>
              <a:t>Use</a:t>
            </a:r>
            <a:r>
              <a:rPr lang="zh-CN" altLang="en-US" dirty="0"/>
              <a:t> </a:t>
            </a:r>
            <a:r>
              <a:rPr lang="en-US" altLang="zh-CN" dirty="0"/>
              <a:t>of</a:t>
            </a:r>
            <a:r>
              <a:rPr lang="zh-CN" altLang="en-US" dirty="0"/>
              <a:t> </a:t>
            </a:r>
            <a:r>
              <a:rPr lang="en-US" altLang="zh-CN" dirty="0"/>
              <a:t>AI:</a:t>
            </a:r>
            <a:r>
              <a:rPr lang="zh-CN" altLang="en-US" dirty="0"/>
              <a:t> </a:t>
            </a:r>
            <a:r>
              <a:rPr lang="en-US" altLang="zh-CN" dirty="0"/>
              <a:t>Approach</a:t>
            </a:r>
            <a:r>
              <a:rPr lang="zh-CN" altLang="en-US" dirty="0"/>
              <a:t> </a:t>
            </a:r>
            <a:r>
              <a:rPr lang="en-US" altLang="zh-CN" dirty="0"/>
              <a:t>3</a:t>
            </a:r>
            <a:r>
              <a:rPr lang="zh-CN" altLang="en-US" dirty="0"/>
              <a:t> </a:t>
            </a:r>
            <a:r>
              <a:rPr lang="en-US" altLang="zh-CN" dirty="0"/>
              <a:t>–</a:t>
            </a:r>
            <a:r>
              <a:rPr lang="zh-CN" altLang="en-US" dirty="0"/>
              <a:t> </a:t>
            </a:r>
            <a:r>
              <a:rPr lang="en-US" dirty="0"/>
              <a:t>Use of AI tools is allowed with explicit acknowledgement and proper citation</a:t>
            </a:r>
            <a:r>
              <a:rPr lang="en-US" dirty="0">
                <a:effectLst/>
              </a:rPr>
              <a:t> </a:t>
            </a:r>
          </a:p>
          <a:p>
            <a:pPr lvl="1"/>
            <a:r>
              <a:rPr lang="en-US" altLang="zh-CN" dirty="0"/>
              <a:t>You</a:t>
            </a:r>
            <a:r>
              <a:rPr lang="zh-CN" altLang="en-US" dirty="0"/>
              <a:t> </a:t>
            </a:r>
            <a:r>
              <a:rPr lang="en-US" altLang="zh-CN" dirty="0"/>
              <a:t>should</a:t>
            </a:r>
            <a:r>
              <a:rPr lang="zh-CN" altLang="en-US" dirty="0"/>
              <a:t> </a:t>
            </a:r>
            <a:r>
              <a:rPr lang="en-US" altLang="zh-CN" dirty="0"/>
              <a:t>use</a:t>
            </a:r>
            <a:r>
              <a:rPr lang="zh-CN" altLang="en-US" dirty="0"/>
              <a:t> </a:t>
            </a:r>
            <a:r>
              <a:rPr lang="en-US" altLang="zh-CN" dirty="0"/>
              <a:t>AI</a:t>
            </a:r>
            <a:r>
              <a:rPr lang="zh-CN" altLang="en-US" dirty="0"/>
              <a:t> </a:t>
            </a:r>
            <a:r>
              <a:rPr lang="en-US" altLang="zh-CN" dirty="0"/>
              <a:t>as</a:t>
            </a:r>
            <a:r>
              <a:rPr lang="zh-CN" altLang="en-US" dirty="0"/>
              <a:t> </a:t>
            </a:r>
            <a:r>
              <a:rPr lang="en-US" altLang="zh-CN" dirty="0"/>
              <a:t>much</a:t>
            </a:r>
            <a:r>
              <a:rPr lang="zh-CN" altLang="en-US" dirty="0"/>
              <a:t> </a:t>
            </a:r>
            <a:r>
              <a:rPr lang="en-US" altLang="zh-CN" dirty="0"/>
              <a:t>as</a:t>
            </a:r>
            <a:r>
              <a:rPr lang="zh-CN" altLang="en-US" dirty="0"/>
              <a:t> </a:t>
            </a:r>
            <a:r>
              <a:rPr lang="en-US" altLang="zh-CN" dirty="0"/>
              <a:t>possible</a:t>
            </a:r>
            <a:r>
              <a:rPr lang="zh-CN" altLang="en-US" dirty="0"/>
              <a:t> </a:t>
            </a:r>
            <a:r>
              <a:rPr lang="en-US" altLang="zh-CN" dirty="0"/>
              <a:t>(spend</a:t>
            </a:r>
            <a:r>
              <a:rPr lang="zh-CN" altLang="en-US" dirty="0"/>
              <a:t> </a:t>
            </a:r>
            <a:r>
              <a:rPr lang="en-US" altLang="zh-CN" dirty="0"/>
              <a:t>the</a:t>
            </a:r>
            <a:r>
              <a:rPr lang="zh-CN" altLang="en-US" dirty="0"/>
              <a:t> </a:t>
            </a:r>
            <a:r>
              <a:rPr lang="en-US" altLang="zh-CN" dirty="0"/>
              <a:t>money)</a:t>
            </a:r>
            <a:r>
              <a:rPr lang="zh-CN" altLang="en-US" dirty="0"/>
              <a:t> </a:t>
            </a:r>
            <a:r>
              <a:rPr lang="en-US" altLang="zh-CN" dirty="0"/>
              <a:t>to</a:t>
            </a:r>
            <a:r>
              <a:rPr lang="zh-CN" altLang="en-US" dirty="0"/>
              <a:t> </a:t>
            </a:r>
            <a:r>
              <a:rPr lang="en-US" altLang="zh-CN" dirty="0"/>
              <a:t>reduce</a:t>
            </a:r>
            <a:r>
              <a:rPr lang="zh-CN" altLang="en-US" dirty="0"/>
              <a:t> </a:t>
            </a:r>
            <a:r>
              <a:rPr lang="en-US" altLang="zh-CN" dirty="0"/>
              <a:t>the</a:t>
            </a:r>
            <a:r>
              <a:rPr lang="zh-CN" altLang="en-US" dirty="0"/>
              <a:t> </a:t>
            </a:r>
            <a:r>
              <a:rPr lang="en-US" altLang="zh-CN" dirty="0"/>
              <a:t>time</a:t>
            </a:r>
            <a:r>
              <a:rPr lang="zh-CN" altLang="en-US" dirty="0"/>
              <a:t> </a:t>
            </a:r>
            <a:r>
              <a:rPr lang="en-US" altLang="zh-CN" dirty="0"/>
              <a:t>on</a:t>
            </a:r>
            <a:r>
              <a:rPr lang="zh-CN" altLang="en-US" dirty="0"/>
              <a:t> </a:t>
            </a:r>
            <a:r>
              <a:rPr lang="en-US" altLang="zh-CN" dirty="0"/>
              <a:t>laborious</a:t>
            </a:r>
            <a:r>
              <a:rPr lang="zh-CN" altLang="en-US" dirty="0"/>
              <a:t> </a:t>
            </a:r>
            <a:r>
              <a:rPr lang="en-US" altLang="zh-CN" dirty="0"/>
              <a:t>chores,</a:t>
            </a:r>
            <a:r>
              <a:rPr lang="zh-CN" altLang="en-US" dirty="0"/>
              <a:t> </a:t>
            </a:r>
            <a:r>
              <a:rPr lang="en-US" altLang="zh-CN" dirty="0"/>
              <a:t>so</a:t>
            </a:r>
            <a:r>
              <a:rPr lang="zh-CN" altLang="en-US" dirty="0"/>
              <a:t> </a:t>
            </a:r>
            <a:r>
              <a:rPr lang="en-US" altLang="zh-CN" dirty="0"/>
              <a:t>you</a:t>
            </a:r>
            <a:r>
              <a:rPr lang="zh-CN" altLang="en-US" dirty="0"/>
              <a:t> </a:t>
            </a:r>
            <a:r>
              <a:rPr lang="en-US" altLang="zh-CN" dirty="0"/>
              <a:t>can</a:t>
            </a:r>
            <a:r>
              <a:rPr lang="zh-CN" altLang="en-US" dirty="0"/>
              <a:t> </a:t>
            </a:r>
            <a:r>
              <a:rPr lang="en-US" altLang="zh-CN" dirty="0"/>
              <a:t>focus</a:t>
            </a:r>
            <a:r>
              <a:rPr lang="zh-CN" altLang="en-US" dirty="0"/>
              <a:t> </a:t>
            </a:r>
            <a:r>
              <a:rPr lang="en-US" altLang="zh-CN" dirty="0"/>
              <a:t>on</a:t>
            </a:r>
            <a:r>
              <a:rPr lang="zh-CN" altLang="en-US" dirty="0"/>
              <a:t> </a:t>
            </a:r>
            <a:r>
              <a:rPr lang="en-US" altLang="zh-CN" dirty="0"/>
              <a:t>the</a:t>
            </a:r>
            <a:r>
              <a:rPr lang="zh-CN" altLang="en-US" dirty="0"/>
              <a:t> </a:t>
            </a:r>
            <a:r>
              <a:rPr lang="en-US" altLang="zh-CN" dirty="0"/>
              <a:t>creative</a:t>
            </a:r>
            <a:r>
              <a:rPr lang="zh-CN" altLang="en-US" dirty="0"/>
              <a:t> </a:t>
            </a:r>
            <a:r>
              <a:rPr lang="en-US" altLang="zh-CN" dirty="0"/>
              <a:t>and</a:t>
            </a:r>
            <a:r>
              <a:rPr lang="zh-CN" altLang="en-US" dirty="0"/>
              <a:t> </a:t>
            </a:r>
            <a:r>
              <a:rPr lang="en-US" altLang="zh-CN" dirty="0"/>
              <a:t>strategic</a:t>
            </a:r>
            <a:r>
              <a:rPr lang="zh-CN" altLang="en-US" dirty="0"/>
              <a:t> </a:t>
            </a:r>
            <a:r>
              <a:rPr lang="en-US" altLang="zh-CN" dirty="0"/>
              <a:t>things</a:t>
            </a:r>
          </a:p>
          <a:p>
            <a:pPr lvl="1"/>
            <a:r>
              <a:rPr lang="en-US" altLang="zh-CN" dirty="0"/>
              <a:t>Efficiency</a:t>
            </a:r>
            <a:r>
              <a:rPr lang="zh-CN" altLang="en-US" dirty="0"/>
              <a:t> </a:t>
            </a:r>
            <a:r>
              <a:rPr lang="en-US" altLang="zh-CN" dirty="0"/>
              <a:t>booster,</a:t>
            </a:r>
            <a:r>
              <a:rPr lang="zh-CN" altLang="en-US" dirty="0"/>
              <a:t> </a:t>
            </a:r>
            <a:r>
              <a:rPr lang="en-US" altLang="zh-CN" dirty="0"/>
              <a:t>definitely</a:t>
            </a:r>
            <a:r>
              <a:rPr lang="zh-CN" altLang="en-US" dirty="0"/>
              <a:t> </a:t>
            </a:r>
            <a:r>
              <a:rPr lang="en-US" altLang="zh-CN" dirty="0"/>
              <a:t>not</a:t>
            </a:r>
            <a:r>
              <a:rPr lang="zh-CN" altLang="en-US" dirty="0"/>
              <a:t> </a:t>
            </a:r>
            <a:r>
              <a:rPr lang="en-US" altLang="zh-CN" dirty="0"/>
              <a:t>the</a:t>
            </a:r>
            <a:r>
              <a:rPr lang="zh-CN" altLang="en-US" dirty="0"/>
              <a:t> </a:t>
            </a:r>
            <a:r>
              <a:rPr lang="en-US" altLang="zh-CN" dirty="0"/>
              <a:t>ultimate</a:t>
            </a:r>
            <a:r>
              <a:rPr lang="zh-CN" altLang="en-US" dirty="0"/>
              <a:t> </a:t>
            </a:r>
            <a:r>
              <a:rPr lang="en-US" altLang="zh-CN" dirty="0"/>
              <a:t>way</a:t>
            </a:r>
            <a:r>
              <a:rPr lang="zh-CN" altLang="en-US" dirty="0"/>
              <a:t> </a:t>
            </a:r>
            <a:r>
              <a:rPr lang="en-US" altLang="zh-CN" dirty="0"/>
              <a:t>out</a:t>
            </a:r>
          </a:p>
          <a:p>
            <a:pPr lvl="1"/>
            <a:r>
              <a:rPr lang="en-US" altLang="zh-CN" dirty="0">
                <a:effectLst/>
              </a:rPr>
              <a:t>AI</a:t>
            </a:r>
            <a:r>
              <a:rPr lang="zh-CN" altLang="en-US" dirty="0">
                <a:effectLst/>
              </a:rPr>
              <a:t> </a:t>
            </a:r>
            <a:r>
              <a:rPr lang="en-US" altLang="zh-CN" dirty="0">
                <a:effectLst/>
              </a:rPr>
              <a:t>can</a:t>
            </a:r>
            <a:r>
              <a:rPr lang="zh-CN" altLang="en-US" dirty="0">
                <a:effectLst/>
              </a:rPr>
              <a:t> </a:t>
            </a:r>
            <a:r>
              <a:rPr lang="en-US" altLang="zh-CN" dirty="0">
                <a:effectLst/>
              </a:rPr>
              <a:t>help</a:t>
            </a:r>
            <a:r>
              <a:rPr lang="zh-CN" altLang="en-US" dirty="0">
                <a:effectLst/>
              </a:rPr>
              <a:t> </a:t>
            </a:r>
            <a:r>
              <a:rPr lang="en-US" altLang="zh-CN" dirty="0">
                <a:effectLst/>
              </a:rPr>
              <a:t>you</a:t>
            </a:r>
            <a:r>
              <a:rPr lang="zh-CN" altLang="en-US" dirty="0">
                <a:effectLst/>
              </a:rPr>
              <a:t> </a:t>
            </a:r>
            <a:r>
              <a:rPr lang="en-US" altLang="zh-CN" dirty="0">
                <a:effectLst/>
              </a:rPr>
              <a:t>learn,</a:t>
            </a:r>
            <a:r>
              <a:rPr lang="zh-CN" altLang="en-US" dirty="0">
                <a:effectLst/>
              </a:rPr>
              <a:t> </a:t>
            </a:r>
            <a:r>
              <a:rPr lang="en-US" altLang="zh-CN" dirty="0">
                <a:effectLst/>
              </a:rPr>
              <a:t>but</a:t>
            </a:r>
            <a:r>
              <a:rPr lang="zh-CN" altLang="en-US" dirty="0">
                <a:effectLst/>
              </a:rPr>
              <a:t> </a:t>
            </a:r>
            <a:r>
              <a:rPr lang="en-US" altLang="zh-CN" dirty="0">
                <a:effectLst/>
              </a:rPr>
              <a:t>cannot</a:t>
            </a:r>
            <a:r>
              <a:rPr lang="zh-CN" altLang="en-US" dirty="0">
                <a:effectLst/>
              </a:rPr>
              <a:t> </a:t>
            </a:r>
            <a:r>
              <a:rPr lang="en-US" altLang="zh-CN" dirty="0">
                <a:effectLst/>
              </a:rPr>
              <a:t>learn</a:t>
            </a:r>
            <a:r>
              <a:rPr lang="zh-CN" altLang="en-US" dirty="0">
                <a:effectLst/>
              </a:rPr>
              <a:t> </a:t>
            </a:r>
            <a:r>
              <a:rPr lang="en-US" altLang="zh-CN" dirty="0">
                <a:effectLst/>
              </a:rPr>
              <a:t>for</a:t>
            </a:r>
            <a:r>
              <a:rPr lang="zh-CN" altLang="en-US" dirty="0">
                <a:effectLst/>
              </a:rPr>
              <a:t> </a:t>
            </a:r>
            <a:r>
              <a:rPr lang="en-US" altLang="zh-CN" dirty="0">
                <a:effectLst/>
              </a:rPr>
              <a:t>you</a:t>
            </a:r>
            <a:r>
              <a:rPr lang="zh-CN" altLang="en-US" dirty="0"/>
              <a:t> </a:t>
            </a:r>
            <a:r>
              <a:rPr lang="en-US" altLang="zh-CN" dirty="0"/>
              <a:t>(there’s</a:t>
            </a:r>
            <a:r>
              <a:rPr lang="zh-CN" altLang="en-US" dirty="0"/>
              <a:t> </a:t>
            </a:r>
            <a:r>
              <a:rPr lang="en-US" altLang="zh-CN" dirty="0"/>
              <a:t>no</a:t>
            </a:r>
            <a:r>
              <a:rPr lang="zh-CN" altLang="en-US" dirty="0"/>
              <a:t> </a:t>
            </a:r>
            <a:r>
              <a:rPr lang="en-US" altLang="zh-CN" dirty="0"/>
              <a:t>such</a:t>
            </a:r>
            <a:r>
              <a:rPr lang="zh-CN" altLang="en-US" dirty="0"/>
              <a:t> </a:t>
            </a:r>
            <a:r>
              <a:rPr lang="en-US" altLang="zh-CN" dirty="0"/>
              <a:t>thing)</a:t>
            </a:r>
            <a:endParaRPr lang="en-US" dirty="0">
              <a:effectLst/>
            </a:endParaRPr>
          </a:p>
        </p:txBody>
      </p:sp>
    </p:spTree>
    <p:extLst>
      <p:ext uri="{BB962C8B-B14F-4D97-AF65-F5344CB8AC3E}">
        <p14:creationId xmlns:p14="http://schemas.microsoft.com/office/powerpoint/2010/main" val="65850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CAAC-40ED-60A1-CE18-8456EC9DD50B}"/>
              </a:ext>
            </a:extLst>
          </p:cNvPr>
          <p:cNvSpPr>
            <a:spLocks noGrp="1"/>
          </p:cNvSpPr>
          <p:nvPr>
            <p:ph type="title"/>
          </p:nvPr>
        </p:nvSpPr>
        <p:spPr/>
        <p:txBody>
          <a:bodyPr/>
          <a:lstStyle/>
          <a:p>
            <a:r>
              <a:rPr lang="en-US" altLang="zh-CN" dirty="0"/>
              <a:t>What</a:t>
            </a:r>
            <a:r>
              <a:rPr lang="zh-CN" altLang="en-US" dirty="0"/>
              <a:t> </a:t>
            </a:r>
            <a:r>
              <a:rPr lang="en-US" altLang="zh-CN" dirty="0"/>
              <a:t>is</a:t>
            </a:r>
            <a:r>
              <a:rPr lang="zh-CN" altLang="en-US" dirty="0"/>
              <a:t> </a:t>
            </a:r>
            <a:r>
              <a:rPr lang="en-US" altLang="zh-CN" dirty="0"/>
              <a:t>good</a:t>
            </a:r>
            <a:r>
              <a:rPr lang="zh-CN" altLang="en-US" dirty="0"/>
              <a:t> </a:t>
            </a:r>
            <a:r>
              <a:rPr lang="en-US" altLang="zh-CN" dirty="0"/>
              <a:t>use</a:t>
            </a:r>
            <a:r>
              <a:rPr lang="zh-CN" altLang="en-US" dirty="0"/>
              <a:t> </a:t>
            </a:r>
            <a:r>
              <a:rPr lang="en-US" altLang="zh-CN" dirty="0"/>
              <a:t>of</a:t>
            </a:r>
            <a:r>
              <a:rPr lang="zh-CN" altLang="en-US" dirty="0"/>
              <a:t> </a:t>
            </a:r>
            <a:r>
              <a:rPr lang="en-US" altLang="zh-CN" dirty="0"/>
              <a:t>AI</a:t>
            </a:r>
            <a:endParaRPr lang="en-US" dirty="0"/>
          </a:p>
        </p:txBody>
      </p:sp>
      <p:sp>
        <p:nvSpPr>
          <p:cNvPr id="3" name="Content Placeholder 2">
            <a:extLst>
              <a:ext uri="{FF2B5EF4-FFF2-40B4-BE49-F238E27FC236}">
                <a16:creationId xmlns:a16="http://schemas.microsoft.com/office/drawing/2014/main" id="{73E0A1CD-F12E-CAA3-32F9-128B88287241}"/>
              </a:ext>
            </a:extLst>
          </p:cNvPr>
          <p:cNvSpPr>
            <a:spLocks noGrp="1"/>
          </p:cNvSpPr>
          <p:nvPr>
            <p:ph idx="1"/>
          </p:nvPr>
        </p:nvSpPr>
        <p:spPr/>
        <p:txBody>
          <a:bodyPr/>
          <a:lstStyle/>
          <a:p>
            <a:r>
              <a:rPr lang="en-US" altLang="zh-CN" dirty="0"/>
              <a:t>Ask</a:t>
            </a:r>
            <a:r>
              <a:rPr lang="zh-CN" altLang="en-US" dirty="0"/>
              <a:t> </a:t>
            </a:r>
            <a:r>
              <a:rPr lang="en-US" altLang="zh-CN" dirty="0"/>
              <a:t>your</a:t>
            </a:r>
            <a:r>
              <a:rPr lang="zh-CN" altLang="en-US" dirty="0"/>
              <a:t> </a:t>
            </a:r>
            <a:r>
              <a:rPr lang="en-US" altLang="zh-CN" dirty="0"/>
              <a:t>favorite</a:t>
            </a:r>
            <a:r>
              <a:rPr lang="zh-CN" altLang="en-US" dirty="0"/>
              <a:t> </a:t>
            </a:r>
            <a:r>
              <a:rPr lang="en-US" altLang="zh-CN" dirty="0"/>
              <a:t>coding</a:t>
            </a:r>
            <a:r>
              <a:rPr lang="zh-CN" altLang="en-US" dirty="0"/>
              <a:t> </a:t>
            </a:r>
            <a:r>
              <a:rPr lang="en-US" altLang="zh-CN" dirty="0"/>
              <a:t>agent</a:t>
            </a:r>
            <a:r>
              <a:rPr lang="zh-CN" altLang="en-US" dirty="0"/>
              <a:t> </a:t>
            </a:r>
            <a:r>
              <a:rPr lang="en-US" altLang="zh-CN" dirty="0"/>
              <a:t>to</a:t>
            </a:r>
            <a:r>
              <a:rPr lang="zh-CN" altLang="en-US" dirty="0"/>
              <a:t> </a:t>
            </a:r>
            <a:r>
              <a:rPr lang="en-US" altLang="zh-CN" dirty="0"/>
              <a:t>reproduce</a:t>
            </a:r>
            <a:r>
              <a:rPr lang="zh-CN" altLang="en-US" dirty="0"/>
              <a:t> </a:t>
            </a:r>
            <a:r>
              <a:rPr lang="en-US" altLang="zh-CN" dirty="0"/>
              <a:t>a</a:t>
            </a:r>
            <a:r>
              <a:rPr lang="zh-CN" altLang="en-US" dirty="0"/>
              <a:t> </a:t>
            </a:r>
            <a:r>
              <a:rPr lang="en-US" altLang="zh-CN" dirty="0"/>
              <a:t>paper’s</a:t>
            </a:r>
            <a:r>
              <a:rPr lang="zh-CN" altLang="en-US" dirty="0"/>
              <a:t> </a:t>
            </a:r>
            <a:r>
              <a:rPr lang="en-US" altLang="zh-CN" dirty="0"/>
              <a:t>core</a:t>
            </a:r>
            <a:r>
              <a:rPr lang="zh-CN" altLang="en-US" dirty="0"/>
              <a:t> </a:t>
            </a:r>
            <a:r>
              <a:rPr lang="en-US" altLang="zh-CN" dirty="0"/>
              <a:t>design</a:t>
            </a:r>
            <a:r>
              <a:rPr lang="zh-CN" altLang="en-US" dirty="0"/>
              <a:t> </a:t>
            </a:r>
            <a:r>
              <a:rPr lang="en-US" altLang="zh-CN" dirty="0"/>
              <a:t>and</a:t>
            </a:r>
            <a:r>
              <a:rPr lang="zh-CN" altLang="en-US" dirty="0"/>
              <a:t> </a:t>
            </a:r>
            <a:r>
              <a:rPr lang="en-US" altLang="zh-CN" dirty="0"/>
              <a:t>the</a:t>
            </a:r>
            <a:r>
              <a:rPr lang="zh-CN" altLang="en-US" dirty="0"/>
              <a:t> </a:t>
            </a:r>
            <a:r>
              <a:rPr lang="en-US" altLang="zh-CN" dirty="0"/>
              <a:t>experiments</a:t>
            </a:r>
            <a:r>
              <a:rPr lang="zh-CN" altLang="en-US" dirty="0"/>
              <a:t> </a:t>
            </a:r>
            <a:r>
              <a:rPr lang="en-US" altLang="zh-CN" dirty="0"/>
              <a:t>(verify!!!)</a:t>
            </a:r>
          </a:p>
          <a:p>
            <a:endParaRPr lang="en-US" altLang="zh-CN" dirty="0"/>
          </a:p>
          <a:p>
            <a:r>
              <a:rPr lang="en-US" altLang="zh-CN" dirty="0"/>
              <a:t>You</a:t>
            </a:r>
            <a:r>
              <a:rPr lang="zh-CN" altLang="en-US" dirty="0"/>
              <a:t> </a:t>
            </a:r>
            <a:r>
              <a:rPr lang="en-US" altLang="zh-CN" dirty="0"/>
              <a:t>focus</a:t>
            </a:r>
            <a:r>
              <a:rPr lang="zh-CN" altLang="en-US" dirty="0"/>
              <a:t> </a:t>
            </a:r>
            <a:r>
              <a:rPr lang="en-US" altLang="zh-CN" dirty="0"/>
              <a:t>on</a:t>
            </a:r>
            <a:r>
              <a:rPr lang="zh-CN" altLang="en-US" dirty="0"/>
              <a:t> </a:t>
            </a:r>
            <a:r>
              <a:rPr lang="en-US" altLang="zh-CN" dirty="0"/>
              <a:t>the</a:t>
            </a:r>
            <a:r>
              <a:rPr lang="zh-CN" altLang="en-US" dirty="0"/>
              <a:t> </a:t>
            </a:r>
            <a:r>
              <a:rPr lang="en-US" altLang="zh-CN" dirty="0"/>
              <a:t>problems</a:t>
            </a:r>
            <a:r>
              <a:rPr lang="zh-CN" altLang="en-US" dirty="0"/>
              <a:t> </a:t>
            </a:r>
            <a:r>
              <a:rPr lang="en-US" altLang="zh-CN" dirty="0"/>
              <a:t>encountered</a:t>
            </a:r>
            <a:r>
              <a:rPr lang="zh-CN" altLang="en-US" dirty="0"/>
              <a:t> </a:t>
            </a:r>
            <a:r>
              <a:rPr lang="en-US" altLang="zh-CN" dirty="0"/>
              <a:t>by</a:t>
            </a:r>
            <a:r>
              <a:rPr lang="zh-CN" altLang="en-US" dirty="0"/>
              <a:t> </a:t>
            </a:r>
            <a:r>
              <a:rPr lang="en-US" altLang="zh-CN" dirty="0"/>
              <a:t>AI</a:t>
            </a:r>
            <a:r>
              <a:rPr lang="zh-CN" altLang="en-US" dirty="0"/>
              <a:t> </a:t>
            </a:r>
            <a:r>
              <a:rPr lang="en-US" altLang="zh-CN" dirty="0"/>
              <a:t>during</a:t>
            </a:r>
            <a:r>
              <a:rPr lang="zh-CN" altLang="en-US" dirty="0"/>
              <a:t> </a:t>
            </a:r>
            <a:r>
              <a:rPr lang="en-US" altLang="zh-CN" dirty="0"/>
              <a:t>the</a:t>
            </a:r>
            <a:r>
              <a:rPr lang="zh-CN" altLang="en-US" dirty="0"/>
              <a:t> </a:t>
            </a:r>
            <a:r>
              <a:rPr lang="en-US" altLang="zh-CN" dirty="0"/>
              <a:t>process,</a:t>
            </a:r>
            <a:r>
              <a:rPr lang="zh-CN" altLang="en-US" dirty="0"/>
              <a:t> </a:t>
            </a:r>
            <a:r>
              <a:rPr lang="en-US" altLang="zh-CN" dirty="0"/>
              <a:t>the</a:t>
            </a:r>
            <a:r>
              <a:rPr lang="zh-CN" altLang="en-US" dirty="0"/>
              <a:t> </a:t>
            </a:r>
            <a:r>
              <a:rPr lang="en-US" altLang="zh-CN" dirty="0"/>
              <a:t>discrepancies</a:t>
            </a:r>
            <a:r>
              <a:rPr lang="zh-CN" altLang="en-US" dirty="0"/>
              <a:t> </a:t>
            </a:r>
            <a:r>
              <a:rPr lang="en-US" altLang="zh-CN" dirty="0"/>
              <a:t>of</a:t>
            </a:r>
            <a:r>
              <a:rPr lang="zh-CN" altLang="en-US" dirty="0"/>
              <a:t> </a:t>
            </a:r>
            <a:r>
              <a:rPr lang="en-US" altLang="zh-CN" dirty="0"/>
              <a:t>the</a:t>
            </a:r>
            <a:r>
              <a:rPr lang="zh-CN" altLang="en-US" dirty="0"/>
              <a:t> </a:t>
            </a:r>
            <a:r>
              <a:rPr lang="en-US" altLang="zh-CN" dirty="0"/>
              <a:t>results,</a:t>
            </a:r>
            <a:r>
              <a:rPr lang="zh-CN" altLang="en-US" dirty="0"/>
              <a:t> </a:t>
            </a:r>
            <a:r>
              <a:rPr lang="en-US" altLang="zh-CN" dirty="0"/>
              <a:t>etc.</a:t>
            </a:r>
            <a:r>
              <a:rPr lang="zh-CN" altLang="en-US" dirty="0"/>
              <a:t> </a:t>
            </a:r>
            <a:r>
              <a:rPr lang="en-US" altLang="zh-CN" dirty="0"/>
              <a:t>-&gt;</a:t>
            </a:r>
            <a:r>
              <a:rPr lang="zh-CN" altLang="en-US" dirty="0"/>
              <a:t> </a:t>
            </a:r>
            <a:r>
              <a:rPr lang="en-US" altLang="zh-CN" dirty="0"/>
              <a:t>Possible</a:t>
            </a:r>
            <a:r>
              <a:rPr lang="zh-CN" altLang="en-US" dirty="0"/>
              <a:t> </a:t>
            </a:r>
            <a:r>
              <a:rPr lang="en-US" altLang="zh-CN" dirty="0"/>
              <a:t>new</a:t>
            </a:r>
            <a:r>
              <a:rPr lang="zh-CN" altLang="en-US" dirty="0"/>
              <a:t> </a:t>
            </a:r>
            <a:r>
              <a:rPr lang="en-US" altLang="zh-CN" dirty="0"/>
              <a:t>problems</a:t>
            </a:r>
            <a:r>
              <a:rPr lang="zh-CN" altLang="en-US" dirty="0"/>
              <a:t> </a:t>
            </a:r>
            <a:r>
              <a:rPr lang="en-US" altLang="zh-CN" dirty="0"/>
              <a:t>to</a:t>
            </a:r>
            <a:r>
              <a:rPr lang="zh-CN" altLang="en-US" dirty="0"/>
              <a:t> </a:t>
            </a:r>
            <a:r>
              <a:rPr lang="en-US" altLang="zh-CN" dirty="0"/>
              <a:t>work</a:t>
            </a:r>
            <a:r>
              <a:rPr lang="zh-CN" altLang="en-US" dirty="0"/>
              <a:t> </a:t>
            </a:r>
            <a:r>
              <a:rPr lang="en-US" altLang="zh-CN" dirty="0"/>
              <a:t>on</a:t>
            </a:r>
            <a:r>
              <a:rPr lang="zh-CN" altLang="en-US" dirty="0"/>
              <a:t> </a:t>
            </a:r>
            <a:r>
              <a:rPr lang="en-US" altLang="zh-CN" dirty="0"/>
              <a:t>may</a:t>
            </a:r>
            <a:r>
              <a:rPr lang="zh-CN" altLang="en-US" dirty="0"/>
              <a:t> </a:t>
            </a:r>
            <a:r>
              <a:rPr lang="en-US" altLang="zh-CN" dirty="0"/>
              <a:t>emerge</a:t>
            </a:r>
          </a:p>
          <a:p>
            <a:endParaRPr lang="en-US" altLang="zh-CN" dirty="0"/>
          </a:p>
          <a:p>
            <a:r>
              <a:rPr lang="en-US" altLang="zh-CN" dirty="0"/>
              <a:t>You</a:t>
            </a:r>
            <a:r>
              <a:rPr lang="zh-CN" altLang="en-US" dirty="0"/>
              <a:t> </a:t>
            </a:r>
            <a:r>
              <a:rPr lang="en-US" altLang="zh-CN" dirty="0"/>
              <a:t>may</a:t>
            </a:r>
            <a:r>
              <a:rPr lang="zh-CN" altLang="en-US" dirty="0"/>
              <a:t> </a:t>
            </a:r>
            <a:r>
              <a:rPr lang="en-US" altLang="zh-CN" dirty="0"/>
              <a:t>have</a:t>
            </a:r>
            <a:r>
              <a:rPr lang="zh-CN" altLang="en-US" dirty="0"/>
              <a:t> </a:t>
            </a:r>
            <a:r>
              <a:rPr lang="en-US" altLang="zh-CN" dirty="0"/>
              <a:t>a</a:t>
            </a:r>
            <a:r>
              <a:rPr lang="zh-CN" altLang="en-US" dirty="0"/>
              <a:t> </a:t>
            </a:r>
            <a:r>
              <a:rPr lang="en-US" altLang="zh-CN" dirty="0"/>
              <a:t>new</a:t>
            </a:r>
            <a:r>
              <a:rPr lang="zh-CN" altLang="en-US" dirty="0"/>
              <a:t> </a:t>
            </a:r>
            <a:r>
              <a:rPr lang="en-US" altLang="zh-CN" dirty="0"/>
              <a:t>idea,</a:t>
            </a:r>
            <a:r>
              <a:rPr lang="zh-CN" altLang="en-US" dirty="0"/>
              <a:t> </a:t>
            </a:r>
            <a:r>
              <a:rPr lang="en-US" altLang="zh-CN" dirty="0"/>
              <a:t>ask</a:t>
            </a:r>
            <a:r>
              <a:rPr lang="zh-CN" altLang="en-US" dirty="0"/>
              <a:t> </a:t>
            </a:r>
            <a:r>
              <a:rPr lang="en-US" altLang="zh-CN" dirty="0"/>
              <a:t>AI</a:t>
            </a:r>
            <a:r>
              <a:rPr lang="zh-CN" altLang="en-US" dirty="0"/>
              <a:t> </a:t>
            </a:r>
            <a:r>
              <a:rPr lang="en-US" altLang="zh-CN" dirty="0"/>
              <a:t>to</a:t>
            </a:r>
            <a:r>
              <a:rPr lang="zh-CN" altLang="en-US" dirty="0"/>
              <a:t> </a:t>
            </a:r>
            <a:r>
              <a:rPr lang="en-US" altLang="zh-CN" dirty="0"/>
              <a:t>implement</a:t>
            </a:r>
            <a:r>
              <a:rPr lang="zh-CN" altLang="en-US" dirty="0"/>
              <a:t> </a:t>
            </a:r>
            <a:r>
              <a:rPr lang="en-US" altLang="zh-CN" dirty="0"/>
              <a:t>it</a:t>
            </a:r>
            <a:r>
              <a:rPr lang="zh-CN" altLang="en-US" dirty="0"/>
              <a:t> </a:t>
            </a:r>
            <a:r>
              <a:rPr lang="en-US" altLang="zh-CN" dirty="0"/>
              <a:t>on</a:t>
            </a:r>
            <a:r>
              <a:rPr lang="zh-CN" altLang="en-US" dirty="0"/>
              <a:t> </a:t>
            </a:r>
            <a:r>
              <a:rPr lang="en-US" altLang="zh-CN" dirty="0"/>
              <a:t>top</a:t>
            </a:r>
            <a:r>
              <a:rPr lang="zh-CN" altLang="en-US" dirty="0"/>
              <a:t> </a:t>
            </a:r>
            <a:r>
              <a:rPr lang="en-US" altLang="zh-CN" dirty="0"/>
              <a:t>of</a:t>
            </a:r>
            <a:r>
              <a:rPr lang="zh-CN" altLang="en-US" dirty="0"/>
              <a:t> </a:t>
            </a:r>
            <a:r>
              <a:rPr lang="en-US" altLang="zh-CN" dirty="0"/>
              <a:t>the</a:t>
            </a:r>
            <a:r>
              <a:rPr lang="zh-CN" altLang="en-US" dirty="0"/>
              <a:t> </a:t>
            </a:r>
            <a:r>
              <a:rPr lang="en-US" altLang="zh-CN" dirty="0"/>
              <a:t>paper’s</a:t>
            </a:r>
            <a:r>
              <a:rPr lang="zh-CN" altLang="en-US" dirty="0"/>
              <a:t> </a:t>
            </a:r>
            <a:r>
              <a:rPr lang="en-US" altLang="zh-CN" dirty="0"/>
              <a:t>design,</a:t>
            </a:r>
            <a:r>
              <a:rPr lang="zh-CN" altLang="en-US" dirty="0"/>
              <a:t> </a:t>
            </a:r>
            <a:r>
              <a:rPr lang="en-US" altLang="zh-CN" dirty="0"/>
              <a:t>evaluate</a:t>
            </a:r>
            <a:r>
              <a:rPr lang="zh-CN" altLang="en-US" dirty="0"/>
              <a:t> </a:t>
            </a:r>
            <a:r>
              <a:rPr lang="en-US" altLang="zh-CN" dirty="0"/>
              <a:t>the</a:t>
            </a:r>
            <a:r>
              <a:rPr lang="zh-CN" altLang="en-US" dirty="0"/>
              <a:t> </a:t>
            </a:r>
            <a:r>
              <a:rPr lang="en-US" altLang="zh-CN" dirty="0"/>
              <a:t>difference</a:t>
            </a:r>
          </a:p>
        </p:txBody>
      </p:sp>
    </p:spTree>
    <p:extLst>
      <p:ext uri="{BB962C8B-B14F-4D97-AF65-F5344CB8AC3E}">
        <p14:creationId xmlns:p14="http://schemas.microsoft.com/office/powerpoint/2010/main" val="380236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(#Lectures)</a:t>
            </a:r>
          </a:p>
        </p:txBody>
      </p:sp>
      <p:sp>
        <p:nvSpPr>
          <p:cNvPr id="3" name="Content Placeholder 2"/>
          <p:cNvSpPr>
            <a:spLocks noGrp="1"/>
          </p:cNvSpPr>
          <p:nvPr>
            <p:ph idx="1"/>
          </p:nvPr>
        </p:nvSpPr>
        <p:spPr>
          <a:xfrm>
            <a:off x="838200" y="1541720"/>
            <a:ext cx="10515600" cy="4951155"/>
          </a:xfrm>
        </p:spPr>
        <p:txBody>
          <a:bodyPr>
            <a:normAutofit fontScale="92500" lnSpcReduction="10000"/>
          </a:bodyPr>
          <a:lstStyle/>
          <a:p>
            <a:r>
              <a:rPr lang="en-US" dirty="0"/>
              <a:t>Basics</a:t>
            </a:r>
          </a:p>
          <a:p>
            <a:pPr lvl="1"/>
            <a:r>
              <a:rPr lang="en-US" altLang="zh-CN" dirty="0"/>
              <a:t>What’s</a:t>
            </a:r>
            <a:r>
              <a:rPr lang="zh-CN" altLang="en-US" dirty="0"/>
              <a:t> </a:t>
            </a:r>
            <a:r>
              <a:rPr lang="en-US" altLang="zh-CN" dirty="0"/>
              <a:t>above</a:t>
            </a:r>
            <a:r>
              <a:rPr lang="zh-CN" altLang="en-US" dirty="0"/>
              <a:t> </a:t>
            </a:r>
            <a:r>
              <a:rPr lang="en-US" altLang="zh-CN" dirty="0"/>
              <a:t>us,</a:t>
            </a:r>
            <a:r>
              <a:rPr lang="zh-CN" altLang="en-US" dirty="0"/>
              <a:t> </a:t>
            </a:r>
            <a:r>
              <a:rPr lang="en-US" altLang="zh-CN" dirty="0"/>
              <a:t>what’s</a:t>
            </a:r>
            <a:r>
              <a:rPr lang="zh-CN" altLang="en-US" dirty="0"/>
              <a:t> </a:t>
            </a:r>
            <a:r>
              <a:rPr lang="en-US" altLang="zh-CN" dirty="0"/>
              <a:t>below</a:t>
            </a:r>
            <a:r>
              <a:rPr lang="zh-CN" altLang="en-US" dirty="0"/>
              <a:t> </a:t>
            </a:r>
            <a:r>
              <a:rPr lang="en-US" altLang="zh-CN" dirty="0"/>
              <a:t>us</a:t>
            </a:r>
            <a:r>
              <a:rPr lang="zh-CN" altLang="en-US" dirty="0"/>
              <a:t> </a:t>
            </a:r>
            <a:r>
              <a:rPr lang="en-US" altLang="zh-CN" dirty="0"/>
              <a:t>(attention;</a:t>
            </a:r>
            <a:r>
              <a:rPr lang="zh-CN" altLang="en-US" dirty="0"/>
              <a:t> </a:t>
            </a:r>
            <a:r>
              <a:rPr lang="en-US" altLang="zh-CN" dirty="0"/>
              <a:t>bare-metal)</a:t>
            </a:r>
            <a:r>
              <a:rPr lang="en-US" dirty="0"/>
              <a:t> (</a:t>
            </a:r>
            <a:r>
              <a:rPr lang="en-US" altLang="zh-CN" dirty="0"/>
              <a:t>1</a:t>
            </a:r>
            <a:r>
              <a:rPr lang="en-US" dirty="0"/>
              <a:t>)</a:t>
            </a:r>
          </a:p>
          <a:p>
            <a:r>
              <a:rPr lang="en-US" altLang="zh-CN" dirty="0"/>
              <a:t>Systems</a:t>
            </a:r>
            <a:r>
              <a:rPr lang="zh-CN" altLang="en-US" dirty="0"/>
              <a:t> </a:t>
            </a:r>
            <a:r>
              <a:rPr lang="en-US" altLang="zh-CN" dirty="0"/>
              <a:t>for</a:t>
            </a:r>
            <a:r>
              <a:rPr lang="zh-CN" altLang="en-US" dirty="0"/>
              <a:t> </a:t>
            </a:r>
            <a:r>
              <a:rPr lang="en-US" altLang="zh-CN" dirty="0"/>
              <a:t>LLMs</a:t>
            </a:r>
            <a:endParaRPr lang="en-US" dirty="0"/>
          </a:p>
          <a:p>
            <a:pPr lvl="1"/>
            <a:r>
              <a:rPr lang="en-US" dirty="0"/>
              <a:t>Pre-</a:t>
            </a:r>
            <a:r>
              <a:rPr lang="en-US" altLang="zh-CN" dirty="0"/>
              <a:t>t</a:t>
            </a:r>
            <a:r>
              <a:rPr lang="en-US" dirty="0"/>
              <a:t>raining (2)</a:t>
            </a:r>
          </a:p>
          <a:p>
            <a:pPr lvl="1"/>
            <a:r>
              <a:rPr lang="en-US" altLang="zh-CN" dirty="0"/>
              <a:t>Inference</a:t>
            </a:r>
            <a:r>
              <a:rPr lang="zh-CN" altLang="en-US" dirty="0"/>
              <a:t> </a:t>
            </a:r>
            <a:r>
              <a:rPr lang="en-US" altLang="zh-CN" dirty="0"/>
              <a:t>(2)</a:t>
            </a:r>
            <a:endParaRPr lang="en-US" dirty="0"/>
          </a:p>
          <a:p>
            <a:r>
              <a:rPr lang="en-US" altLang="zh-CN" dirty="0"/>
              <a:t>Systems</a:t>
            </a:r>
            <a:r>
              <a:rPr lang="zh-CN" altLang="en-US" dirty="0"/>
              <a:t> </a:t>
            </a:r>
            <a:r>
              <a:rPr lang="en-US" altLang="zh-CN" dirty="0"/>
              <a:t>for</a:t>
            </a:r>
            <a:r>
              <a:rPr lang="zh-CN" altLang="en-US" dirty="0"/>
              <a:t> </a:t>
            </a:r>
            <a:r>
              <a:rPr lang="en-US" altLang="zh-CN" dirty="0"/>
              <a:t>Agents</a:t>
            </a:r>
          </a:p>
          <a:p>
            <a:pPr lvl="1"/>
            <a:r>
              <a:rPr lang="en-US" altLang="zh-CN" dirty="0"/>
              <a:t>Post-training</a:t>
            </a:r>
            <a:r>
              <a:rPr lang="zh-CN" altLang="en-US" dirty="0"/>
              <a:t> </a:t>
            </a:r>
            <a:r>
              <a:rPr lang="en-US" altLang="zh-CN" dirty="0"/>
              <a:t>/</a:t>
            </a:r>
            <a:r>
              <a:rPr lang="zh-CN" altLang="en-US" dirty="0"/>
              <a:t> </a:t>
            </a:r>
            <a:r>
              <a:rPr lang="en-US" altLang="zh-CN" dirty="0"/>
              <a:t>RL</a:t>
            </a:r>
            <a:r>
              <a:rPr lang="zh-CN" altLang="en-US" dirty="0"/>
              <a:t> </a:t>
            </a:r>
            <a:r>
              <a:rPr lang="en-US" altLang="zh-CN" dirty="0"/>
              <a:t>(2)</a:t>
            </a:r>
          </a:p>
          <a:p>
            <a:pPr lvl="1"/>
            <a:r>
              <a:rPr lang="en-US" altLang="zh-CN" dirty="0"/>
              <a:t>Sandbox</a:t>
            </a:r>
            <a:r>
              <a:rPr lang="zh-CN" altLang="en-US" dirty="0"/>
              <a:t> </a:t>
            </a:r>
            <a:r>
              <a:rPr lang="en-US" altLang="zh-CN" dirty="0"/>
              <a:t>(1)</a:t>
            </a:r>
          </a:p>
          <a:p>
            <a:pPr lvl="1"/>
            <a:r>
              <a:rPr lang="en-US" altLang="zh-CN" dirty="0"/>
              <a:t>Agentic</a:t>
            </a:r>
            <a:r>
              <a:rPr lang="zh-CN" altLang="en-US" dirty="0"/>
              <a:t> </a:t>
            </a:r>
            <a:r>
              <a:rPr lang="en-US" altLang="zh-CN" dirty="0"/>
              <a:t>applications</a:t>
            </a:r>
            <a:r>
              <a:rPr lang="zh-CN" altLang="en-US" dirty="0"/>
              <a:t> </a:t>
            </a:r>
            <a:r>
              <a:rPr lang="en-US" altLang="zh-CN" dirty="0"/>
              <a:t>in</a:t>
            </a:r>
            <a:r>
              <a:rPr lang="zh-CN" altLang="en-US" dirty="0"/>
              <a:t> </a:t>
            </a:r>
            <a:r>
              <a:rPr lang="en-US" altLang="zh-CN" dirty="0"/>
              <a:t>vertical</a:t>
            </a:r>
            <a:r>
              <a:rPr lang="zh-CN" altLang="en-US" dirty="0"/>
              <a:t> </a:t>
            </a:r>
            <a:r>
              <a:rPr lang="en-US" altLang="zh-CN" dirty="0"/>
              <a:t>domains</a:t>
            </a:r>
            <a:r>
              <a:rPr lang="zh-CN" altLang="en-US" dirty="0"/>
              <a:t> </a:t>
            </a:r>
            <a:r>
              <a:rPr lang="en-US" altLang="zh-CN" dirty="0"/>
              <a:t>(1)</a:t>
            </a:r>
            <a:endParaRPr lang="en-US" dirty="0"/>
          </a:p>
          <a:p>
            <a:r>
              <a:rPr lang="en-US" altLang="zh-CN" dirty="0"/>
              <a:t>Infra</a:t>
            </a:r>
          </a:p>
          <a:p>
            <a:pPr lvl="1"/>
            <a:r>
              <a:rPr lang="en-US" altLang="zh-CN" dirty="0"/>
              <a:t>Kernels;</a:t>
            </a:r>
            <a:r>
              <a:rPr lang="zh-CN" altLang="en-US" dirty="0"/>
              <a:t> </a:t>
            </a:r>
            <a:r>
              <a:rPr lang="en-US" altLang="zh-CN" dirty="0"/>
              <a:t>CCL</a:t>
            </a:r>
            <a:r>
              <a:rPr lang="zh-CN" altLang="en-US" dirty="0"/>
              <a:t> </a:t>
            </a:r>
            <a:r>
              <a:rPr lang="en-US" altLang="zh-CN" dirty="0"/>
              <a:t>(1)</a:t>
            </a:r>
          </a:p>
          <a:p>
            <a:pPr lvl="1"/>
            <a:r>
              <a:rPr lang="en-US" altLang="zh-CN" dirty="0"/>
              <a:t>Reliability;</a:t>
            </a:r>
            <a:r>
              <a:rPr lang="zh-CN" altLang="en-US" dirty="0"/>
              <a:t> </a:t>
            </a:r>
            <a:r>
              <a:rPr lang="en-US" altLang="zh-CN" dirty="0"/>
              <a:t>simulation</a:t>
            </a:r>
            <a:r>
              <a:rPr lang="zh-CN" altLang="en-US" dirty="0"/>
              <a:t> </a:t>
            </a:r>
            <a:r>
              <a:rPr lang="en-US" altLang="zh-CN" dirty="0"/>
              <a:t>(1)</a:t>
            </a:r>
          </a:p>
          <a:p>
            <a:r>
              <a:rPr lang="en-US" altLang="zh-CN" dirty="0"/>
              <a:t>Guest</a:t>
            </a:r>
            <a:r>
              <a:rPr lang="zh-CN" altLang="en-US" dirty="0"/>
              <a:t> </a:t>
            </a:r>
            <a:r>
              <a:rPr lang="en-US" altLang="zh-CN" dirty="0"/>
              <a:t>lecture</a:t>
            </a:r>
            <a:r>
              <a:rPr lang="zh-CN" altLang="en-US" dirty="0"/>
              <a:t> </a:t>
            </a:r>
            <a:r>
              <a:rPr lang="en-US" altLang="zh-CN" dirty="0"/>
              <a:t>(1)</a:t>
            </a:r>
            <a:endParaRPr lang="en-US" dirty="0"/>
          </a:p>
        </p:txBody>
      </p:sp>
      <p:sp>
        <p:nvSpPr>
          <p:cNvPr id="6" name="Slide Number Placeholder 5"/>
          <p:cNvSpPr>
            <a:spLocks noGrp="1"/>
          </p:cNvSpPr>
          <p:nvPr>
            <p:ph type="sldNum" sz="quarter" idx="12"/>
          </p:nvPr>
        </p:nvSpPr>
        <p:spPr/>
        <p:txBody>
          <a:bodyPr/>
          <a:lstStyle/>
          <a:p>
            <a:fld id="{4EEF9975-6C58-5C4C-8961-54FFA2646BAA}" type="slidenum">
              <a:rPr lang="en-US" smtClean="0"/>
              <a:t>9</a:t>
            </a:fld>
            <a:endParaRPr lang="en-US"/>
          </a:p>
        </p:txBody>
      </p:sp>
    </p:spTree>
    <p:extLst>
      <p:ext uri="{BB962C8B-B14F-4D97-AF65-F5344CB8AC3E}">
        <p14:creationId xmlns:p14="http://schemas.microsoft.com/office/powerpoint/2010/main" val="3280797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Group-Based Work</a:t>
            </a:r>
          </a:p>
        </p:txBody>
      </p:sp>
      <p:sp>
        <p:nvSpPr>
          <p:cNvPr id="3" name="Content Placeholder 2"/>
          <p:cNvSpPr>
            <a:spLocks noGrp="1"/>
          </p:cNvSpPr>
          <p:nvPr>
            <p:ph idx="1"/>
          </p:nvPr>
        </p:nvSpPr>
        <p:spPr/>
        <p:txBody>
          <a:bodyPr/>
          <a:lstStyle/>
          <a:p>
            <a:r>
              <a:rPr lang="en-US" dirty="0"/>
              <a:t>ALL activities will be done in groups </a:t>
            </a:r>
            <a:r>
              <a:rPr lang="en-US" dirty="0">
                <a:solidFill>
                  <a:srgbClr val="FF0000"/>
                </a:solidFill>
              </a:rPr>
              <a:t>except</a:t>
            </a:r>
            <a:r>
              <a:rPr lang="en-US" dirty="0"/>
              <a:t> for participation</a:t>
            </a:r>
          </a:p>
          <a:p>
            <a:pPr lvl="1"/>
            <a:r>
              <a:rPr lang="en-US" dirty="0"/>
              <a:t>Paper presentation</a:t>
            </a:r>
          </a:p>
          <a:p>
            <a:pPr lvl="1"/>
            <a:r>
              <a:rPr lang="en-US" dirty="0"/>
              <a:t>Paper summary</a:t>
            </a:r>
          </a:p>
          <a:p>
            <a:pPr lvl="1"/>
            <a:r>
              <a:rPr lang="en-US" dirty="0"/>
              <a:t>Research projects</a:t>
            </a:r>
          </a:p>
        </p:txBody>
      </p:sp>
      <p:sp>
        <p:nvSpPr>
          <p:cNvPr id="6" name="Slide Number Placeholder 5"/>
          <p:cNvSpPr>
            <a:spLocks noGrp="1"/>
          </p:cNvSpPr>
          <p:nvPr>
            <p:ph type="sldNum" sz="quarter" idx="12"/>
          </p:nvPr>
        </p:nvSpPr>
        <p:spPr/>
        <p:txBody>
          <a:bodyPr/>
          <a:lstStyle/>
          <a:p>
            <a:fld id="{4EEF9975-6C58-5C4C-8961-54FFA2646BAA}" type="slidenum">
              <a:rPr lang="en-US" smtClean="0"/>
              <a:t>10</a:t>
            </a:fld>
            <a:endParaRPr lang="en-US"/>
          </a:p>
        </p:txBody>
      </p:sp>
    </p:spTree>
    <p:extLst>
      <p:ext uri="{BB962C8B-B14F-4D97-AF65-F5344CB8AC3E}">
        <p14:creationId xmlns:p14="http://schemas.microsoft.com/office/powerpoint/2010/main" val="859408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Groups ASAP</a:t>
            </a:r>
          </a:p>
        </p:txBody>
      </p:sp>
      <p:sp>
        <p:nvSpPr>
          <p:cNvPr id="3" name="Content Placeholder 2"/>
          <p:cNvSpPr>
            <a:spLocks noGrp="1"/>
          </p:cNvSpPr>
          <p:nvPr>
            <p:ph idx="1"/>
          </p:nvPr>
        </p:nvSpPr>
        <p:spPr/>
        <p:txBody>
          <a:bodyPr/>
          <a:lstStyle/>
          <a:p>
            <a:r>
              <a:rPr lang="en-US" dirty="0"/>
              <a:t>Submit</a:t>
            </a:r>
            <a:r>
              <a:rPr lang="zh-CN" altLang="en-US" dirty="0"/>
              <a:t> </a:t>
            </a:r>
            <a:r>
              <a:rPr lang="en-US" altLang="zh-CN" dirty="0"/>
              <a:t>to</a:t>
            </a:r>
            <a:r>
              <a:rPr lang="zh-CN" altLang="en-US" dirty="0"/>
              <a:t> </a:t>
            </a:r>
            <a:r>
              <a:rPr lang="en-US" altLang="zh-CN" dirty="0"/>
              <a:t>the</a:t>
            </a:r>
            <a:r>
              <a:rPr lang="zh-CN" altLang="en-US" dirty="0"/>
              <a:t> </a:t>
            </a:r>
            <a:r>
              <a:rPr lang="en-US" altLang="zh-CN" dirty="0"/>
              <a:t>Google</a:t>
            </a:r>
            <a:r>
              <a:rPr lang="zh-CN" altLang="en-US" dirty="0"/>
              <a:t> </a:t>
            </a:r>
            <a:r>
              <a:rPr lang="en-US" altLang="zh-CN" dirty="0"/>
              <a:t>form</a:t>
            </a:r>
            <a:r>
              <a:rPr lang="zh-CN" altLang="en-US" dirty="0"/>
              <a:t> </a:t>
            </a:r>
            <a:r>
              <a:rPr lang="en-US" dirty="0"/>
              <a:t>(</a:t>
            </a:r>
            <a:r>
              <a:rPr lang="en-US" altLang="zh-CN" dirty="0"/>
              <a:t>on</a:t>
            </a:r>
            <a:r>
              <a:rPr lang="zh-CN" altLang="en-US" dirty="0"/>
              <a:t> </a:t>
            </a:r>
            <a:r>
              <a:rPr lang="en-US" dirty="0"/>
              <a:t>course website)</a:t>
            </a:r>
          </a:p>
          <a:p>
            <a:pPr lvl="1"/>
            <a:r>
              <a:rPr lang="en-US" dirty="0"/>
              <a:t>By September 14 the latest, </a:t>
            </a:r>
            <a:r>
              <a:rPr lang="en-US" dirty="0">
                <a:latin typeface="Aptos" panose="020B0004020202020204" pitchFamily="34" charset="0"/>
              </a:rPr>
              <a:t>but </a:t>
            </a:r>
            <a:r>
              <a:rPr lang="en-US" dirty="0">
                <a:solidFill>
                  <a:srgbClr val="FF0000"/>
                </a:solidFill>
                <a:latin typeface="Aptos" panose="020B0004020202020204" pitchFamily="34" charset="0"/>
                <a:cs typeface="Gill Sans" panose="020B0502020104020203" pitchFamily="34" charset="-79"/>
              </a:rPr>
              <a:t>right now</a:t>
            </a:r>
            <a:r>
              <a:rPr lang="en-US" dirty="0">
                <a:latin typeface="Aptos" panose="020B0004020202020204" pitchFamily="34" charset="0"/>
              </a:rPr>
              <a:t> </a:t>
            </a:r>
            <a:r>
              <a:rPr lang="en-US" dirty="0"/>
              <a:t>is better</a:t>
            </a:r>
          </a:p>
          <a:p>
            <a:pPr lvl="1"/>
            <a:r>
              <a:rPr lang="en-US" dirty="0"/>
              <a:t>Can use</a:t>
            </a:r>
            <a:r>
              <a:rPr lang="zh-CN" altLang="en-US" dirty="0"/>
              <a:t> </a:t>
            </a:r>
            <a:r>
              <a:rPr lang="en-US" altLang="zh-CN" dirty="0"/>
              <a:t>Ed</a:t>
            </a:r>
            <a:r>
              <a:rPr lang="zh-CN" altLang="en-US" dirty="0"/>
              <a:t> </a:t>
            </a:r>
            <a:r>
              <a:rPr lang="en-US" dirty="0"/>
              <a:t>to find group members</a:t>
            </a:r>
          </a:p>
          <a:p>
            <a:pPr lvl="1"/>
            <a:r>
              <a:rPr lang="en-US" dirty="0"/>
              <a:t>With the current class size, group size should be </a:t>
            </a:r>
            <a:r>
              <a:rPr lang="en-US" altLang="zh-CN" dirty="0"/>
              <a:t>5</a:t>
            </a:r>
            <a:endParaRPr lang="en-US" dirty="0"/>
          </a:p>
        </p:txBody>
      </p:sp>
      <p:sp>
        <p:nvSpPr>
          <p:cNvPr id="6" name="Slide Number Placeholder 5"/>
          <p:cNvSpPr>
            <a:spLocks noGrp="1"/>
          </p:cNvSpPr>
          <p:nvPr>
            <p:ph type="sldNum" sz="quarter" idx="12"/>
          </p:nvPr>
        </p:nvSpPr>
        <p:spPr/>
        <p:txBody>
          <a:bodyPr/>
          <a:lstStyle/>
          <a:p>
            <a:fld id="{4EEF9975-6C58-5C4C-8961-54FFA2646BAA}" type="slidenum">
              <a:rPr lang="en-US" smtClean="0"/>
              <a:t>11</a:t>
            </a:fld>
            <a:endParaRPr lang="en-US"/>
          </a:p>
        </p:txBody>
      </p:sp>
    </p:spTree>
    <p:extLst>
      <p:ext uri="{BB962C8B-B14F-4D97-AF65-F5344CB8AC3E}">
        <p14:creationId xmlns:p14="http://schemas.microsoft.com/office/powerpoint/2010/main" val="309008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Readings</a:t>
            </a:r>
          </a:p>
        </p:txBody>
      </p:sp>
      <p:sp>
        <p:nvSpPr>
          <p:cNvPr id="3" name="Content Placeholder 2"/>
          <p:cNvSpPr>
            <a:spLocks noGrp="1"/>
          </p:cNvSpPr>
          <p:nvPr>
            <p:ph idx="1"/>
          </p:nvPr>
        </p:nvSpPr>
        <p:spPr/>
        <p:txBody>
          <a:bodyPr/>
          <a:lstStyle/>
          <a:p>
            <a:r>
              <a:rPr lang="en-US" dirty="0"/>
              <a:t>~40 papers/articles across</a:t>
            </a:r>
          </a:p>
          <a:p>
            <a:pPr lvl="1"/>
            <a:r>
              <a:rPr lang="en-US" dirty="0"/>
              <a:t>Primarily from systems venues like SOSP, OSDI, NSDI, </a:t>
            </a:r>
            <a:r>
              <a:rPr lang="en-US" altLang="zh-CN" dirty="0"/>
              <a:t>SIGCOMM,</a:t>
            </a:r>
            <a:r>
              <a:rPr lang="zh-CN" altLang="en-US" dirty="0"/>
              <a:t> </a:t>
            </a:r>
            <a:r>
              <a:rPr lang="en-US" dirty="0"/>
              <a:t>ASPLOS, </a:t>
            </a:r>
            <a:r>
              <a:rPr lang="en-US" altLang="zh-CN" dirty="0"/>
              <a:t>ATC</a:t>
            </a:r>
            <a:r>
              <a:rPr lang="en-US" dirty="0"/>
              <a:t>,</a:t>
            </a:r>
            <a:r>
              <a:rPr lang="zh-CN" altLang="en-US" dirty="0"/>
              <a:t> </a:t>
            </a:r>
            <a:r>
              <a:rPr lang="en-US" altLang="zh-CN" dirty="0" err="1"/>
              <a:t>EuroSys</a:t>
            </a:r>
            <a:r>
              <a:rPr lang="en-US" altLang="zh-CN" dirty="0"/>
              <a:t>,</a:t>
            </a:r>
            <a:r>
              <a:rPr lang="zh-CN" altLang="en-US" dirty="0"/>
              <a:t> </a:t>
            </a:r>
            <a:r>
              <a:rPr lang="en-US" altLang="zh-CN" dirty="0" err="1"/>
              <a:t>MLSys</a:t>
            </a:r>
            <a:r>
              <a:rPr lang="en-US" altLang="zh-CN" dirty="0"/>
              <a:t>,</a:t>
            </a:r>
            <a:r>
              <a:rPr lang="en-US" dirty="0"/>
              <a:t> etc.</a:t>
            </a:r>
          </a:p>
          <a:p>
            <a:pPr lvl="1"/>
            <a:r>
              <a:rPr lang="en-US" dirty="0"/>
              <a:t>A couple from traditional AI/ML venues but still with systems-y flavor</a:t>
            </a:r>
          </a:p>
        </p:txBody>
      </p:sp>
      <p:sp>
        <p:nvSpPr>
          <p:cNvPr id="5" name="Slide Number Placeholder 4"/>
          <p:cNvSpPr>
            <a:spLocks noGrp="1"/>
          </p:cNvSpPr>
          <p:nvPr>
            <p:ph type="sldNum" sz="quarter" idx="12"/>
          </p:nvPr>
        </p:nvSpPr>
        <p:spPr/>
        <p:txBody>
          <a:bodyPr/>
          <a:lstStyle/>
          <a:p>
            <a:fld id="{4EEF9975-6C58-5C4C-8961-54FFA2646BAA}" type="slidenum">
              <a:rPr lang="en-US" smtClean="0"/>
              <a:t>12</a:t>
            </a:fld>
            <a:endParaRPr lang="en-US"/>
          </a:p>
        </p:txBody>
      </p:sp>
    </p:spTree>
    <p:extLst>
      <p:ext uri="{BB962C8B-B14F-4D97-AF65-F5344CB8AC3E}">
        <p14:creationId xmlns:p14="http://schemas.microsoft.com/office/powerpoint/2010/main" val="1935758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p:txBody>
          <a:bodyPr>
            <a:normAutofit/>
          </a:bodyPr>
          <a:lstStyle/>
          <a:p>
            <a:r>
              <a:rPr lang="en-US" dirty="0"/>
              <a:t>This is a seminar-style course</a:t>
            </a:r>
          </a:p>
          <a:p>
            <a:pPr lvl="1"/>
            <a:r>
              <a:rPr lang="en-US" dirty="0"/>
              <a:t>Each group must present at least one lecture (required papers and the rest)</a:t>
            </a:r>
          </a:p>
          <a:p>
            <a:pPr lvl="1"/>
            <a:r>
              <a:rPr lang="en-US" dirty="0"/>
              <a:t>Paper presentation account for </a:t>
            </a:r>
            <a:r>
              <a:rPr lang="en-US" dirty="0">
                <a:latin typeface="Gill Sans" charset="0"/>
                <a:cs typeface="Gill Sans" charset="0"/>
              </a:rPr>
              <a:t>20</a:t>
            </a:r>
            <a:r>
              <a:rPr lang="en-US" dirty="0">
                <a:latin typeface="Gill Sans" charset="0"/>
                <a:ea typeface="Gill Sans" charset="0"/>
                <a:cs typeface="Gill Sans" charset="0"/>
              </a:rPr>
              <a:t>%</a:t>
            </a:r>
            <a:r>
              <a:rPr lang="en-US" dirty="0"/>
              <a:t> of the total grade</a:t>
            </a:r>
          </a:p>
          <a:p>
            <a:r>
              <a:rPr lang="en-US" dirty="0"/>
              <a:t>The entire class will be dedicated to the assigned paper(s)</a:t>
            </a:r>
          </a:p>
          <a:p>
            <a:pPr lvl="1"/>
            <a:r>
              <a:rPr lang="en-US" dirty="0"/>
              <a:t>Aim for </a:t>
            </a:r>
            <a:r>
              <a:rPr lang="en-US" altLang="zh-CN" dirty="0"/>
              <a:t>40</a:t>
            </a:r>
            <a:r>
              <a:rPr lang="en-US" dirty="0"/>
              <a:t>-minute presentation </a:t>
            </a:r>
            <a:r>
              <a:rPr lang="en-US" altLang="zh-CN" dirty="0"/>
              <a:t>per</a:t>
            </a:r>
            <a:r>
              <a:rPr lang="zh-CN" altLang="en-US" dirty="0"/>
              <a:t> </a:t>
            </a:r>
            <a:r>
              <a:rPr lang="en-US" altLang="zh-CN" dirty="0"/>
              <a:t>paper</a:t>
            </a:r>
            <a:r>
              <a:rPr lang="zh-CN" altLang="en-US" dirty="0"/>
              <a:t> </a:t>
            </a:r>
            <a:r>
              <a:rPr lang="en-US" dirty="0"/>
              <a:t>without interruption</a:t>
            </a:r>
          </a:p>
          <a:p>
            <a:pPr lvl="1"/>
            <a:r>
              <a:rPr lang="en-US" dirty="0"/>
              <a:t>But there will be intermittent discussions</a:t>
            </a:r>
          </a:p>
          <a:p>
            <a:r>
              <a:rPr lang="en-US" dirty="0"/>
              <a:t>Lead the discussion</a:t>
            </a:r>
          </a:p>
          <a:p>
            <a:pPr lvl="1"/>
            <a:r>
              <a:rPr lang="en-US" dirty="0"/>
              <a:t>Go through the paper in details, along with its strengths and weaknesses</a:t>
            </a:r>
          </a:p>
          <a:p>
            <a:pPr lvl="1"/>
            <a:r>
              <a:rPr lang="en-US" dirty="0"/>
              <a:t>Include companion papers and other related papers</a:t>
            </a:r>
          </a:p>
        </p:txBody>
      </p:sp>
      <p:sp>
        <p:nvSpPr>
          <p:cNvPr id="5" name="Slide Number Placeholder 4"/>
          <p:cNvSpPr>
            <a:spLocks noGrp="1"/>
          </p:cNvSpPr>
          <p:nvPr>
            <p:ph type="sldNum" sz="quarter" idx="12"/>
          </p:nvPr>
        </p:nvSpPr>
        <p:spPr/>
        <p:txBody>
          <a:bodyPr/>
          <a:lstStyle/>
          <a:p>
            <a:fld id="{4EEF9975-6C58-5C4C-8961-54FFA2646BAA}" type="slidenum">
              <a:rPr lang="en-US" smtClean="0"/>
              <a:t>13</a:t>
            </a:fld>
            <a:endParaRPr lang="en-US"/>
          </a:p>
        </p:txBody>
      </p:sp>
    </p:spTree>
    <p:extLst>
      <p:ext uri="{BB962C8B-B14F-4D97-AF65-F5344CB8AC3E}">
        <p14:creationId xmlns:p14="http://schemas.microsoft.com/office/powerpoint/2010/main" val="1730461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p:txBody>
          <a:bodyPr/>
          <a:lstStyle/>
          <a:p>
            <a:r>
              <a:rPr lang="en-US" dirty="0"/>
              <a:t>Share your slides </a:t>
            </a:r>
            <a:r>
              <a:rPr lang="en-US" altLang="zh-CN" dirty="0"/>
              <a:t>to</a:t>
            </a:r>
            <a:r>
              <a:rPr lang="zh-CN" altLang="en-US" dirty="0"/>
              <a:t> </a:t>
            </a:r>
            <a:r>
              <a:rPr lang="en-US" altLang="zh-CN" dirty="0"/>
              <a:t>us</a:t>
            </a:r>
            <a:r>
              <a:rPr lang="zh-CN" altLang="en-US" dirty="0"/>
              <a:t> </a:t>
            </a:r>
            <a:r>
              <a:rPr lang="en-US" dirty="0"/>
              <a:t>24 hours before the class</a:t>
            </a:r>
          </a:p>
          <a:p>
            <a:pPr lvl="1"/>
            <a:r>
              <a:rPr lang="en-US" dirty="0"/>
              <a:t>Use Google Slides so we can provide in-place comments/feedback</a:t>
            </a:r>
          </a:p>
          <a:p>
            <a:r>
              <a:rPr lang="en-US" dirty="0"/>
              <a:t>Prepare early</a:t>
            </a:r>
          </a:p>
          <a:p>
            <a:r>
              <a:rPr lang="en-US" dirty="0"/>
              <a:t>Practice</a:t>
            </a:r>
            <a:r>
              <a:rPr lang="en-US" altLang="zh-CN" dirty="0"/>
              <a:t>,</a:t>
            </a:r>
            <a:r>
              <a:rPr lang="zh-CN" altLang="en-US" dirty="0"/>
              <a:t> </a:t>
            </a:r>
            <a:r>
              <a:rPr lang="en-US" altLang="zh-CN" dirty="0"/>
              <a:t>practice,</a:t>
            </a:r>
            <a:r>
              <a:rPr lang="zh-CN" altLang="en-US" dirty="0"/>
              <a:t> </a:t>
            </a:r>
            <a:r>
              <a:rPr lang="en-US" altLang="zh-CN" dirty="0"/>
              <a:t>practice</a:t>
            </a:r>
          </a:p>
          <a:p>
            <a:r>
              <a:rPr lang="en-US" altLang="zh-CN" dirty="0"/>
              <a:t>Do</a:t>
            </a:r>
            <a:r>
              <a:rPr lang="zh-CN" altLang="en-US" dirty="0"/>
              <a:t> </a:t>
            </a:r>
            <a:r>
              <a:rPr lang="en-US" altLang="zh-CN" dirty="0"/>
              <a:t>NOT</a:t>
            </a:r>
            <a:r>
              <a:rPr lang="zh-CN" altLang="en-US" dirty="0"/>
              <a:t> </a:t>
            </a:r>
            <a:r>
              <a:rPr lang="en-US" altLang="zh-CN" dirty="0"/>
              <a:t>read</a:t>
            </a:r>
            <a:r>
              <a:rPr lang="zh-CN" altLang="en-US" dirty="0"/>
              <a:t> </a:t>
            </a:r>
            <a:r>
              <a:rPr lang="en-US" altLang="zh-CN" dirty="0"/>
              <a:t>the</a:t>
            </a:r>
            <a:r>
              <a:rPr lang="zh-CN" altLang="en-US" dirty="0"/>
              <a:t> </a:t>
            </a:r>
            <a:r>
              <a:rPr lang="en-US" altLang="zh-CN" dirty="0"/>
              <a:t>scripts!</a:t>
            </a:r>
          </a:p>
          <a:p>
            <a:pPr lvl="1"/>
            <a:r>
              <a:rPr lang="en-US" altLang="zh-CN" dirty="0"/>
              <a:t>Marks</a:t>
            </a:r>
            <a:r>
              <a:rPr lang="zh-CN" altLang="en-US" dirty="0"/>
              <a:t> </a:t>
            </a:r>
            <a:r>
              <a:rPr lang="en-US" altLang="zh-CN" dirty="0"/>
              <a:t>are</a:t>
            </a:r>
            <a:r>
              <a:rPr lang="zh-CN" altLang="en-US" dirty="0"/>
              <a:t> </a:t>
            </a:r>
            <a:r>
              <a:rPr lang="en-US" altLang="zh-CN" dirty="0"/>
              <a:t>deducted</a:t>
            </a:r>
            <a:r>
              <a:rPr lang="zh-CN" altLang="en-US" dirty="0"/>
              <a:t> </a:t>
            </a:r>
            <a:r>
              <a:rPr lang="en-US" altLang="zh-CN" dirty="0"/>
              <a:t>when</a:t>
            </a:r>
            <a:r>
              <a:rPr lang="zh-CN" altLang="en-US" dirty="0"/>
              <a:t> </a:t>
            </a:r>
            <a:r>
              <a:rPr lang="en-US" altLang="zh-CN" dirty="0"/>
              <a:t>you</a:t>
            </a:r>
            <a:r>
              <a:rPr lang="zh-CN" altLang="en-US" dirty="0"/>
              <a:t> </a:t>
            </a:r>
            <a:r>
              <a:rPr lang="en-US" altLang="zh-CN" dirty="0"/>
              <a:t>do</a:t>
            </a:r>
            <a:r>
              <a:rPr lang="zh-CN" altLang="en-US" dirty="0"/>
              <a:t> </a:t>
            </a:r>
            <a:r>
              <a:rPr lang="en-US" altLang="zh-CN" dirty="0"/>
              <a:t>this</a:t>
            </a:r>
            <a:endParaRPr lang="en-US" dirty="0"/>
          </a:p>
          <a:p>
            <a:r>
              <a:rPr lang="en-US" dirty="0"/>
              <a:t>Also, read</a:t>
            </a:r>
          </a:p>
          <a:p>
            <a:pPr lvl="1"/>
            <a:r>
              <a:rPr lang="en-US" dirty="0">
                <a:hlinkClick r:id="rId2"/>
              </a:rPr>
              <a:t>How to Give a Bad Talk</a:t>
            </a:r>
            <a:r>
              <a:rPr lang="en-US" dirty="0"/>
              <a:t>, by David A. Patterson </a:t>
            </a:r>
          </a:p>
          <a:p>
            <a:pPr lvl="1"/>
            <a:endParaRPr lang="en-US" dirty="0"/>
          </a:p>
        </p:txBody>
      </p:sp>
      <p:sp>
        <p:nvSpPr>
          <p:cNvPr id="5" name="Slide Number Placeholder 4"/>
          <p:cNvSpPr>
            <a:spLocks noGrp="1"/>
          </p:cNvSpPr>
          <p:nvPr>
            <p:ph type="sldNum" sz="quarter" idx="12"/>
          </p:nvPr>
        </p:nvSpPr>
        <p:spPr/>
        <p:txBody>
          <a:bodyPr/>
          <a:lstStyle/>
          <a:p>
            <a:fld id="{4EEF9975-6C58-5C4C-8961-54FFA2646BAA}" type="slidenum">
              <a:rPr lang="en-US" smtClean="0"/>
              <a:t>14</a:t>
            </a:fld>
            <a:endParaRPr lang="en-US"/>
          </a:p>
        </p:txBody>
      </p:sp>
    </p:spTree>
    <p:extLst>
      <p:ext uri="{BB962C8B-B14F-4D97-AF65-F5344CB8AC3E}">
        <p14:creationId xmlns:p14="http://schemas.microsoft.com/office/powerpoint/2010/main" val="922069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Summaries</a:t>
            </a:r>
          </a:p>
        </p:txBody>
      </p:sp>
      <p:sp>
        <p:nvSpPr>
          <p:cNvPr id="3" name="Content Placeholder 2"/>
          <p:cNvSpPr>
            <a:spLocks noGrp="1"/>
          </p:cNvSpPr>
          <p:nvPr>
            <p:ph idx="1"/>
          </p:nvPr>
        </p:nvSpPr>
        <p:spPr/>
        <p:txBody>
          <a:bodyPr>
            <a:normAutofit lnSpcReduction="10000"/>
          </a:bodyPr>
          <a:lstStyle/>
          <a:p>
            <a:r>
              <a:rPr lang="en-US" dirty="0"/>
              <a:t>This is a paper-reading course</a:t>
            </a:r>
          </a:p>
          <a:p>
            <a:pPr lvl="1"/>
            <a:r>
              <a:rPr lang="en-US" dirty="0"/>
              <a:t>Paper summaries account for </a:t>
            </a:r>
            <a:r>
              <a:rPr lang="en-US" dirty="0">
                <a:latin typeface="Gill Sans" charset="0"/>
                <a:cs typeface="Gill Sans" charset="0"/>
              </a:rPr>
              <a:t>10</a:t>
            </a:r>
            <a:r>
              <a:rPr lang="en-US" dirty="0">
                <a:latin typeface="Gill Sans" charset="0"/>
                <a:ea typeface="Gill Sans" charset="0"/>
                <a:cs typeface="Gill Sans" charset="0"/>
              </a:rPr>
              <a:t>%</a:t>
            </a:r>
            <a:r>
              <a:rPr lang="en-US" dirty="0"/>
              <a:t> of the total grade</a:t>
            </a:r>
          </a:p>
          <a:p>
            <a:r>
              <a:rPr lang="en-US" dirty="0"/>
              <a:t>Roughly 1-2 summary per-group (assigned)</a:t>
            </a:r>
          </a:p>
          <a:p>
            <a:r>
              <a:rPr lang="en-US" dirty="0"/>
              <a:t>Each summary must follow the template and address the following</a:t>
            </a:r>
          </a:p>
          <a:p>
            <a:pPr lvl="1"/>
            <a:r>
              <a:rPr lang="en-US" dirty="0"/>
              <a:t>What is the problem and why is it important?</a:t>
            </a:r>
          </a:p>
          <a:p>
            <a:pPr lvl="1"/>
            <a:r>
              <a:rPr lang="en-US" dirty="0"/>
              <a:t>What is the hypothesis of the work?</a:t>
            </a:r>
          </a:p>
          <a:p>
            <a:pPr lvl="1"/>
            <a:r>
              <a:rPr lang="en-US" dirty="0"/>
              <a:t>What is the proposed solution, and what key insight guides their solution?</a:t>
            </a:r>
          </a:p>
          <a:p>
            <a:pPr lvl="1"/>
            <a:r>
              <a:rPr lang="en-US" dirty="0"/>
              <a:t>What is one (or more) drawback or limitation of the proposal, and how will you improve it?</a:t>
            </a:r>
          </a:p>
          <a:p>
            <a:r>
              <a:rPr lang="en-US" dirty="0"/>
              <a:t>Summary must include the gist of class discussion</a:t>
            </a:r>
          </a:p>
        </p:txBody>
      </p:sp>
      <p:sp>
        <p:nvSpPr>
          <p:cNvPr id="5" name="Slide Number Placeholder 4"/>
          <p:cNvSpPr>
            <a:spLocks noGrp="1"/>
          </p:cNvSpPr>
          <p:nvPr>
            <p:ph type="sldNum" sz="quarter" idx="12"/>
          </p:nvPr>
        </p:nvSpPr>
        <p:spPr/>
        <p:txBody>
          <a:bodyPr/>
          <a:lstStyle/>
          <a:p>
            <a:fld id="{4EEF9975-6C58-5C4C-8961-54FFA2646BAA}" type="slidenum">
              <a:rPr lang="en-US" smtClean="0"/>
              <a:t>15</a:t>
            </a:fld>
            <a:endParaRPr lang="en-US"/>
          </a:p>
        </p:txBody>
      </p:sp>
    </p:spTree>
    <p:extLst>
      <p:ext uri="{BB962C8B-B14F-4D97-AF65-F5344CB8AC3E}">
        <p14:creationId xmlns:p14="http://schemas.microsoft.com/office/powerpoint/2010/main" val="1245640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Summaries</a:t>
            </a:r>
          </a:p>
        </p:txBody>
      </p:sp>
      <p:sp>
        <p:nvSpPr>
          <p:cNvPr id="3" name="Content Placeholder 2"/>
          <p:cNvSpPr>
            <a:spLocks noGrp="1"/>
          </p:cNvSpPr>
          <p:nvPr>
            <p:ph idx="1"/>
          </p:nvPr>
        </p:nvSpPr>
        <p:spPr/>
        <p:txBody>
          <a:bodyPr>
            <a:normAutofit/>
          </a:bodyPr>
          <a:lstStyle/>
          <a:p>
            <a:r>
              <a:rPr lang="en-US" altLang="zh-CN" dirty="0"/>
              <a:t>Summaries</a:t>
            </a:r>
            <a:r>
              <a:rPr lang="en-US" dirty="0"/>
              <a:t> must be shared to</a:t>
            </a:r>
            <a:r>
              <a:rPr lang="zh-CN" altLang="en-US" dirty="0"/>
              <a:t> </a:t>
            </a:r>
            <a:r>
              <a:rPr lang="en-US" altLang="zh-CN" dirty="0"/>
              <a:t>us</a:t>
            </a:r>
            <a:r>
              <a:rPr lang="en-US" dirty="0"/>
              <a:t> within 24 hours </a:t>
            </a:r>
            <a:r>
              <a:rPr lang="en-US" altLang="zh-CN" dirty="0"/>
              <a:t>after</a:t>
            </a:r>
            <a:r>
              <a:rPr lang="en-US" dirty="0"/>
              <a:t> class presentation</a:t>
            </a:r>
          </a:p>
          <a:p>
            <a:pPr lvl="1"/>
            <a:r>
              <a:rPr lang="en-US" dirty="0"/>
              <a:t>Use Google docs so we can provide in-place comments/feedback</a:t>
            </a:r>
          </a:p>
          <a:p>
            <a:r>
              <a:rPr lang="en-US" dirty="0"/>
              <a:t>Delayed submission will receive NO </a:t>
            </a:r>
            <a:r>
              <a:rPr lang="en-US" altLang="zh-CN" dirty="0"/>
              <a:t>marks</a:t>
            </a:r>
            <a:endParaRPr lang="en-US" dirty="0"/>
          </a:p>
          <a:p>
            <a:pPr lvl="1"/>
            <a:r>
              <a:rPr lang="en-US" dirty="0"/>
              <a:t>There will be NO extensions</a:t>
            </a:r>
          </a:p>
        </p:txBody>
      </p:sp>
      <p:sp>
        <p:nvSpPr>
          <p:cNvPr id="5" name="Slide Number Placeholder 4"/>
          <p:cNvSpPr>
            <a:spLocks noGrp="1"/>
          </p:cNvSpPr>
          <p:nvPr>
            <p:ph type="sldNum" sz="quarter" idx="12"/>
          </p:nvPr>
        </p:nvSpPr>
        <p:spPr/>
        <p:txBody>
          <a:bodyPr/>
          <a:lstStyle/>
          <a:p>
            <a:fld id="{4EEF9975-6C58-5C4C-8961-54FFA2646BAA}" type="slidenum">
              <a:rPr lang="en-US" smtClean="0"/>
              <a:t>16</a:t>
            </a:fld>
            <a:endParaRPr lang="en-US"/>
          </a:p>
        </p:txBody>
      </p:sp>
    </p:spTree>
    <p:extLst>
      <p:ext uri="{BB962C8B-B14F-4D97-AF65-F5344CB8AC3E}">
        <p14:creationId xmlns:p14="http://schemas.microsoft.com/office/powerpoint/2010/main" val="1257922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Panel Discussion</a:t>
            </a:r>
          </a:p>
        </p:txBody>
      </p:sp>
      <p:sp>
        <p:nvSpPr>
          <p:cNvPr id="3" name="Content Placeholder 2"/>
          <p:cNvSpPr>
            <a:spLocks noGrp="1"/>
          </p:cNvSpPr>
          <p:nvPr>
            <p:ph idx="1"/>
          </p:nvPr>
        </p:nvSpPr>
        <p:spPr/>
        <p:txBody>
          <a:bodyPr>
            <a:normAutofit lnSpcReduction="10000"/>
          </a:bodyPr>
          <a:lstStyle/>
          <a:p>
            <a:r>
              <a:rPr lang="en-US" dirty="0"/>
              <a:t>The Authors</a:t>
            </a:r>
          </a:p>
          <a:p>
            <a:pPr lvl="1"/>
            <a:r>
              <a:rPr lang="en-US" dirty="0"/>
              <a:t>Groups that present and write summary</a:t>
            </a:r>
          </a:p>
          <a:p>
            <a:r>
              <a:rPr lang="en-US" dirty="0"/>
              <a:t>The Reviewers</a:t>
            </a:r>
          </a:p>
          <a:p>
            <a:pPr lvl="1"/>
            <a:r>
              <a:rPr lang="en-US" dirty="0"/>
              <a:t>Each group will be assigned to at least one of these slots</a:t>
            </a:r>
          </a:p>
          <a:p>
            <a:pPr lvl="1"/>
            <a:r>
              <a:rPr lang="en-US" dirty="0"/>
              <a:t>Will have their own questions to ask to the authors</a:t>
            </a:r>
          </a:p>
          <a:p>
            <a:pPr lvl="1"/>
            <a:r>
              <a:rPr lang="en-US" dirty="0"/>
              <a:t>Will receive questions raised by the class (described below) from the GSI before the lecture</a:t>
            </a:r>
          </a:p>
          <a:p>
            <a:r>
              <a:rPr lang="en-US" dirty="0"/>
              <a:t>Rest of the Class</a:t>
            </a:r>
          </a:p>
          <a:p>
            <a:pPr lvl="1"/>
            <a:r>
              <a:rPr lang="en-US" dirty="0">
                <a:latin typeface="Aptos" panose="020B0004020202020204" pitchFamily="34" charset="0"/>
                <a:cs typeface="Gill Sans Light" panose="020B0302020104020203" pitchFamily="34" charset="-79"/>
              </a:rPr>
              <a:t>S</a:t>
            </a:r>
            <a:r>
              <a:rPr lang="en-US" dirty="0">
                <a:effectLst/>
                <a:latin typeface="Aptos" panose="020B0004020202020204" pitchFamily="34" charset="0"/>
                <a:cs typeface="Gill Sans Light" panose="020B0302020104020203" pitchFamily="34" charset="-79"/>
              </a:rPr>
              <a:t>ubmit</a:t>
            </a:r>
            <a:r>
              <a:rPr lang="en-US" dirty="0">
                <a:solidFill>
                  <a:srgbClr val="1F2328"/>
                </a:solidFill>
                <a:effectLst/>
                <a:latin typeface="Aptos" panose="020B0004020202020204" pitchFamily="34" charset="0"/>
                <a:cs typeface="Gill Sans Light" panose="020B0302020104020203" pitchFamily="34" charset="-79"/>
              </a:rPr>
              <a:t> one insightful question for each presented papers by 5PM the day before</a:t>
            </a:r>
          </a:p>
          <a:p>
            <a:pPr lvl="1"/>
            <a:r>
              <a:rPr lang="en-US" dirty="0">
                <a:solidFill>
                  <a:srgbClr val="1F2328"/>
                </a:solidFill>
                <a:latin typeface="Aptos" panose="020B0004020202020204" pitchFamily="34" charset="0"/>
                <a:cs typeface="Gill Sans Light" panose="020B0302020104020203" pitchFamily="34" charset="-79"/>
              </a:rPr>
              <a:t>Ask questions directly too</a:t>
            </a:r>
          </a:p>
        </p:txBody>
      </p:sp>
      <p:sp>
        <p:nvSpPr>
          <p:cNvPr id="5" name="Slide Number Placeholder 4"/>
          <p:cNvSpPr>
            <a:spLocks noGrp="1"/>
          </p:cNvSpPr>
          <p:nvPr>
            <p:ph type="sldNum" sz="quarter" idx="12"/>
          </p:nvPr>
        </p:nvSpPr>
        <p:spPr/>
        <p:txBody>
          <a:bodyPr/>
          <a:lstStyle/>
          <a:p>
            <a:fld id="{4EEF9975-6C58-5C4C-8961-54FFA2646BAA}" type="slidenum">
              <a:rPr lang="en-US" smtClean="0"/>
              <a:t>17</a:t>
            </a:fld>
            <a:endParaRPr lang="en-US"/>
          </a:p>
        </p:txBody>
      </p:sp>
    </p:spTree>
    <p:extLst>
      <p:ext uri="{BB962C8B-B14F-4D97-AF65-F5344CB8AC3E}">
        <p14:creationId xmlns:p14="http://schemas.microsoft.com/office/powerpoint/2010/main" val="397296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general,</a:t>
            </a:r>
          </a:p>
        </p:txBody>
      </p:sp>
      <p:sp>
        <p:nvSpPr>
          <p:cNvPr id="3" name="Content Placeholder 2"/>
          <p:cNvSpPr>
            <a:spLocks noGrp="1"/>
          </p:cNvSpPr>
          <p:nvPr>
            <p:ph idx="1"/>
          </p:nvPr>
        </p:nvSpPr>
        <p:spPr/>
        <p:txBody>
          <a:bodyPr/>
          <a:lstStyle/>
          <a:p>
            <a:r>
              <a:rPr lang="en-US" altLang="zh-CN" dirty="0"/>
              <a:t>Late</a:t>
            </a:r>
            <a:r>
              <a:rPr lang="zh-CN" altLang="en-US" dirty="0"/>
              <a:t> </a:t>
            </a:r>
            <a:r>
              <a:rPr lang="en-US" altLang="zh-CN" dirty="0"/>
              <a:t>submissions</a:t>
            </a:r>
            <a:r>
              <a:rPr lang="zh-CN" altLang="en-US" dirty="0"/>
              <a:t> </a:t>
            </a:r>
            <a:r>
              <a:rPr lang="en-US" altLang="zh-CN" dirty="0"/>
              <a:t>receive</a:t>
            </a:r>
            <a:r>
              <a:rPr lang="zh-CN" altLang="en-US" dirty="0"/>
              <a:t> </a:t>
            </a:r>
            <a:r>
              <a:rPr lang="en-US" altLang="zh-CN" dirty="0"/>
              <a:t>0</a:t>
            </a:r>
            <a:r>
              <a:rPr lang="zh-CN" altLang="en-US" dirty="0"/>
              <a:t> </a:t>
            </a:r>
            <a:r>
              <a:rPr lang="en-US" altLang="zh-CN" dirty="0"/>
              <a:t>marks</a:t>
            </a:r>
            <a:endParaRPr lang="en-US" dirty="0"/>
          </a:p>
          <a:p>
            <a:r>
              <a:rPr lang="en-US" dirty="0"/>
              <a:t>No extensions</a:t>
            </a:r>
          </a:p>
          <a:p>
            <a:r>
              <a:rPr lang="en-US" dirty="0"/>
              <a:t>Everyone must come to class </a:t>
            </a:r>
            <a:r>
              <a:rPr lang="en-US" dirty="0">
                <a:latin typeface="Gill Sans" charset="0"/>
                <a:ea typeface="Gill Sans" charset="0"/>
                <a:cs typeface="Gill Sans" charset="0"/>
              </a:rPr>
              <a:t>after</a:t>
            </a:r>
            <a:r>
              <a:rPr lang="en-US" dirty="0"/>
              <a:t> reading the </a:t>
            </a:r>
            <a:r>
              <a:rPr lang="en-US" dirty="0">
                <a:solidFill>
                  <a:srgbClr val="FF0000"/>
                </a:solidFill>
              </a:rPr>
              <a:t>required</a:t>
            </a:r>
            <a:r>
              <a:rPr lang="en-US" dirty="0"/>
              <a:t> papers of the day</a:t>
            </a:r>
          </a:p>
        </p:txBody>
      </p:sp>
      <p:sp>
        <p:nvSpPr>
          <p:cNvPr id="6" name="Slide Number Placeholder 5"/>
          <p:cNvSpPr>
            <a:spLocks noGrp="1"/>
          </p:cNvSpPr>
          <p:nvPr>
            <p:ph type="sldNum" sz="quarter" idx="12"/>
          </p:nvPr>
        </p:nvSpPr>
        <p:spPr/>
        <p:txBody>
          <a:bodyPr/>
          <a:lstStyle/>
          <a:p>
            <a:fld id="{4EEF9975-6C58-5C4C-8961-54FFA2646BAA}" type="slidenum">
              <a:rPr lang="en-US" smtClean="0"/>
              <a:t>18</a:t>
            </a:fld>
            <a:endParaRPr lang="en-US"/>
          </a:p>
        </p:txBody>
      </p:sp>
    </p:spTree>
    <p:extLst>
      <p:ext uri="{BB962C8B-B14F-4D97-AF65-F5344CB8AC3E}">
        <p14:creationId xmlns:p14="http://schemas.microsoft.com/office/powerpoint/2010/main" val="3172724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18B563-CC0A-7C34-417D-1881A13DA938}"/>
              </a:ext>
            </a:extLst>
          </p:cNvPr>
          <p:cNvSpPr>
            <a:spLocks noGrp="1"/>
          </p:cNvSpPr>
          <p:nvPr>
            <p:ph type="title"/>
          </p:nvPr>
        </p:nvSpPr>
        <p:spPr/>
        <p:txBody>
          <a:bodyPr/>
          <a:lstStyle/>
          <a:p>
            <a:r>
              <a:rPr lang="en-US" dirty="0"/>
              <a:t>Projects</a:t>
            </a:r>
          </a:p>
        </p:txBody>
      </p:sp>
      <p:sp>
        <p:nvSpPr>
          <p:cNvPr id="8" name="Text Placeholder 7">
            <a:extLst>
              <a:ext uri="{FF2B5EF4-FFF2-40B4-BE49-F238E27FC236}">
                <a16:creationId xmlns:a16="http://schemas.microsoft.com/office/drawing/2014/main" id="{0FCF59C3-68D6-C537-BDBB-DC5F32618F71}"/>
              </a:ext>
            </a:extLst>
          </p:cNvPr>
          <p:cNvSpPr>
            <a:spLocks noGrp="1"/>
          </p:cNvSpPr>
          <p:nvPr>
            <p:ph type="body" idx="1"/>
          </p:nvPr>
        </p:nvSpPr>
        <p:spPr/>
        <p:txBody>
          <a:bodyPr/>
          <a:lstStyle/>
          <a:p>
            <a:endParaRPr lang="en-US" dirty="0"/>
          </a:p>
        </p:txBody>
      </p:sp>
      <p:sp>
        <p:nvSpPr>
          <p:cNvPr id="6" name="Slide Number Placeholder 5">
            <a:extLst>
              <a:ext uri="{FF2B5EF4-FFF2-40B4-BE49-F238E27FC236}">
                <a16:creationId xmlns:a16="http://schemas.microsoft.com/office/drawing/2014/main" id="{597F9EDA-9D0A-29A0-883F-139B4304FA0C}"/>
              </a:ext>
            </a:extLst>
          </p:cNvPr>
          <p:cNvSpPr>
            <a:spLocks noGrp="1"/>
          </p:cNvSpPr>
          <p:nvPr>
            <p:ph type="sldNum" sz="quarter" idx="12"/>
          </p:nvPr>
        </p:nvSpPr>
        <p:spPr/>
        <p:txBody>
          <a:bodyPr/>
          <a:lstStyle/>
          <a:p>
            <a:fld id="{4EEF9975-6C58-5C4C-8961-54FFA2646BAA}" type="slidenum">
              <a:rPr lang="en-US" smtClean="0"/>
              <a:t>19</a:t>
            </a:fld>
            <a:endParaRPr lang="en-US"/>
          </a:p>
        </p:txBody>
      </p:sp>
    </p:spTree>
    <p:extLst>
      <p:ext uri="{BB962C8B-B14F-4D97-AF65-F5344CB8AC3E}">
        <p14:creationId xmlns:p14="http://schemas.microsoft.com/office/powerpoint/2010/main" val="3861300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Research-Oriented Course!</a:t>
            </a:r>
          </a:p>
        </p:txBody>
      </p:sp>
      <p:sp>
        <p:nvSpPr>
          <p:cNvPr id="3" name="Content Placeholder 2"/>
          <p:cNvSpPr>
            <a:spLocks noGrp="1"/>
          </p:cNvSpPr>
          <p:nvPr>
            <p:ph idx="1"/>
          </p:nvPr>
        </p:nvSpPr>
        <p:spPr/>
        <p:txBody>
          <a:bodyPr/>
          <a:lstStyle/>
          <a:p>
            <a:r>
              <a:rPr lang="en-US" dirty="0"/>
              <a:t>The project accounts for </a:t>
            </a:r>
            <a:r>
              <a:rPr lang="en-US" b="1" dirty="0">
                <a:solidFill>
                  <a:srgbClr val="FF0000"/>
                </a:solidFill>
                <a:latin typeface="Gill Sans" charset="0"/>
                <a:cs typeface="Gill Sans" charset="0"/>
              </a:rPr>
              <a:t>6</a:t>
            </a:r>
            <a:r>
              <a:rPr lang="en-US" b="1" dirty="0">
                <a:solidFill>
                  <a:srgbClr val="FF0000"/>
                </a:solidFill>
                <a:latin typeface="Gill Sans" charset="0"/>
                <a:ea typeface="Gill Sans" charset="0"/>
                <a:cs typeface="Gill Sans" charset="0"/>
              </a:rPr>
              <a:t>0%</a:t>
            </a:r>
            <a:r>
              <a:rPr lang="en-US" dirty="0"/>
              <a:t> of total grades</a:t>
            </a:r>
          </a:p>
          <a:p>
            <a:r>
              <a:rPr lang="en-US" dirty="0"/>
              <a:t>What can and cannot be a project?</a:t>
            </a:r>
          </a:p>
          <a:p>
            <a:pPr lvl="1"/>
            <a:r>
              <a:rPr lang="en-US" dirty="0"/>
              <a:t>Just surveys are not allowed</a:t>
            </a:r>
          </a:p>
          <a:p>
            <a:pPr lvl="1"/>
            <a:r>
              <a:rPr lang="en-US" dirty="0"/>
              <a:t>Measurements of new environments or of existing solutions on new environments are acceptable</a:t>
            </a:r>
          </a:p>
          <a:p>
            <a:pPr lvl="1"/>
            <a:r>
              <a:rPr lang="en-US" dirty="0"/>
              <a:t>Reproducing results from existing solutions is also acceptable</a:t>
            </a:r>
          </a:p>
          <a:p>
            <a:r>
              <a:rPr lang="en-US" dirty="0"/>
              <a:t>An ideal project should answer the questions you asked during paper reviews and points you cared about for presentations</a:t>
            </a:r>
          </a:p>
        </p:txBody>
      </p:sp>
      <p:sp>
        <p:nvSpPr>
          <p:cNvPr id="5" name="Slide Number Placeholder 4"/>
          <p:cNvSpPr>
            <a:spLocks noGrp="1"/>
          </p:cNvSpPr>
          <p:nvPr>
            <p:ph type="sldNum" sz="quarter" idx="12"/>
          </p:nvPr>
        </p:nvSpPr>
        <p:spPr/>
        <p:txBody>
          <a:bodyPr/>
          <a:lstStyle/>
          <a:p>
            <a:fld id="{4EEF9975-6C58-5C4C-8961-54FFA2646BAA}" type="slidenum">
              <a:rPr lang="en-US" smtClean="0"/>
              <a:t>20</a:t>
            </a:fld>
            <a:endParaRPr lang="en-US"/>
          </a:p>
        </p:txBody>
      </p:sp>
    </p:spTree>
    <p:extLst>
      <p:ext uri="{BB962C8B-B14F-4D97-AF65-F5344CB8AC3E}">
        <p14:creationId xmlns:p14="http://schemas.microsoft.com/office/powerpoint/2010/main" val="519425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Approach it?</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Find a problem and motivate why this is worth solving</a:t>
            </a:r>
          </a:p>
          <a:p>
            <a:pPr marL="514350" indent="-514350">
              <a:buFont typeface="+mj-lt"/>
              <a:buAutoNum type="arabicPeriod"/>
            </a:pPr>
            <a:r>
              <a:rPr lang="en-US" dirty="0"/>
              <a:t>Quickly survey background and related work</a:t>
            </a:r>
          </a:p>
          <a:p>
            <a:pPr lvl="1"/>
            <a:r>
              <a:rPr lang="en-US" dirty="0"/>
              <a:t>Might require you to go back to the first step</a:t>
            </a:r>
          </a:p>
          <a:p>
            <a:pPr marL="514350" indent="-514350">
              <a:buFont typeface="+mj-lt"/>
              <a:buAutoNum type="arabicPeriod"/>
            </a:pPr>
            <a:r>
              <a:rPr lang="en-US" dirty="0"/>
              <a:t>Form/update your hypothesis</a:t>
            </a:r>
          </a:p>
          <a:p>
            <a:pPr marL="514350" indent="-514350">
              <a:buFont typeface="+mj-lt"/>
              <a:buAutoNum type="arabicPeriod"/>
            </a:pPr>
            <a:r>
              <a:rPr lang="en-US" dirty="0"/>
              <a:t>Test your hypothesis</a:t>
            </a:r>
          </a:p>
          <a:p>
            <a:pPr lvl="1"/>
            <a:r>
              <a:rPr lang="en-US" dirty="0"/>
              <a:t>Go back to 3 until you are happy</a:t>
            </a:r>
          </a:p>
          <a:p>
            <a:pPr marL="514350" indent="-514350">
              <a:buFont typeface="+mj-lt"/>
              <a:buAutoNum type="arabicPeriod"/>
            </a:pPr>
            <a:r>
              <a:rPr lang="en-US" dirty="0"/>
              <a:t>Present your findings on poster and in writing</a:t>
            </a:r>
          </a:p>
          <a:p>
            <a:pPr lvl="1"/>
            <a:r>
              <a:rPr lang="en-US" dirty="0"/>
              <a:t>Discuss known limitations</a:t>
            </a:r>
          </a:p>
        </p:txBody>
      </p:sp>
      <p:sp>
        <p:nvSpPr>
          <p:cNvPr id="5" name="Slide Number Placeholder 4"/>
          <p:cNvSpPr>
            <a:spLocks noGrp="1"/>
          </p:cNvSpPr>
          <p:nvPr>
            <p:ph type="sldNum" sz="quarter" idx="12"/>
          </p:nvPr>
        </p:nvSpPr>
        <p:spPr/>
        <p:txBody>
          <a:bodyPr/>
          <a:lstStyle/>
          <a:p>
            <a:fld id="{4EEF9975-6C58-5C4C-8961-54FFA2646BAA}" type="slidenum">
              <a:rPr lang="en-US" smtClean="0"/>
              <a:t>21</a:t>
            </a:fld>
            <a:endParaRPr lang="en-US"/>
          </a:p>
        </p:txBody>
      </p:sp>
    </p:spTree>
    <p:extLst>
      <p:ext uri="{BB962C8B-B14F-4D97-AF65-F5344CB8AC3E}">
        <p14:creationId xmlns:p14="http://schemas.microsoft.com/office/powerpoint/2010/main" val="2328547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Milestones (subject to change)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345919379"/>
              </p:ext>
            </p:extLst>
          </p:nvPr>
        </p:nvGraphicFramePr>
        <p:xfrm>
          <a:off x="838200" y="1874679"/>
          <a:ext cx="10515600" cy="4206240"/>
        </p:xfrm>
        <a:graphic>
          <a:graphicData uri="http://schemas.openxmlformats.org/drawingml/2006/table">
            <a:tbl>
              <a:tblPr firstRow="1" bandRow="1">
                <a:tableStyleId>{9D7B26C5-4107-4FEC-AEDC-1716B250A1EF}</a:tableStyleId>
              </a:tblPr>
              <a:tblGrid>
                <a:gridCol w="1788042">
                  <a:extLst>
                    <a:ext uri="{9D8B030D-6E8A-4147-A177-3AD203B41FA5}">
                      <a16:colId xmlns:a16="http://schemas.microsoft.com/office/drawing/2014/main" val="20000"/>
                    </a:ext>
                  </a:extLst>
                </a:gridCol>
                <a:gridCol w="2496601">
                  <a:extLst>
                    <a:ext uri="{9D8B030D-6E8A-4147-A177-3AD203B41FA5}">
                      <a16:colId xmlns:a16="http://schemas.microsoft.com/office/drawing/2014/main" val="20001"/>
                    </a:ext>
                  </a:extLst>
                </a:gridCol>
                <a:gridCol w="6230957">
                  <a:extLst>
                    <a:ext uri="{9D8B030D-6E8A-4147-A177-3AD203B41FA5}">
                      <a16:colId xmlns:a16="http://schemas.microsoft.com/office/drawing/2014/main" val="20002"/>
                    </a:ext>
                  </a:extLst>
                </a:gridCol>
              </a:tblGrid>
              <a:tr h="370840">
                <a:tc>
                  <a:txBody>
                    <a:bodyPr/>
                    <a:lstStyle/>
                    <a:p>
                      <a:r>
                        <a:rPr lang="en-US" sz="2400" dirty="0">
                          <a:latin typeface="Gill Sans" charset="0"/>
                          <a:ea typeface="Gill Sans" charset="0"/>
                          <a:cs typeface="Gill Sans" charset="0"/>
                        </a:rPr>
                        <a:t>Date</a:t>
                      </a:r>
                    </a:p>
                  </a:txBody>
                  <a:tcPr/>
                </a:tc>
                <a:tc>
                  <a:txBody>
                    <a:bodyPr/>
                    <a:lstStyle/>
                    <a:p>
                      <a:r>
                        <a:rPr lang="en-US" sz="2400" dirty="0">
                          <a:latin typeface="Gill Sans" charset="0"/>
                          <a:ea typeface="Gill Sans" charset="0"/>
                          <a:cs typeface="Gill Sans" charset="0"/>
                        </a:rPr>
                        <a:t>Milestone</a:t>
                      </a:r>
                    </a:p>
                  </a:txBody>
                  <a:tcPr/>
                </a:tc>
                <a:tc>
                  <a:txBody>
                    <a:bodyPr/>
                    <a:lstStyle/>
                    <a:p>
                      <a:r>
                        <a:rPr lang="en-US" sz="2400" dirty="0">
                          <a:latin typeface="Gill Sans" charset="0"/>
                          <a:ea typeface="Gill Sans" charset="0"/>
                          <a:cs typeface="Gill Sans" charset="0"/>
                        </a:rPr>
                        <a:t>Details</a:t>
                      </a:r>
                    </a:p>
                  </a:txBody>
                  <a:tcPr/>
                </a:tc>
                <a:extLst>
                  <a:ext uri="{0D108BD9-81ED-4DB2-BD59-A6C34878D82A}">
                    <a16:rowId xmlns:a16="http://schemas.microsoft.com/office/drawing/2014/main" val="10000"/>
                  </a:ext>
                </a:extLst>
              </a:tr>
              <a:tr h="370840">
                <a:tc>
                  <a:txBody>
                    <a:bodyPr/>
                    <a:lstStyle/>
                    <a:p>
                      <a:r>
                        <a:rPr lang="en-US" sz="2400" dirty="0">
                          <a:latin typeface="Gill Sans" charset="0"/>
                          <a:ea typeface="Gill Sans" charset="0"/>
                          <a:cs typeface="Gill Sans" charset="0"/>
                        </a:rPr>
                        <a:t>09/14/26</a:t>
                      </a:r>
                    </a:p>
                  </a:txBody>
                  <a:tcPr anchor="ctr"/>
                </a:tc>
                <a:tc>
                  <a:txBody>
                    <a:bodyPr/>
                    <a:lstStyle/>
                    <a:p>
                      <a:r>
                        <a:rPr lang="en-US" sz="2400" dirty="0">
                          <a:latin typeface="Gill Sans" charset="0"/>
                          <a:ea typeface="Gill Sans" charset="0"/>
                          <a:cs typeface="Gill Sans" charset="0"/>
                        </a:rPr>
                        <a:t>Form Group</a:t>
                      </a:r>
                    </a:p>
                  </a:txBody>
                  <a:tcPr anchor="ctr"/>
                </a:tc>
                <a:tc>
                  <a:txBody>
                    <a:bodyPr/>
                    <a:lstStyle/>
                    <a:p>
                      <a:r>
                        <a:rPr lang="en-US" sz="2400" dirty="0">
                          <a:latin typeface="Gill Sans" charset="0"/>
                          <a:ea typeface="Gill Sans" charset="0"/>
                          <a:cs typeface="Gill Sans" charset="0"/>
                        </a:rPr>
                        <a:t>Find like-minded students</a:t>
                      </a:r>
                    </a:p>
                  </a:txBody>
                  <a:tcPr anchor="ctr"/>
                </a:tc>
                <a:extLst>
                  <a:ext uri="{0D108BD9-81ED-4DB2-BD59-A6C34878D82A}">
                    <a16:rowId xmlns:a16="http://schemas.microsoft.com/office/drawing/2014/main" val="10001"/>
                  </a:ext>
                </a:extLst>
              </a:tr>
              <a:tr h="370840">
                <a:tc>
                  <a:txBody>
                    <a:bodyPr/>
                    <a:lstStyle/>
                    <a:p>
                      <a:r>
                        <a:rPr lang="en-US" sz="2400" dirty="0">
                          <a:latin typeface="Gill Sans" charset="0"/>
                          <a:ea typeface="Gill Sans" charset="0"/>
                          <a:cs typeface="Gill Sans" charset="0"/>
                        </a:rPr>
                        <a:t>09/30/26</a:t>
                      </a:r>
                    </a:p>
                  </a:txBody>
                  <a:tcPr anchor="ctr"/>
                </a:tc>
                <a:tc>
                  <a:txBody>
                    <a:bodyPr/>
                    <a:lstStyle/>
                    <a:p>
                      <a:r>
                        <a:rPr lang="en-US" sz="2400" dirty="0">
                          <a:latin typeface="Gill Sans" charset="0"/>
                          <a:ea typeface="Gill Sans" charset="0"/>
                          <a:cs typeface="Gill Sans" charset="0"/>
                        </a:rPr>
                        <a:t>Submit Proposal</a:t>
                      </a:r>
                    </a:p>
                  </a:txBody>
                  <a:tcPr anchor="ctr"/>
                </a:tc>
                <a:tc>
                  <a:txBody>
                    <a:bodyPr/>
                    <a:lstStyle/>
                    <a:p>
                      <a:r>
                        <a:rPr lang="en-US" sz="2400" dirty="0">
                          <a:latin typeface="Gill Sans" charset="0"/>
                          <a:ea typeface="Gill Sans" charset="0"/>
                          <a:cs typeface="Gill Sans" charset="0"/>
                        </a:rPr>
                        <a:t>Send</a:t>
                      </a:r>
                      <a:r>
                        <a:rPr lang="en-US" sz="2400" baseline="0" dirty="0">
                          <a:latin typeface="Gill Sans" charset="0"/>
                          <a:ea typeface="Gill Sans" charset="0"/>
                          <a:cs typeface="Gill Sans" charset="0"/>
                        </a:rPr>
                        <a:t> </a:t>
                      </a:r>
                      <a:r>
                        <a:rPr lang="en-US" sz="2400" dirty="0">
                          <a:latin typeface="Gill Sans" charset="0"/>
                          <a:ea typeface="Gill Sans" charset="0"/>
                          <a:cs typeface="Gill Sans" charset="0"/>
                        </a:rPr>
                        <a:t>your proposal by email to receive feedback either via email or in-person or both</a:t>
                      </a:r>
                    </a:p>
                  </a:txBody>
                  <a:tcPr anchor="ctr"/>
                </a:tc>
                <a:extLst>
                  <a:ext uri="{0D108BD9-81ED-4DB2-BD59-A6C34878D82A}">
                    <a16:rowId xmlns:a16="http://schemas.microsoft.com/office/drawing/2014/main" val="10002"/>
                  </a:ext>
                </a:extLst>
              </a:tr>
              <a:tr h="370840">
                <a:tc>
                  <a:txBody>
                    <a:bodyPr/>
                    <a:lstStyle/>
                    <a:p>
                      <a:r>
                        <a:rPr lang="en-US" sz="2400" dirty="0">
                          <a:latin typeface="Gill Sans" charset="0"/>
                          <a:ea typeface="Gill Sans" charset="0"/>
                          <a:cs typeface="Gill Sans" charset="0"/>
                        </a:rPr>
                        <a:t>Late Oct,  Early Nov</a:t>
                      </a:r>
                    </a:p>
                    <a:p>
                      <a:endParaRPr lang="en-US" sz="2400" dirty="0">
                        <a:latin typeface="Gill Sans" charset="0"/>
                        <a:ea typeface="Gill Sans" charset="0"/>
                        <a:cs typeface="Gill Sans" charset="0"/>
                      </a:endParaRPr>
                    </a:p>
                  </a:txBody>
                  <a:tcPr anchor="ctr"/>
                </a:tc>
                <a:tc>
                  <a:txBody>
                    <a:bodyPr/>
                    <a:lstStyle/>
                    <a:p>
                      <a:r>
                        <a:rPr lang="en-US" sz="2400" dirty="0">
                          <a:latin typeface="Gill Sans" charset="0"/>
                          <a:ea typeface="Gill Sans" charset="0"/>
                          <a:cs typeface="Gill Sans" charset="0"/>
                        </a:rPr>
                        <a:t>Mid-Semester Presentations</a:t>
                      </a:r>
                    </a:p>
                  </a:txBody>
                  <a:tcPr anchor="ctr"/>
                </a:tc>
                <a:tc>
                  <a:txBody>
                    <a:bodyPr/>
                    <a:lstStyle/>
                    <a:p>
                      <a:r>
                        <a:rPr lang="en-US" sz="2400" dirty="0">
                          <a:latin typeface="Gill Sans" charset="0"/>
                          <a:ea typeface="Gill Sans" charset="0"/>
                          <a:cs typeface="Gill Sans" charset="0"/>
                        </a:rPr>
                        <a:t>Define</a:t>
                      </a:r>
                      <a:r>
                        <a:rPr lang="en-US" sz="2400" baseline="0" dirty="0">
                          <a:latin typeface="Gill Sans" charset="0"/>
                          <a:ea typeface="Gill Sans" charset="0"/>
                          <a:cs typeface="Gill Sans" charset="0"/>
                        </a:rPr>
                        <a:t> and motivate a problem, overview</a:t>
                      </a:r>
                      <a:r>
                        <a:rPr lang="en-US" sz="2400" dirty="0">
                          <a:latin typeface="Gill Sans" charset="0"/>
                          <a:ea typeface="Gill Sans" charset="0"/>
                          <a:cs typeface="Gill Sans" charset="0"/>
                        </a:rPr>
                        <a:t> related work, and form initial hypothesis and idea</a:t>
                      </a:r>
                    </a:p>
                  </a:txBody>
                  <a:tcPr anchor="ct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Gill Sans" charset="0"/>
                          <a:ea typeface="Gill Sans" charset="0"/>
                          <a:cs typeface="Gill Sans" charset="0"/>
                        </a:rPr>
                        <a:t>End of term</a:t>
                      </a:r>
                    </a:p>
                  </a:txBody>
                  <a:tcPr anchor="ctr"/>
                </a:tc>
                <a:tc>
                  <a:txBody>
                    <a:bodyPr/>
                    <a:lstStyle/>
                    <a:p>
                      <a:r>
                        <a:rPr lang="en-US" sz="2400" dirty="0">
                          <a:latin typeface="Gill Sans" charset="0"/>
                          <a:ea typeface="Gill Sans" charset="0"/>
                          <a:cs typeface="Gill Sans" charset="0"/>
                        </a:rPr>
                        <a:t>Poster Presentation</a:t>
                      </a:r>
                    </a:p>
                  </a:txBody>
                  <a:tcPr anchor="ctr"/>
                </a:tc>
                <a:tc>
                  <a:txBody>
                    <a:bodyPr/>
                    <a:lstStyle/>
                    <a:p>
                      <a:r>
                        <a:rPr lang="en-US" sz="2400" dirty="0">
                          <a:latin typeface="Gill Sans" charset="0"/>
                          <a:ea typeface="Gill Sans" charset="0"/>
                          <a:cs typeface="Gill Sans" charset="0"/>
                        </a:rPr>
                        <a:t>Present your findings</a:t>
                      </a:r>
                    </a:p>
                  </a:txBody>
                  <a:tcPr anchor="ctr"/>
                </a:tc>
                <a:extLst>
                  <a:ext uri="{0D108BD9-81ED-4DB2-BD59-A6C34878D82A}">
                    <a16:rowId xmlns:a16="http://schemas.microsoft.com/office/drawing/2014/main" val="10005"/>
                  </a:ext>
                </a:extLst>
              </a:tr>
              <a:tr h="370840">
                <a:tc>
                  <a:txBody>
                    <a:bodyPr/>
                    <a:lstStyle/>
                    <a:p>
                      <a:r>
                        <a:rPr lang="en-US" sz="2400" dirty="0">
                          <a:latin typeface="Gill Sans" charset="0"/>
                          <a:ea typeface="Gill Sans" charset="0"/>
                          <a:cs typeface="Gill Sans" charset="0"/>
                        </a:rPr>
                        <a:t>12/15/26</a:t>
                      </a:r>
                    </a:p>
                  </a:txBody>
                  <a:tcPr anchor="ctr"/>
                </a:tc>
                <a:tc>
                  <a:txBody>
                    <a:bodyPr/>
                    <a:lstStyle/>
                    <a:p>
                      <a:r>
                        <a:rPr lang="en-US" sz="2400" dirty="0">
                          <a:latin typeface="Gill Sans" charset="0"/>
                          <a:ea typeface="Gill Sans" charset="0"/>
                          <a:cs typeface="Gill Sans" charset="0"/>
                        </a:rPr>
                        <a:t>Research paper</a:t>
                      </a:r>
                    </a:p>
                  </a:txBody>
                  <a:tcPr anchor="ctr"/>
                </a:tc>
                <a:tc>
                  <a:txBody>
                    <a:bodyPr/>
                    <a:lstStyle/>
                    <a:p>
                      <a:r>
                        <a:rPr lang="en-US" sz="2400" dirty="0">
                          <a:latin typeface="Gill Sans" charset="0"/>
                          <a:ea typeface="Gill Sans" charset="0"/>
                          <a:cs typeface="Gill Sans" charset="0"/>
                        </a:rPr>
                        <a:t>Submit</a:t>
                      </a:r>
                      <a:r>
                        <a:rPr lang="en-US" sz="2400" baseline="0" dirty="0">
                          <a:latin typeface="Gill Sans" charset="0"/>
                          <a:ea typeface="Gill Sans" charset="0"/>
                          <a:cs typeface="Gill Sans" charset="0"/>
                        </a:rPr>
                        <a:t> a report like the papers you read</a:t>
                      </a:r>
                      <a:endParaRPr lang="en-US" sz="2400" dirty="0">
                        <a:latin typeface="Gill Sans" charset="0"/>
                        <a:ea typeface="Gill Sans" charset="0"/>
                        <a:cs typeface="Gill Sans" charset="0"/>
                      </a:endParaRPr>
                    </a:p>
                  </a:txBody>
                  <a:tcPr anchor="ctr"/>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fld id="{4EEF9975-6C58-5C4C-8961-54FFA2646BAA}" type="slidenum">
              <a:rPr lang="en-US" smtClean="0"/>
              <a:t>22</a:t>
            </a:fld>
            <a:endParaRPr lang="en-US"/>
          </a:p>
        </p:txBody>
      </p:sp>
    </p:spTree>
    <p:extLst>
      <p:ext uri="{BB962C8B-B14F-4D97-AF65-F5344CB8AC3E}">
        <p14:creationId xmlns:p14="http://schemas.microsoft.com/office/powerpoint/2010/main" val="8563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Draft Proposal (Sep 30)</a:t>
            </a:r>
          </a:p>
        </p:txBody>
      </p:sp>
      <p:sp>
        <p:nvSpPr>
          <p:cNvPr id="3" name="Content Placeholder 2"/>
          <p:cNvSpPr>
            <a:spLocks noGrp="1"/>
          </p:cNvSpPr>
          <p:nvPr>
            <p:ph idx="1"/>
          </p:nvPr>
        </p:nvSpPr>
        <p:spPr/>
        <p:txBody>
          <a:bodyPr/>
          <a:lstStyle/>
          <a:p>
            <a:r>
              <a:rPr lang="en-US" dirty="0"/>
              <a:t>Two pages including references that </a:t>
            </a:r>
            <a:r>
              <a:rPr lang="en-US" b="1" dirty="0">
                <a:solidFill>
                  <a:srgbClr val="FF0000"/>
                </a:solidFill>
              </a:rPr>
              <a:t>must</a:t>
            </a:r>
            <a:r>
              <a:rPr lang="en-US" dirty="0"/>
              <a:t> include</a:t>
            </a:r>
          </a:p>
          <a:p>
            <a:pPr lvl="1"/>
            <a:r>
              <a:rPr lang="en-US" dirty="0"/>
              <a:t>What is the problem?</a:t>
            </a:r>
          </a:p>
          <a:p>
            <a:pPr lvl="1"/>
            <a:r>
              <a:rPr lang="en-US" dirty="0"/>
              <a:t>Why is it important to solve?</a:t>
            </a:r>
          </a:p>
          <a:p>
            <a:pPr lvl="1"/>
            <a:r>
              <a:rPr lang="en-US" dirty="0"/>
              <a:t>Any initial thoughts on what you want to do?</a:t>
            </a:r>
          </a:p>
          <a:p>
            <a:pPr lvl="1"/>
            <a:r>
              <a:rPr lang="en-US" dirty="0"/>
              <a:t>How would you evaluate your solution?</a:t>
            </a:r>
          </a:p>
          <a:p>
            <a:r>
              <a:rPr lang="en-US" dirty="0"/>
              <a:t>Include team members</a:t>
            </a:r>
          </a:p>
          <a:p>
            <a:pPr lvl="1"/>
            <a:r>
              <a:rPr lang="en-US" dirty="0"/>
              <a:t>Meaning, </a:t>
            </a:r>
            <a:r>
              <a:rPr lang="en-US" dirty="0">
                <a:solidFill>
                  <a:srgbClr val="FF0000"/>
                </a:solidFill>
              </a:rPr>
              <a:t>form a group ASAP</a:t>
            </a:r>
          </a:p>
          <a:p>
            <a:r>
              <a:rPr lang="en-US" dirty="0"/>
              <a:t>Approved by the instructor and agreed upon by you</a:t>
            </a:r>
          </a:p>
          <a:p>
            <a:pPr lvl="1"/>
            <a:r>
              <a:rPr lang="en-US" dirty="0"/>
              <a:t>Forms the basis of expectation</a:t>
            </a:r>
          </a:p>
          <a:p>
            <a:endParaRPr lang="en-US" dirty="0"/>
          </a:p>
        </p:txBody>
      </p:sp>
      <p:sp>
        <p:nvSpPr>
          <p:cNvPr id="5" name="Slide Number Placeholder 4"/>
          <p:cNvSpPr>
            <a:spLocks noGrp="1"/>
          </p:cNvSpPr>
          <p:nvPr>
            <p:ph type="sldNum" sz="quarter" idx="12"/>
          </p:nvPr>
        </p:nvSpPr>
        <p:spPr/>
        <p:txBody>
          <a:bodyPr/>
          <a:lstStyle/>
          <a:p>
            <a:fld id="{4EEF9975-6C58-5C4C-8961-54FFA2646BAA}" type="slidenum">
              <a:rPr lang="en-US" smtClean="0"/>
              <a:t>23</a:t>
            </a:fld>
            <a:endParaRPr lang="en-US"/>
          </a:p>
        </p:txBody>
      </p:sp>
    </p:spTree>
    <p:extLst>
      <p:ext uri="{BB962C8B-B14F-4D97-AF65-F5344CB8AC3E}">
        <p14:creationId xmlns:p14="http://schemas.microsoft.com/office/powerpoint/2010/main" val="3288346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Mid-Semester Checkpoint</a:t>
            </a:r>
          </a:p>
        </p:txBody>
      </p:sp>
      <p:sp>
        <p:nvSpPr>
          <p:cNvPr id="3" name="Content Placeholder 2"/>
          <p:cNvSpPr>
            <a:spLocks noGrp="1"/>
          </p:cNvSpPr>
          <p:nvPr>
            <p:ph idx="1"/>
          </p:nvPr>
        </p:nvSpPr>
        <p:spPr/>
        <p:txBody>
          <a:bodyPr/>
          <a:lstStyle/>
          <a:p>
            <a:r>
              <a:rPr lang="en-US" dirty="0"/>
              <a:t>In-</a:t>
            </a:r>
            <a:r>
              <a:rPr lang="en-US" altLang="zh-CN" dirty="0"/>
              <a:t>tutorial</a:t>
            </a:r>
            <a:r>
              <a:rPr lang="en-US" dirty="0"/>
              <a:t> short presentation</a:t>
            </a:r>
            <a:r>
              <a:rPr lang="zh-CN" altLang="en-US" dirty="0"/>
              <a:t> </a:t>
            </a:r>
            <a:r>
              <a:rPr lang="en-US" altLang="zh-CN" dirty="0"/>
              <a:t>(subject</a:t>
            </a:r>
            <a:r>
              <a:rPr lang="zh-CN" altLang="en-US" dirty="0"/>
              <a:t> </a:t>
            </a:r>
            <a:r>
              <a:rPr lang="en-US" altLang="zh-CN" dirty="0"/>
              <a:t>to</a:t>
            </a:r>
            <a:r>
              <a:rPr lang="zh-CN" altLang="en-US" dirty="0"/>
              <a:t> </a:t>
            </a:r>
            <a:r>
              <a:rPr lang="en-US" altLang="zh-CN" dirty="0"/>
              <a:t>change)</a:t>
            </a:r>
            <a:endParaRPr lang="en-US" dirty="0"/>
          </a:p>
          <a:p>
            <a:pPr lvl="1"/>
            <a:r>
              <a:rPr lang="en-US" dirty="0"/>
              <a:t>This is to make sure you are making progress</a:t>
            </a:r>
          </a:p>
          <a:p>
            <a:r>
              <a:rPr lang="en-US" dirty="0"/>
              <a:t>Must include</a:t>
            </a:r>
          </a:p>
          <a:p>
            <a:pPr lvl="1"/>
            <a:r>
              <a:rPr lang="en-US" dirty="0"/>
              <a:t>What is the problem?</a:t>
            </a:r>
          </a:p>
          <a:p>
            <a:pPr lvl="1"/>
            <a:r>
              <a:rPr lang="en-US" dirty="0"/>
              <a:t>Why is it important?</a:t>
            </a:r>
          </a:p>
          <a:p>
            <a:pPr lvl="1"/>
            <a:r>
              <a:rPr lang="en-US" dirty="0"/>
              <a:t>What are the most related work?</a:t>
            </a:r>
          </a:p>
          <a:p>
            <a:pPr lvl="1"/>
            <a:r>
              <a:rPr lang="en-US" dirty="0"/>
              <a:t>What’s your hypothesis so far?</a:t>
            </a:r>
          </a:p>
          <a:p>
            <a:pPr lvl="1"/>
            <a:r>
              <a:rPr lang="en-US" dirty="0"/>
              <a:t>How are/will you evaluate it?</a:t>
            </a:r>
          </a:p>
        </p:txBody>
      </p:sp>
      <p:sp>
        <p:nvSpPr>
          <p:cNvPr id="5" name="Slide Number Placeholder 4"/>
          <p:cNvSpPr>
            <a:spLocks noGrp="1"/>
          </p:cNvSpPr>
          <p:nvPr>
            <p:ph type="sldNum" sz="quarter" idx="12"/>
          </p:nvPr>
        </p:nvSpPr>
        <p:spPr/>
        <p:txBody>
          <a:bodyPr/>
          <a:lstStyle/>
          <a:p>
            <a:fld id="{4EEF9975-6C58-5C4C-8961-54FFA2646BAA}" type="slidenum">
              <a:rPr lang="en-US" smtClean="0"/>
              <a:t>24</a:t>
            </a:fld>
            <a:endParaRPr lang="en-US"/>
          </a:p>
        </p:txBody>
      </p:sp>
    </p:spTree>
    <p:extLst>
      <p:ext uri="{BB962C8B-B14F-4D97-AF65-F5344CB8AC3E}">
        <p14:creationId xmlns:p14="http://schemas.microsoft.com/office/powerpoint/2010/main" val="4039408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 &amp; Paper</a:t>
            </a:r>
          </a:p>
        </p:txBody>
      </p:sp>
      <p:sp>
        <p:nvSpPr>
          <p:cNvPr id="3" name="Content Placeholder 2"/>
          <p:cNvSpPr>
            <a:spLocks noGrp="1"/>
          </p:cNvSpPr>
          <p:nvPr>
            <p:ph idx="1"/>
          </p:nvPr>
        </p:nvSpPr>
        <p:spPr/>
        <p:txBody>
          <a:bodyPr/>
          <a:lstStyle/>
          <a:p>
            <a:r>
              <a:rPr lang="en-US" dirty="0"/>
              <a:t>Research paper</a:t>
            </a:r>
          </a:p>
          <a:p>
            <a:pPr lvl="1"/>
            <a:r>
              <a:rPr lang="en-US" dirty="0"/>
              <a:t>The key part</a:t>
            </a:r>
          </a:p>
          <a:p>
            <a:pPr lvl="1"/>
            <a:r>
              <a:rPr lang="en-US" dirty="0"/>
              <a:t>Should be written like the papers you’ve read</a:t>
            </a:r>
          </a:p>
          <a:p>
            <a:pPr lvl="1"/>
            <a:r>
              <a:rPr lang="en-US" dirty="0"/>
              <a:t>As if you’d submit it to a workshop with ~</a:t>
            </a:r>
            <a:r>
              <a:rPr lang="en-US" altLang="zh-CN" dirty="0"/>
              <a:t>2-</a:t>
            </a:r>
            <a:r>
              <a:rPr lang="en-US" dirty="0"/>
              <a:t>3 more months of work or to a conference after ~6 more months of work</a:t>
            </a:r>
          </a:p>
          <a:p>
            <a:pPr lvl="1"/>
            <a:r>
              <a:rPr lang="en-US" dirty="0">
                <a:hlinkClick r:id="rId2"/>
              </a:rPr>
              <a:t>How to Write a Great Research Paper</a:t>
            </a:r>
            <a:r>
              <a:rPr lang="en-US" dirty="0"/>
              <a:t> by Simon Peyton Jones</a:t>
            </a:r>
          </a:p>
          <a:p>
            <a:r>
              <a:rPr lang="en-US" dirty="0"/>
              <a:t>Extended from the mid-semester checkpoint</a:t>
            </a:r>
          </a:p>
        </p:txBody>
      </p:sp>
      <p:sp>
        <p:nvSpPr>
          <p:cNvPr id="5" name="Slide Number Placeholder 4"/>
          <p:cNvSpPr>
            <a:spLocks noGrp="1"/>
          </p:cNvSpPr>
          <p:nvPr>
            <p:ph type="sldNum" sz="quarter" idx="12"/>
          </p:nvPr>
        </p:nvSpPr>
        <p:spPr/>
        <p:txBody>
          <a:bodyPr/>
          <a:lstStyle/>
          <a:p>
            <a:fld id="{4EEF9975-6C58-5C4C-8961-54FFA2646BAA}" type="slidenum">
              <a:rPr lang="en-US" smtClean="0"/>
              <a:t>25</a:t>
            </a:fld>
            <a:endParaRPr lang="en-US"/>
          </a:p>
        </p:txBody>
      </p:sp>
    </p:spTree>
    <p:extLst>
      <p:ext uri="{BB962C8B-B14F-4D97-AF65-F5344CB8AC3E}">
        <p14:creationId xmlns:p14="http://schemas.microsoft.com/office/powerpoint/2010/main" val="3129705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altLang="zh-CN" sz="4800" dirty="0"/>
              <a:t>Basics</a:t>
            </a:r>
            <a:r>
              <a:rPr lang="zh-CN" altLang="en-US" sz="4800" dirty="0"/>
              <a:t> </a:t>
            </a:r>
            <a:r>
              <a:rPr lang="en-US" altLang="zh-CN" sz="4800" dirty="0"/>
              <a:t>of</a:t>
            </a:r>
            <a:r>
              <a:rPr lang="zh-CN" altLang="en-US" sz="4800" dirty="0"/>
              <a:t> </a:t>
            </a:r>
            <a:r>
              <a:rPr lang="en-US" altLang="zh-CN" sz="4800" dirty="0"/>
              <a:t>the</a:t>
            </a:r>
            <a:r>
              <a:rPr lang="zh-CN" altLang="en-US" sz="4800" dirty="0"/>
              <a:t> </a:t>
            </a:r>
            <a:r>
              <a:rPr lang="en-US" altLang="zh-CN" sz="4800" dirty="0"/>
              <a:t>Bare-Metal</a:t>
            </a:r>
            <a:r>
              <a:rPr lang="zh-CN" altLang="en-US" sz="4800" dirty="0"/>
              <a:t> </a:t>
            </a:r>
            <a:endParaRPr lang="en-US" sz="4800" dirty="0"/>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26</a:t>
            </a:fld>
            <a:endParaRPr lang="en-US"/>
          </a:p>
        </p:txBody>
      </p:sp>
      <p:sp>
        <p:nvSpPr>
          <p:cNvPr id="5" name="Text Placeholder 4">
            <a:extLst>
              <a:ext uri="{FF2B5EF4-FFF2-40B4-BE49-F238E27FC236}">
                <a16:creationId xmlns:a16="http://schemas.microsoft.com/office/drawing/2014/main" id="{7A7246DF-CD8D-6835-5895-B9FBBAC62A9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53926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in a (Simplified) Server?</a:t>
            </a:r>
          </a:p>
        </p:txBody>
      </p:sp>
      <p:sp>
        <p:nvSpPr>
          <p:cNvPr id="3" name="Content Placeholder 2"/>
          <p:cNvSpPr>
            <a:spLocks noGrp="1"/>
          </p:cNvSpPr>
          <p:nvPr>
            <p:ph sz="half" idx="1"/>
          </p:nvPr>
        </p:nvSpPr>
        <p:spPr/>
        <p:txBody>
          <a:bodyPr anchor="ctr"/>
          <a:lstStyle/>
          <a:p>
            <a:pPr marL="0" indent="0">
              <a:buNone/>
            </a:pPr>
            <a:r>
              <a:rPr lang="en-US" dirty="0"/>
              <a:t>Interconnected compute and storage resources</a:t>
            </a:r>
          </a:p>
          <a:p>
            <a:pPr lvl="1"/>
            <a:r>
              <a:rPr lang="en-US" dirty="0"/>
              <a:t>Different bandwidth and latency constraints</a:t>
            </a:r>
          </a:p>
          <a:p>
            <a:pPr marL="0" indent="0">
              <a:buNone/>
            </a:pPr>
            <a:r>
              <a:rPr lang="en-US" dirty="0"/>
              <a:t>Simplified diagram</a:t>
            </a:r>
          </a:p>
          <a:p>
            <a:pPr lvl="1"/>
            <a:r>
              <a:rPr lang="en-US" dirty="0"/>
              <a:t>Doesn’t include faster networks such as RDMA, CXL, dedicated GPU interconnects such as NVlink, </a:t>
            </a:r>
            <a:r>
              <a:rPr lang="en-US" dirty="0" err="1"/>
              <a:t>etc</a:t>
            </a:r>
            <a:r>
              <a:rPr lang="en-US" dirty="0"/>
              <a:t>…</a:t>
            </a:r>
          </a:p>
        </p:txBody>
      </p:sp>
      <p:sp>
        <p:nvSpPr>
          <p:cNvPr id="7" name="Slide Number Placeholder 6"/>
          <p:cNvSpPr>
            <a:spLocks noGrp="1"/>
          </p:cNvSpPr>
          <p:nvPr>
            <p:ph type="sldNum" sz="quarter" idx="12"/>
          </p:nvPr>
        </p:nvSpPr>
        <p:spPr/>
        <p:txBody>
          <a:bodyPr/>
          <a:lstStyle/>
          <a:p>
            <a:fld id="{4EEF9975-6C58-5C4C-8961-54FFA2646BAA}" type="slidenum">
              <a:rPr lang="en-US" smtClean="0"/>
              <a:t>27</a:t>
            </a:fld>
            <a:endParaRPr lang="en-US"/>
          </a:p>
        </p:txBody>
      </p:sp>
      <p:pic>
        <p:nvPicPr>
          <p:cNvPr id="26" name="Picture 2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4546" y="1901175"/>
            <a:ext cx="1371600" cy="1371600"/>
          </a:xfrm>
          <a:prstGeom prst="rect">
            <a:avLst/>
          </a:prstGeom>
        </p:spPr>
      </p:pic>
      <p:pic>
        <p:nvPicPr>
          <p:cNvPr id="27" name="Picture 2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38112" y="2062540"/>
            <a:ext cx="1371600" cy="1048871"/>
          </a:xfrm>
          <a:prstGeom prst="rect">
            <a:avLst/>
          </a:prstGeom>
        </p:spPr>
      </p:pic>
      <p:sp>
        <p:nvSpPr>
          <p:cNvPr id="29" name="Left-Right Arrow 28"/>
          <p:cNvSpPr/>
          <p:nvPr/>
        </p:nvSpPr>
        <p:spPr>
          <a:xfrm>
            <a:off x="8395009" y="2436732"/>
            <a:ext cx="1172737" cy="395678"/>
          </a:xfrm>
          <a:prstGeom prst="lef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Up-Down Arrow 29"/>
          <p:cNvSpPr/>
          <p:nvPr/>
        </p:nvSpPr>
        <p:spPr>
          <a:xfrm>
            <a:off x="6934202" y="3327148"/>
            <a:ext cx="390292" cy="3029202"/>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Up Arrow 30"/>
          <p:cNvSpPr/>
          <p:nvPr/>
        </p:nvSpPr>
        <p:spPr>
          <a:xfrm>
            <a:off x="7472558" y="3327148"/>
            <a:ext cx="390292" cy="2192706"/>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7567962" y="5320529"/>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8547456" y="2116310"/>
            <a:ext cx="785793" cy="369332"/>
          </a:xfrm>
          <a:prstGeom prst="rect">
            <a:avLst/>
          </a:prstGeom>
          <a:noFill/>
        </p:spPr>
        <p:txBody>
          <a:bodyPr wrap="none" rtlCol="0">
            <a:spAutoFit/>
          </a:bodyPr>
          <a:lstStyle/>
          <a:p>
            <a:r>
              <a:rPr lang="en-US" dirty="0">
                <a:latin typeface="Gill Sans" charset="0"/>
                <a:ea typeface="Gill Sans" charset="0"/>
                <a:cs typeface="Gill Sans" charset="0"/>
              </a:rPr>
              <a:t>DDR5</a:t>
            </a:r>
          </a:p>
        </p:txBody>
      </p:sp>
      <p:sp>
        <p:nvSpPr>
          <p:cNvPr id="34" name="TextBox 33"/>
          <p:cNvSpPr txBox="1"/>
          <p:nvPr/>
        </p:nvSpPr>
        <p:spPr>
          <a:xfrm rot="16200000">
            <a:off x="6355623" y="4915118"/>
            <a:ext cx="997389" cy="369332"/>
          </a:xfrm>
          <a:prstGeom prst="rect">
            <a:avLst/>
          </a:prstGeom>
          <a:noFill/>
        </p:spPr>
        <p:txBody>
          <a:bodyPr wrap="none" rtlCol="0">
            <a:spAutoFit/>
          </a:bodyPr>
          <a:lstStyle/>
          <a:p>
            <a:r>
              <a:rPr lang="en-US" dirty="0">
                <a:latin typeface="Gill Sans" charset="0"/>
                <a:ea typeface="Gill Sans" charset="0"/>
                <a:cs typeface="Gill Sans" charset="0"/>
              </a:rPr>
              <a:t>Ethernet</a:t>
            </a:r>
          </a:p>
        </p:txBody>
      </p:sp>
      <p:sp>
        <p:nvSpPr>
          <p:cNvPr id="35" name="TextBox 34"/>
          <p:cNvSpPr txBox="1"/>
          <p:nvPr/>
        </p:nvSpPr>
        <p:spPr>
          <a:xfrm>
            <a:off x="7737495" y="5078784"/>
            <a:ext cx="793807" cy="369332"/>
          </a:xfrm>
          <a:prstGeom prst="rect">
            <a:avLst/>
          </a:prstGeom>
          <a:noFill/>
        </p:spPr>
        <p:txBody>
          <a:bodyPr wrap="none" rtlCol="0">
            <a:spAutoFit/>
          </a:bodyPr>
          <a:lstStyle/>
          <a:p>
            <a:r>
              <a:rPr lang="en-US" dirty="0" err="1">
                <a:latin typeface="Gill Sans" charset="0"/>
                <a:ea typeface="Gill Sans" charset="0"/>
                <a:cs typeface="Gill Sans" charset="0"/>
              </a:rPr>
              <a:t>NVMe</a:t>
            </a:r>
            <a:endParaRPr lang="en-US" dirty="0">
              <a:latin typeface="Gill Sans" charset="0"/>
              <a:ea typeface="Gill Sans" charset="0"/>
              <a:cs typeface="Gill Sans" charset="0"/>
            </a:endParaRPr>
          </a:p>
        </p:txBody>
      </p:sp>
      <p:sp>
        <p:nvSpPr>
          <p:cNvPr id="36" name="Right Arrow 35"/>
          <p:cNvSpPr/>
          <p:nvPr/>
        </p:nvSpPr>
        <p:spPr>
          <a:xfrm>
            <a:off x="7570939" y="4289614"/>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38112" y="4647040"/>
            <a:ext cx="1371600" cy="803758"/>
          </a:xfrm>
          <a:prstGeom prst="rect">
            <a:avLst/>
          </a:prstGeom>
        </p:spPr>
      </p:pic>
      <p:sp>
        <p:nvSpPr>
          <p:cNvPr id="38" name="Up Arrow 37"/>
          <p:cNvSpPr/>
          <p:nvPr/>
        </p:nvSpPr>
        <p:spPr>
          <a:xfrm>
            <a:off x="7992816" y="3327148"/>
            <a:ext cx="390292" cy="743764"/>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Arrow 38"/>
          <p:cNvSpPr/>
          <p:nvPr/>
        </p:nvSpPr>
        <p:spPr>
          <a:xfrm>
            <a:off x="8091197" y="3846654"/>
            <a:ext cx="1580009"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8369074" y="3523176"/>
            <a:ext cx="914033" cy="369332"/>
          </a:xfrm>
          <a:prstGeom prst="rect">
            <a:avLst/>
          </a:prstGeom>
          <a:noFill/>
        </p:spPr>
        <p:txBody>
          <a:bodyPr wrap="none" rtlCol="0">
            <a:spAutoFit/>
          </a:bodyPr>
          <a:lstStyle/>
          <a:p>
            <a:r>
              <a:rPr lang="en-US" dirty="0">
                <a:latin typeface="Gill Sans" charset="0"/>
                <a:ea typeface="Gill Sans" charset="0"/>
                <a:cs typeface="Gill Sans" charset="0"/>
              </a:rPr>
              <a:t>PCIe v6</a:t>
            </a:r>
          </a:p>
        </p:txBody>
      </p:sp>
      <p:sp>
        <p:nvSpPr>
          <p:cNvPr id="41" name="Rectangle 40"/>
          <p:cNvSpPr/>
          <p:nvPr/>
        </p:nvSpPr>
        <p:spPr>
          <a:xfrm>
            <a:off x="6477000" y="1901175"/>
            <a:ext cx="4795024" cy="413346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rot="16200000">
            <a:off x="6323520" y="3876066"/>
            <a:ext cx="1083951" cy="369332"/>
          </a:xfrm>
          <a:prstGeom prst="rect">
            <a:avLst/>
          </a:prstGeom>
          <a:noFill/>
        </p:spPr>
        <p:txBody>
          <a:bodyPr wrap="none" rtlCol="0">
            <a:spAutoFit/>
          </a:bodyPr>
          <a:lstStyle/>
          <a:p>
            <a:r>
              <a:rPr lang="en-US" dirty="0">
                <a:latin typeface="Gill Sans" charset="0"/>
                <a:ea typeface="Gill Sans" charset="0"/>
                <a:cs typeface="Gill Sans" charset="0"/>
              </a:rPr>
              <a:t>(25 GB/s)</a:t>
            </a:r>
          </a:p>
        </p:txBody>
      </p:sp>
      <p:sp>
        <p:nvSpPr>
          <p:cNvPr id="43" name="TextBox 42"/>
          <p:cNvSpPr txBox="1"/>
          <p:nvPr/>
        </p:nvSpPr>
        <p:spPr>
          <a:xfrm>
            <a:off x="8344210" y="3244809"/>
            <a:ext cx="1064715" cy="369332"/>
          </a:xfrm>
          <a:prstGeom prst="rect">
            <a:avLst/>
          </a:prstGeom>
          <a:noFill/>
        </p:spPr>
        <p:txBody>
          <a:bodyPr wrap="none" rtlCol="0">
            <a:spAutoFit/>
          </a:bodyPr>
          <a:lstStyle/>
          <a:p>
            <a:r>
              <a:rPr lang="en-US" dirty="0">
                <a:latin typeface="Gill Sans" charset="0"/>
                <a:ea typeface="Gill Sans" charset="0"/>
                <a:cs typeface="Gill Sans" charset="0"/>
              </a:rPr>
              <a:t>(8 GB/s)*</a:t>
            </a:r>
          </a:p>
        </p:txBody>
      </p:sp>
      <p:sp>
        <p:nvSpPr>
          <p:cNvPr id="44" name="TextBox 43"/>
          <p:cNvSpPr txBox="1"/>
          <p:nvPr/>
        </p:nvSpPr>
        <p:spPr>
          <a:xfrm>
            <a:off x="8458949" y="4531428"/>
            <a:ext cx="1207382" cy="369332"/>
          </a:xfrm>
          <a:prstGeom prst="rect">
            <a:avLst/>
          </a:prstGeom>
          <a:noFill/>
        </p:spPr>
        <p:txBody>
          <a:bodyPr wrap="none" rtlCol="0">
            <a:spAutoFit/>
          </a:bodyPr>
          <a:lstStyle/>
          <a:p>
            <a:r>
              <a:rPr lang="en-US" dirty="0">
                <a:latin typeface="Gill Sans" charset="0"/>
                <a:ea typeface="Gill Sans" charset="0"/>
                <a:cs typeface="Gill Sans" charset="0"/>
              </a:rPr>
              <a:t>(600 MB/s)</a:t>
            </a:r>
          </a:p>
        </p:txBody>
      </p:sp>
      <p:sp>
        <p:nvSpPr>
          <p:cNvPr id="45" name="TextBox 44"/>
          <p:cNvSpPr txBox="1"/>
          <p:nvPr/>
        </p:nvSpPr>
        <p:spPr>
          <a:xfrm>
            <a:off x="8411416" y="5078784"/>
            <a:ext cx="1135247" cy="369332"/>
          </a:xfrm>
          <a:prstGeom prst="rect">
            <a:avLst/>
          </a:prstGeom>
          <a:noFill/>
        </p:spPr>
        <p:txBody>
          <a:bodyPr wrap="none" rtlCol="0">
            <a:spAutoFit/>
          </a:bodyPr>
          <a:lstStyle/>
          <a:p>
            <a:r>
              <a:rPr lang="en-US" dirty="0">
                <a:latin typeface="Gill Sans" charset="0"/>
                <a:ea typeface="Gill Sans" charset="0"/>
                <a:cs typeface="Gill Sans" charset="0"/>
              </a:rPr>
              <a:t>(7.5 GB/s)</a:t>
            </a:r>
          </a:p>
        </p:txBody>
      </p:sp>
      <p:sp>
        <p:nvSpPr>
          <p:cNvPr id="46" name="TextBox 45"/>
          <p:cNvSpPr txBox="1"/>
          <p:nvPr/>
        </p:nvSpPr>
        <p:spPr>
          <a:xfrm>
            <a:off x="8395009" y="1861031"/>
            <a:ext cx="1083951" cy="369332"/>
          </a:xfrm>
          <a:prstGeom prst="rect">
            <a:avLst/>
          </a:prstGeom>
          <a:noFill/>
        </p:spPr>
        <p:txBody>
          <a:bodyPr wrap="none" rtlCol="0">
            <a:spAutoFit/>
          </a:bodyPr>
          <a:lstStyle/>
          <a:p>
            <a:r>
              <a:rPr lang="en-US" dirty="0">
                <a:latin typeface="Gill Sans" charset="0"/>
                <a:ea typeface="Gill Sans" charset="0"/>
                <a:cs typeface="Gill Sans" charset="0"/>
              </a:rPr>
              <a:t>(64 GB/s)</a:t>
            </a:r>
          </a:p>
        </p:txBody>
      </p:sp>
      <p:sp>
        <p:nvSpPr>
          <p:cNvPr id="47" name="TextBox 46"/>
          <p:cNvSpPr txBox="1"/>
          <p:nvPr/>
        </p:nvSpPr>
        <p:spPr>
          <a:xfrm>
            <a:off x="7848097" y="6044889"/>
            <a:ext cx="1429237" cy="369332"/>
          </a:xfrm>
          <a:prstGeom prst="rect">
            <a:avLst/>
          </a:prstGeom>
          <a:noFill/>
        </p:spPr>
        <p:txBody>
          <a:bodyPr wrap="none" rtlCol="0">
            <a:spAutoFit/>
          </a:bodyPr>
          <a:lstStyle/>
          <a:p>
            <a:r>
              <a:rPr lang="en-US" dirty="0">
                <a:latin typeface="Gill Sans" charset="0"/>
                <a:ea typeface="Gill Sans" charset="0"/>
                <a:cs typeface="Gill Sans" charset="0"/>
              </a:rPr>
              <a:t>* Per channel</a:t>
            </a:r>
          </a:p>
        </p:txBody>
      </p:sp>
      <p:sp>
        <p:nvSpPr>
          <p:cNvPr id="4" name="TextBox 3">
            <a:extLst>
              <a:ext uri="{FF2B5EF4-FFF2-40B4-BE49-F238E27FC236}">
                <a16:creationId xmlns:a16="http://schemas.microsoft.com/office/drawing/2014/main" id="{DF97965F-3DBD-C31D-E5AC-E92AEB94D47B}"/>
              </a:ext>
            </a:extLst>
          </p:cNvPr>
          <p:cNvSpPr txBox="1"/>
          <p:nvPr/>
        </p:nvSpPr>
        <p:spPr>
          <a:xfrm>
            <a:off x="7751299" y="4531428"/>
            <a:ext cx="871072" cy="369332"/>
          </a:xfrm>
          <a:prstGeom prst="rect">
            <a:avLst/>
          </a:prstGeom>
          <a:noFill/>
        </p:spPr>
        <p:txBody>
          <a:bodyPr wrap="none" rtlCol="0">
            <a:spAutoFit/>
          </a:bodyPr>
          <a:lstStyle/>
          <a:p>
            <a:r>
              <a:rPr lang="en-US" dirty="0">
                <a:latin typeface="Gill Sans" charset="0"/>
                <a:ea typeface="Gill Sans" charset="0"/>
                <a:cs typeface="Gill Sans" charset="0"/>
              </a:rPr>
              <a:t>SATA 3</a:t>
            </a:r>
          </a:p>
        </p:txBody>
      </p:sp>
      <p:pic>
        <p:nvPicPr>
          <p:cNvPr id="8" name="Picture 7">
            <a:extLst>
              <a:ext uri="{FF2B5EF4-FFF2-40B4-BE49-F238E27FC236}">
                <a16:creationId xmlns:a16="http://schemas.microsoft.com/office/drawing/2014/main" id="{68084E05-414D-E361-A54C-ECAABBCE0F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45764" y="3538099"/>
            <a:ext cx="914400" cy="914400"/>
          </a:xfrm>
          <a:prstGeom prst="rect">
            <a:avLst/>
          </a:prstGeom>
        </p:spPr>
      </p:pic>
    </p:spTree>
    <p:extLst>
      <p:ext uri="{BB962C8B-B14F-4D97-AF65-F5344CB8AC3E}">
        <p14:creationId xmlns:p14="http://schemas.microsoft.com/office/powerpoint/2010/main" val="2999030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D1A031C-CCB7-E5D1-AFC8-E0216D1DB6E3}"/>
              </a:ext>
            </a:extLst>
          </p:cNvPr>
          <p:cNvSpPr>
            <a:spLocks noGrp="1"/>
          </p:cNvSpPr>
          <p:nvPr>
            <p:ph type="title"/>
          </p:nvPr>
        </p:nvSpPr>
        <p:spPr/>
        <p:txBody>
          <a:bodyPr/>
          <a:lstStyle/>
          <a:p>
            <a:r>
              <a:rPr lang="en-US" dirty="0"/>
              <a:t>Typical Memory/Storage Hierarchy</a:t>
            </a:r>
          </a:p>
        </p:txBody>
      </p:sp>
      <p:sp>
        <p:nvSpPr>
          <p:cNvPr id="7" name="Slide Number Placeholder 6">
            <a:extLst>
              <a:ext uri="{FF2B5EF4-FFF2-40B4-BE49-F238E27FC236}">
                <a16:creationId xmlns:a16="http://schemas.microsoft.com/office/drawing/2014/main" id="{8CFA9B40-9F3D-DBAD-FF8F-5CAAAC4BA58C}"/>
              </a:ext>
            </a:extLst>
          </p:cNvPr>
          <p:cNvSpPr>
            <a:spLocks noGrp="1"/>
          </p:cNvSpPr>
          <p:nvPr>
            <p:ph type="sldNum" sz="quarter" idx="12"/>
          </p:nvPr>
        </p:nvSpPr>
        <p:spPr/>
        <p:txBody>
          <a:bodyPr/>
          <a:lstStyle/>
          <a:p>
            <a:fld id="{4EEF9975-6C58-5C4C-8961-54FFA2646BAA}" type="slidenum">
              <a:rPr lang="en-US" smtClean="0"/>
              <a:t>28</a:t>
            </a:fld>
            <a:endParaRPr lang="en-US"/>
          </a:p>
        </p:txBody>
      </p:sp>
      <p:grpSp>
        <p:nvGrpSpPr>
          <p:cNvPr id="42" name="Group 41">
            <a:extLst>
              <a:ext uri="{FF2B5EF4-FFF2-40B4-BE49-F238E27FC236}">
                <a16:creationId xmlns:a16="http://schemas.microsoft.com/office/drawing/2014/main" id="{6AD862D8-B9FB-B8F1-41C2-F4BB08B2B53B}"/>
              </a:ext>
            </a:extLst>
          </p:cNvPr>
          <p:cNvGrpSpPr/>
          <p:nvPr/>
        </p:nvGrpSpPr>
        <p:grpSpPr>
          <a:xfrm>
            <a:off x="5411855" y="2072483"/>
            <a:ext cx="6673172" cy="3136236"/>
            <a:chOff x="4714432" y="2072483"/>
            <a:chExt cx="6673172" cy="3136236"/>
          </a:xfrm>
        </p:grpSpPr>
        <p:grpSp>
          <p:nvGrpSpPr>
            <p:cNvPr id="38" name="Group 37">
              <a:extLst>
                <a:ext uri="{FF2B5EF4-FFF2-40B4-BE49-F238E27FC236}">
                  <a16:creationId xmlns:a16="http://schemas.microsoft.com/office/drawing/2014/main" id="{F795021A-B98C-64F8-F81B-2E0D4AA4A3C4}"/>
                </a:ext>
              </a:extLst>
            </p:cNvPr>
            <p:cNvGrpSpPr/>
            <p:nvPr/>
          </p:nvGrpSpPr>
          <p:grpSpPr>
            <a:xfrm>
              <a:off x="5902176" y="2205856"/>
              <a:ext cx="5485428" cy="3002863"/>
              <a:chOff x="2988896" y="2651626"/>
              <a:chExt cx="5485428" cy="3002863"/>
            </a:xfrm>
          </p:grpSpPr>
          <p:graphicFrame>
            <p:nvGraphicFramePr>
              <p:cNvPr id="24" name="Diagram 23">
                <a:extLst>
                  <a:ext uri="{FF2B5EF4-FFF2-40B4-BE49-F238E27FC236}">
                    <a16:creationId xmlns:a16="http://schemas.microsoft.com/office/drawing/2014/main" id="{DC6030C7-3255-7902-7EBC-CF4B0A861DDB}"/>
                  </a:ext>
                </a:extLst>
              </p:cNvPr>
              <p:cNvGraphicFramePr/>
              <p:nvPr/>
            </p:nvGraphicFramePr>
            <p:xfrm>
              <a:off x="2988896" y="2710046"/>
              <a:ext cx="4833500" cy="2944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74B37FD-911B-F70A-2853-A14D54CE6E23}"/>
                  </a:ext>
                </a:extLst>
              </p:cNvPr>
              <p:cNvSpPr txBox="1"/>
              <p:nvPr/>
            </p:nvSpPr>
            <p:spPr>
              <a:xfrm>
                <a:off x="4359365" y="2651626"/>
                <a:ext cx="782587"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Register</a:t>
                </a:r>
              </a:p>
            </p:txBody>
          </p:sp>
          <p:sp>
            <p:nvSpPr>
              <p:cNvPr id="26" name="TextBox 25">
                <a:extLst>
                  <a:ext uri="{FF2B5EF4-FFF2-40B4-BE49-F238E27FC236}">
                    <a16:creationId xmlns:a16="http://schemas.microsoft.com/office/drawing/2014/main" id="{839C5176-B537-CBFF-2AA6-FA37441F09D9}"/>
                  </a:ext>
                </a:extLst>
              </p:cNvPr>
              <p:cNvSpPr txBox="1"/>
              <p:nvPr/>
            </p:nvSpPr>
            <p:spPr>
              <a:xfrm>
                <a:off x="5538933" y="2671945"/>
                <a:ext cx="56297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0.2ns</a:t>
                </a:r>
              </a:p>
            </p:txBody>
          </p:sp>
          <p:sp>
            <p:nvSpPr>
              <p:cNvPr id="27" name="TextBox 26">
                <a:extLst>
                  <a:ext uri="{FF2B5EF4-FFF2-40B4-BE49-F238E27FC236}">
                    <a16:creationId xmlns:a16="http://schemas.microsoft.com/office/drawing/2014/main" id="{1A90239D-88D1-A047-C618-5CE1222CD101}"/>
                  </a:ext>
                </a:extLst>
              </p:cNvPr>
              <p:cNvSpPr txBox="1"/>
              <p:nvPr/>
            </p:nvSpPr>
            <p:spPr>
              <a:xfrm>
                <a:off x="5802481" y="3004509"/>
                <a:ext cx="67037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1-40ns</a:t>
                </a:r>
              </a:p>
            </p:txBody>
          </p:sp>
          <p:sp>
            <p:nvSpPr>
              <p:cNvPr id="28" name="TextBox 27">
                <a:extLst>
                  <a:ext uri="{FF2B5EF4-FFF2-40B4-BE49-F238E27FC236}">
                    <a16:creationId xmlns:a16="http://schemas.microsoft.com/office/drawing/2014/main" id="{5AF1EDBC-D98B-19E0-504C-3C17EF67CE72}"/>
                  </a:ext>
                </a:extLst>
              </p:cNvPr>
              <p:cNvSpPr txBox="1"/>
              <p:nvPr/>
            </p:nvSpPr>
            <p:spPr>
              <a:xfrm>
                <a:off x="6198420" y="3406187"/>
                <a:ext cx="84991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80-140ns</a:t>
                </a:r>
              </a:p>
            </p:txBody>
          </p:sp>
          <p:sp>
            <p:nvSpPr>
              <p:cNvPr id="29" name="TextBox 28">
                <a:extLst>
                  <a:ext uri="{FF2B5EF4-FFF2-40B4-BE49-F238E27FC236}">
                    <a16:creationId xmlns:a16="http://schemas.microsoft.com/office/drawing/2014/main" id="{6AAAB384-5F5F-924D-EF07-036CE60CD870}"/>
                  </a:ext>
                </a:extLst>
              </p:cNvPr>
              <p:cNvSpPr txBox="1"/>
              <p:nvPr/>
            </p:nvSpPr>
            <p:spPr>
              <a:xfrm>
                <a:off x="6573139" y="3903605"/>
                <a:ext cx="93968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170-280ns</a:t>
                </a:r>
              </a:p>
            </p:txBody>
          </p:sp>
          <p:sp>
            <p:nvSpPr>
              <p:cNvPr id="30" name="TextBox 29">
                <a:extLst>
                  <a:ext uri="{FF2B5EF4-FFF2-40B4-BE49-F238E27FC236}">
                    <a16:creationId xmlns:a16="http://schemas.microsoft.com/office/drawing/2014/main" id="{93CBCC18-47BA-9FEF-CFBB-1A0E5F6EABD2}"/>
                  </a:ext>
                </a:extLst>
              </p:cNvPr>
              <p:cNvSpPr txBox="1"/>
              <p:nvPr/>
            </p:nvSpPr>
            <p:spPr>
              <a:xfrm>
                <a:off x="6894673" y="4289140"/>
                <a:ext cx="93968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300-400ns</a:t>
                </a:r>
              </a:p>
            </p:txBody>
          </p:sp>
          <p:sp>
            <p:nvSpPr>
              <p:cNvPr id="31" name="TextBox 30">
                <a:extLst>
                  <a:ext uri="{FF2B5EF4-FFF2-40B4-BE49-F238E27FC236}">
                    <a16:creationId xmlns:a16="http://schemas.microsoft.com/office/drawing/2014/main" id="{D2AC0A73-AFD9-54C0-0210-C56BD38051B8}"/>
                  </a:ext>
                </a:extLst>
              </p:cNvPr>
              <p:cNvSpPr txBox="1"/>
              <p:nvPr/>
            </p:nvSpPr>
            <p:spPr>
              <a:xfrm>
                <a:off x="7182684" y="4620568"/>
                <a:ext cx="59022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2-4μs</a:t>
                </a:r>
              </a:p>
            </p:txBody>
          </p:sp>
          <p:sp>
            <p:nvSpPr>
              <p:cNvPr id="32" name="TextBox 31">
                <a:extLst>
                  <a:ext uri="{FF2B5EF4-FFF2-40B4-BE49-F238E27FC236}">
                    <a16:creationId xmlns:a16="http://schemas.microsoft.com/office/drawing/2014/main" id="{911BB89A-C5CF-BE2A-C3DC-C5E7254E3D45}"/>
                  </a:ext>
                </a:extLst>
              </p:cNvPr>
              <p:cNvSpPr txBox="1"/>
              <p:nvPr/>
            </p:nvSpPr>
            <p:spPr>
              <a:xfrm>
                <a:off x="7444117" y="4962564"/>
                <a:ext cx="76976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10-40μs</a:t>
                </a:r>
              </a:p>
            </p:txBody>
          </p:sp>
          <p:sp>
            <p:nvSpPr>
              <p:cNvPr id="33" name="TextBox 32">
                <a:extLst>
                  <a:ext uri="{FF2B5EF4-FFF2-40B4-BE49-F238E27FC236}">
                    <a16:creationId xmlns:a16="http://schemas.microsoft.com/office/drawing/2014/main" id="{8427B61F-823C-AF89-30B4-FD52C7802FB3}"/>
                  </a:ext>
                </a:extLst>
              </p:cNvPr>
              <p:cNvSpPr txBox="1"/>
              <p:nvPr/>
            </p:nvSpPr>
            <p:spPr>
              <a:xfrm>
                <a:off x="7755858" y="5307037"/>
                <a:ext cx="71846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3-10ms</a:t>
                </a:r>
              </a:p>
            </p:txBody>
          </p:sp>
          <p:cxnSp>
            <p:nvCxnSpPr>
              <p:cNvPr id="23" name="Straight Arrow Connector 22">
                <a:extLst>
                  <a:ext uri="{FF2B5EF4-FFF2-40B4-BE49-F238E27FC236}">
                    <a16:creationId xmlns:a16="http://schemas.microsoft.com/office/drawing/2014/main" id="{B9BB83DF-D56F-F755-3AD7-36D9D3E94C89}"/>
                  </a:ext>
                </a:extLst>
              </p:cNvPr>
              <p:cNvCxnSpPr>
                <a:cxnSpLocks/>
              </p:cNvCxnSpPr>
              <p:nvPr/>
            </p:nvCxnSpPr>
            <p:spPr>
              <a:xfrm>
                <a:off x="5074949" y="2829059"/>
                <a:ext cx="227911" cy="76752"/>
              </a:xfrm>
              <a:prstGeom prst="straightConnector1">
                <a:avLst/>
              </a:prstGeom>
              <a:noFill/>
              <a:ln w="15875" cap="flat" cmpd="sng" algn="ctr">
                <a:solidFill>
                  <a:srgbClr val="000000">
                    <a:shade val="95000"/>
                    <a:satMod val="105000"/>
                  </a:srgbClr>
                </a:solidFill>
                <a:prstDash val="solid"/>
                <a:tailEnd type="triangle"/>
              </a:ln>
              <a:effectLst/>
            </p:spPr>
          </p:cxnSp>
          <p:sp>
            <p:nvSpPr>
              <p:cNvPr id="35" name="TextBox 34">
                <a:extLst>
                  <a:ext uri="{FF2B5EF4-FFF2-40B4-BE49-F238E27FC236}">
                    <a16:creationId xmlns:a16="http://schemas.microsoft.com/office/drawing/2014/main" id="{21864A7E-108F-A140-8F4A-2F05D7658237}"/>
                  </a:ext>
                </a:extLst>
              </p:cNvPr>
              <p:cNvSpPr txBox="1"/>
              <p:nvPr/>
            </p:nvSpPr>
            <p:spPr>
              <a:xfrm>
                <a:off x="3525498" y="2927343"/>
                <a:ext cx="1326004"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sz="1400" kern="0" dirty="0">
                    <a:solidFill>
                      <a:srgbClr val="000000"/>
                    </a:solidFill>
                    <a:latin typeface="Gill Sans" panose="020B0502020104020203" pitchFamily="34" charset="-79"/>
                    <a:cs typeface="Gill Sans" panose="020B0502020104020203" pitchFamily="34" charset="-79"/>
                    <a:sym typeface="Arial"/>
                  </a:rPr>
                  <a:t>L1/L2/L3 Cache</a:t>
                </a:r>
                <a:endPar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endParaRPr>
              </a:p>
            </p:txBody>
          </p:sp>
          <p:cxnSp>
            <p:nvCxnSpPr>
              <p:cNvPr id="36" name="Straight Arrow Connector 35">
                <a:extLst>
                  <a:ext uri="{FF2B5EF4-FFF2-40B4-BE49-F238E27FC236}">
                    <a16:creationId xmlns:a16="http://schemas.microsoft.com/office/drawing/2014/main" id="{E4AB03D8-2ED2-1CDF-6648-834025A91A8F}"/>
                  </a:ext>
                </a:extLst>
              </p:cNvPr>
              <p:cNvCxnSpPr>
                <a:cxnSpLocks/>
              </p:cNvCxnSpPr>
              <p:nvPr/>
            </p:nvCxnSpPr>
            <p:spPr>
              <a:xfrm>
                <a:off x="4815869" y="3107189"/>
                <a:ext cx="227911" cy="76752"/>
              </a:xfrm>
              <a:prstGeom prst="straightConnector1">
                <a:avLst/>
              </a:prstGeom>
              <a:noFill/>
              <a:ln w="15875" cap="flat" cmpd="sng" algn="ctr">
                <a:solidFill>
                  <a:srgbClr val="000000">
                    <a:shade val="95000"/>
                    <a:satMod val="105000"/>
                  </a:srgbClr>
                </a:solidFill>
                <a:prstDash val="solid"/>
                <a:tailEnd type="triangle"/>
              </a:ln>
              <a:effectLst/>
            </p:spPr>
          </p:cxnSp>
        </p:grpSp>
        <p:sp>
          <p:nvSpPr>
            <p:cNvPr id="39" name="Up Arrow 38">
              <a:extLst>
                <a:ext uri="{FF2B5EF4-FFF2-40B4-BE49-F238E27FC236}">
                  <a16:creationId xmlns:a16="http://schemas.microsoft.com/office/drawing/2014/main" id="{B8DD8836-49FD-E97F-E390-5FA7C721DA22}"/>
                </a:ext>
              </a:extLst>
            </p:cNvPr>
            <p:cNvSpPr/>
            <p:nvPr/>
          </p:nvSpPr>
          <p:spPr>
            <a:xfrm>
              <a:off x="5353114" y="2264275"/>
              <a:ext cx="484632" cy="2944443"/>
            </a:xfrm>
            <a:prstGeom prst="upArrow">
              <a:avLst/>
            </a:prstGeom>
            <a:gradFill>
              <a:gsLst>
                <a:gs pos="82000">
                  <a:srgbClr val="FFFF00"/>
                </a:gs>
                <a:gs pos="61000">
                  <a:srgbClr val="00B050"/>
                </a:gs>
                <a:gs pos="42000">
                  <a:srgbClr val="00B050"/>
                </a:gs>
                <a:gs pos="21000">
                  <a:srgbClr val="00B0F0"/>
                </a:gs>
                <a:gs pos="0">
                  <a:schemeClr val="bg1">
                    <a:lumMod val="50000"/>
                  </a:schemeClr>
                </a:gs>
                <a:gs pos="10000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DCE62D2C-2808-E692-F570-CE45427EDA64}"/>
                </a:ext>
              </a:extLst>
            </p:cNvPr>
            <p:cNvSpPr txBox="1"/>
            <p:nvPr/>
          </p:nvSpPr>
          <p:spPr>
            <a:xfrm rot="16200000">
              <a:off x="3922869" y="2864046"/>
              <a:ext cx="2291012" cy="707886"/>
            </a:xfrm>
            <a:prstGeom prst="rect">
              <a:avLst/>
            </a:prstGeom>
            <a:noFill/>
          </p:spPr>
          <p:txBody>
            <a:bodyPr wrap="none" rtlCol="0">
              <a:spAutoFit/>
            </a:bodyPr>
            <a:lstStyle/>
            <a:p>
              <a:r>
                <a:rPr lang="en-US" sz="2000" b="1" dirty="0">
                  <a:latin typeface="Gill Sans SemiBold" panose="020B0502020104020203" pitchFamily="34" charset="-79"/>
                  <a:cs typeface="Gill Sans SemiBold" panose="020B0502020104020203" pitchFamily="34" charset="-79"/>
                </a:rPr>
                <a:t>Higher Bandwidth/</a:t>
              </a:r>
            </a:p>
            <a:p>
              <a:r>
                <a:rPr lang="en-US" sz="2000" b="1" dirty="0">
                  <a:latin typeface="Gill Sans SemiBold" panose="020B0502020104020203" pitchFamily="34" charset="-79"/>
                  <a:cs typeface="Gill Sans SemiBold" panose="020B0502020104020203" pitchFamily="34" charset="-79"/>
                </a:rPr>
                <a:t>Lower Latency</a:t>
              </a:r>
            </a:p>
          </p:txBody>
        </p:sp>
      </p:grpSp>
      <p:sp>
        <p:nvSpPr>
          <p:cNvPr id="41" name="Content Placeholder 2">
            <a:extLst>
              <a:ext uri="{FF2B5EF4-FFF2-40B4-BE49-F238E27FC236}">
                <a16:creationId xmlns:a16="http://schemas.microsoft.com/office/drawing/2014/main" id="{03398A9A-B77F-C8FB-3C90-1449E4C5F0B9}"/>
              </a:ext>
            </a:extLst>
          </p:cNvPr>
          <p:cNvSpPr txBox="1">
            <a:spLocks/>
          </p:cNvSpPr>
          <p:nvPr/>
        </p:nvSpPr>
        <p:spPr>
          <a:xfrm>
            <a:off x="838200" y="1825625"/>
            <a:ext cx="4573655" cy="4351338"/>
          </a:xfrm>
          <a:prstGeom prst="rect">
            <a:avLst/>
          </a:prstGeom>
        </p:spPr>
        <p:txBody>
          <a:bodyPr anchor="ct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Gill Sans" charset="0"/>
                <a:ea typeface="Gill Sans" charset="0"/>
                <a:cs typeface="Gill Sans"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Gill Sans Light" charset="0"/>
                <a:ea typeface="Gill Sans Light" charset="0"/>
                <a:cs typeface="Gill Sans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Gill Sans Light" charset="0"/>
                <a:ea typeface="Gill Sans Light" charset="0"/>
                <a:cs typeface="Gill Sans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t>Fundamental Goals of (SW/HW) System Design</a:t>
            </a:r>
          </a:p>
          <a:p>
            <a:pPr lvl="1"/>
            <a:r>
              <a:rPr lang="en-US" dirty="0"/>
              <a:t>Minimize time to access data</a:t>
            </a:r>
          </a:p>
          <a:p>
            <a:pPr lvl="1"/>
            <a:r>
              <a:rPr lang="en-US" dirty="0"/>
              <a:t>Maximize compute utilization</a:t>
            </a:r>
          </a:p>
          <a:p>
            <a:pPr lvl="1"/>
            <a:r>
              <a:rPr lang="en-US" b="1" dirty="0">
                <a:solidFill>
                  <a:schemeClr val="accent2"/>
                </a:solidFill>
                <a:latin typeface="Gill Sans" panose="020B0502020104020203" pitchFamily="34" charset="-79"/>
                <a:cs typeface="Gill Sans" panose="020B0502020104020203" pitchFamily="34" charset="-79"/>
              </a:rPr>
              <a:t>Balanced System</a:t>
            </a:r>
          </a:p>
        </p:txBody>
      </p:sp>
      <p:sp>
        <p:nvSpPr>
          <p:cNvPr id="43" name="TextBox 42">
            <a:extLst>
              <a:ext uri="{FF2B5EF4-FFF2-40B4-BE49-F238E27FC236}">
                <a16:creationId xmlns:a16="http://schemas.microsoft.com/office/drawing/2014/main" id="{F88E2042-2B12-28D0-E479-1076F07960AD}"/>
              </a:ext>
            </a:extLst>
          </p:cNvPr>
          <p:cNvSpPr txBox="1"/>
          <p:nvPr/>
        </p:nvSpPr>
        <p:spPr>
          <a:xfrm>
            <a:off x="6806333" y="5362752"/>
            <a:ext cx="4407637" cy="275025"/>
          </a:xfrm>
          <a:prstGeom prst="rect">
            <a:avLst/>
          </a:prstGeom>
          <a:noFill/>
        </p:spPr>
        <p:txBody>
          <a:bodyPr wrap="square">
            <a:spAutoFit/>
          </a:bodyPr>
          <a:lstStyle/>
          <a:p>
            <a:pPr algn="ctr"/>
            <a:r>
              <a:rPr lang="en-US" sz="1200" dirty="0">
                <a:solidFill>
                  <a:schemeClr val="bg1">
                    <a:lumMod val="50000"/>
                  </a:schemeClr>
                </a:solidFill>
                <a:latin typeface="Gill Sans Light" panose="020B0302020104020203" pitchFamily="34" charset="-79"/>
                <a:cs typeface="Gill Sans Light" panose="020B0302020104020203" pitchFamily="34" charset="-79"/>
              </a:rPr>
              <a:t>Maruf et al, SIGMETRICS 2023</a:t>
            </a:r>
          </a:p>
        </p:txBody>
      </p:sp>
    </p:spTree>
    <p:extLst>
      <p:ext uri="{BB962C8B-B14F-4D97-AF65-F5344CB8AC3E}">
        <p14:creationId xmlns:p14="http://schemas.microsoft.com/office/powerpoint/2010/main" val="537099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F49C-DEDB-F20C-FABD-322A9BED1A38}"/>
            </a:ext>
          </a:extLst>
        </p:cNvPr>
        <p:cNvGrpSpPr/>
        <p:nvPr/>
      </p:nvGrpSpPr>
      <p:grpSpPr>
        <a:xfrm>
          <a:off x="0" y="0"/>
          <a:ext cx="0" cy="0"/>
          <a:chOff x="0" y="0"/>
          <a:chExt cx="0" cy="0"/>
        </a:xfrm>
      </p:grpSpPr>
      <p:pic>
        <p:nvPicPr>
          <p:cNvPr id="2050" name="Picture 2" descr="Diagram illustrating coherent memory access between Vera CPU’s 1.5TB LPDDR5X and Rubin GPU’s 288GB HBM4 (per GPU) via 1.8TB/s NVLink-C2C.">
            <a:extLst>
              <a:ext uri="{FF2B5EF4-FFF2-40B4-BE49-F238E27FC236}">
                <a16:creationId xmlns:a16="http://schemas.microsoft.com/office/drawing/2014/main" id="{98726191-6387-F0EC-80A4-2CB9B67050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86015" y="1572214"/>
            <a:ext cx="4705779" cy="43513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6E8835-7AB9-41A5-6E01-EE6140D4C07A}"/>
              </a:ext>
            </a:extLst>
          </p:cNvPr>
          <p:cNvSpPr>
            <a:spLocks noGrp="1"/>
          </p:cNvSpPr>
          <p:nvPr>
            <p:ph type="title"/>
          </p:nvPr>
        </p:nvSpPr>
        <p:spPr/>
        <p:txBody>
          <a:bodyPr/>
          <a:lstStyle/>
          <a:p>
            <a:r>
              <a:rPr lang="en-US" dirty="0"/>
              <a:t>What’s in a Modern AI Server?</a:t>
            </a:r>
          </a:p>
        </p:txBody>
      </p:sp>
      <p:sp>
        <p:nvSpPr>
          <p:cNvPr id="7" name="Slide Number Placeholder 6">
            <a:extLst>
              <a:ext uri="{FF2B5EF4-FFF2-40B4-BE49-F238E27FC236}">
                <a16:creationId xmlns:a16="http://schemas.microsoft.com/office/drawing/2014/main" id="{423B64D8-20BF-AE6E-DDDA-44A4C4F8CBF3}"/>
              </a:ext>
            </a:extLst>
          </p:cNvPr>
          <p:cNvSpPr>
            <a:spLocks noGrp="1"/>
          </p:cNvSpPr>
          <p:nvPr>
            <p:ph type="sldNum" sz="quarter" idx="12"/>
          </p:nvPr>
        </p:nvSpPr>
        <p:spPr/>
        <p:txBody>
          <a:bodyPr/>
          <a:lstStyle/>
          <a:p>
            <a:fld id="{4EEF9975-6C58-5C4C-8961-54FFA2646BAA}" type="slidenum">
              <a:rPr lang="en-US" smtClean="0"/>
              <a:t>29</a:t>
            </a:fld>
            <a:endParaRPr lang="en-US"/>
          </a:p>
        </p:txBody>
      </p:sp>
      <p:sp>
        <p:nvSpPr>
          <p:cNvPr id="10" name="TextBox 9">
            <a:extLst>
              <a:ext uri="{FF2B5EF4-FFF2-40B4-BE49-F238E27FC236}">
                <a16:creationId xmlns:a16="http://schemas.microsoft.com/office/drawing/2014/main" id="{B55F13B2-37FC-1FA6-BB51-7667D6077101}"/>
              </a:ext>
            </a:extLst>
          </p:cNvPr>
          <p:cNvSpPr txBox="1"/>
          <p:nvPr/>
        </p:nvSpPr>
        <p:spPr>
          <a:xfrm>
            <a:off x="2750532" y="5975485"/>
            <a:ext cx="6690937" cy="276999"/>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/blog/inside-the-nvidia-rubin-platform-six-new-chips-one-ai-supercomputer/</a:t>
            </a:r>
          </a:p>
        </p:txBody>
      </p:sp>
      <p:grpSp>
        <p:nvGrpSpPr>
          <p:cNvPr id="9" name="Group 8">
            <a:extLst>
              <a:ext uri="{FF2B5EF4-FFF2-40B4-BE49-F238E27FC236}">
                <a16:creationId xmlns:a16="http://schemas.microsoft.com/office/drawing/2014/main" id="{D0242F74-0CC2-26DD-F1EC-2B0FA04A6C39}"/>
              </a:ext>
            </a:extLst>
          </p:cNvPr>
          <p:cNvGrpSpPr/>
          <p:nvPr/>
        </p:nvGrpSpPr>
        <p:grpSpPr>
          <a:xfrm>
            <a:off x="7982196" y="1445754"/>
            <a:ext cx="4321389" cy="2020864"/>
            <a:chOff x="7639291" y="1445754"/>
            <a:chExt cx="4321389" cy="2020864"/>
          </a:xfrm>
        </p:grpSpPr>
        <p:sp>
          <p:nvSpPr>
            <p:cNvPr id="8" name="Rectangular Callout 7">
              <a:extLst>
                <a:ext uri="{FF2B5EF4-FFF2-40B4-BE49-F238E27FC236}">
                  <a16:creationId xmlns:a16="http://schemas.microsoft.com/office/drawing/2014/main" id="{09DCEBBA-6FE8-68CB-2389-31A82104AF8F}"/>
                </a:ext>
              </a:extLst>
            </p:cNvPr>
            <p:cNvSpPr/>
            <p:nvPr/>
          </p:nvSpPr>
          <p:spPr>
            <a:xfrm>
              <a:off x="7639291" y="1445754"/>
              <a:ext cx="4321388" cy="2020864"/>
            </a:xfrm>
            <a:prstGeom prst="wedgeRectCallout">
              <a:avLst>
                <a:gd name="adj1" fmla="val -72528"/>
                <a:gd name="adj2" fmla="val 14388"/>
              </a:avLst>
            </a:prstGeom>
            <a:solidFill>
              <a:schemeClr val="tx1">
                <a:alpha val="2014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Product graphic showing the NVIDIA Vera CPU on a black background, with a close-up view of the CPU package and exposed die on the left and key architectural features listed on the right. The Vera CPU is described as built for data movement and agentic processing, featuring 88 NVIDIA custom Olympus CPU cores with 176 threads using NVIDIA spatial multithreading, 1.8 TB/s NVLink-C2C bandwidth enabling coherent CPU-GPU memory, and 1.5 TB of system memory using power-efficient SOCAMM LPDDR5X. Additional highlights include second-generation NVIDIA SCF fabric and deterministic, low-latency data movement optimized for next-generation AI systems.">
              <a:extLst>
                <a:ext uri="{FF2B5EF4-FFF2-40B4-BE49-F238E27FC236}">
                  <a16:creationId xmlns:a16="http://schemas.microsoft.com/office/drawing/2014/main" id="{577C46D8-EE88-71A2-C29F-FF7558FA42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759" t="28084" r="10190" b="24220"/>
            <a:stretch>
              <a:fillRect/>
            </a:stretch>
          </p:blipFill>
          <p:spPr bwMode="auto">
            <a:xfrm>
              <a:off x="7639291" y="1454938"/>
              <a:ext cx="4321389" cy="20116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716A358D-4FA4-659B-5772-7C0FB0F344B4}"/>
              </a:ext>
            </a:extLst>
          </p:cNvPr>
          <p:cNvGrpSpPr/>
          <p:nvPr/>
        </p:nvGrpSpPr>
        <p:grpSpPr>
          <a:xfrm>
            <a:off x="-48986" y="2011839"/>
            <a:ext cx="4451019" cy="2011680"/>
            <a:chOff x="-48986" y="2011839"/>
            <a:chExt cx="4451019" cy="2011680"/>
          </a:xfrm>
        </p:grpSpPr>
        <p:sp>
          <p:nvSpPr>
            <p:cNvPr id="11" name="Rectangular Callout 10">
              <a:extLst>
                <a:ext uri="{FF2B5EF4-FFF2-40B4-BE49-F238E27FC236}">
                  <a16:creationId xmlns:a16="http://schemas.microsoft.com/office/drawing/2014/main" id="{315520C2-BFF2-64DA-34A5-B5E227454348}"/>
                </a:ext>
              </a:extLst>
            </p:cNvPr>
            <p:cNvSpPr/>
            <p:nvPr/>
          </p:nvSpPr>
          <p:spPr>
            <a:xfrm>
              <a:off x="-48986" y="2011839"/>
              <a:ext cx="4451017" cy="2011680"/>
            </a:xfrm>
            <a:prstGeom prst="wedgeRectCallout">
              <a:avLst>
                <a:gd name="adj1" fmla="val 54402"/>
                <a:gd name="adj2" fmla="val 84342"/>
              </a:avLst>
            </a:prstGeom>
            <a:solidFill>
              <a:schemeClr val="tx1">
                <a:alpha val="2014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Product graphic presenting the NVIDIA Rubin GPU on a black background, with a detailed die visualization on the left and key performance specifications listed on the right. The Rubin GPU is described as built for the next generation of AI, delivering 50 PFLOPS of NVFP4 inference performance, 35 PFLOPS of NVFP4 training performance, 22 TB/s of HBM4 memory bandwidth, and 3.6 TB/s of NVLink bandwidth per GPU. The graphic also highlights a 336-billion-transistor design and generational gains versus Blackwell, including up to 5x inference, 3.5x training, 2.8x memory bandwidth, 2x NVLink bandwidth, and 1.6x transistor count, emphasizing scalability for large-scale AI workloads.">
              <a:extLst>
                <a:ext uri="{FF2B5EF4-FFF2-40B4-BE49-F238E27FC236}">
                  <a16:creationId xmlns:a16="http://schemas.microsoft.com/office/drawing/2014/main" id="{7C7FB08A-470F-4F02-81C7-ECF871624A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7238" t="29736" r="6831" b="24726"/>
            <a:stretch>
              <a:fillRect/>
            </a:stretch>
          </p:blipFill>
          <p:spPr bwMode="auto">
            <a:xfrm>
              <a:off x="-48984" y="2011839"/>
              <a:ext cx="4451017" cy="20116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5857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70F6-CC68-03A0-5846-CE10F7CDC729}"/>
              </a:ext>
            </a:extLst>
          </p:cNvPr>
          <p:cNvSpPr>
            <a:spLocks noGrp="1"/>
          </p:cNvSpPr>
          <p:nvPr>
            <p:ph type="title"/>
          </p:nvPr>
        </p:nvSpPr>
        <p:spPr/>
        <p:txBody>
          <a:bodyPr/>
          <a:lstStyle/>
          <a:p>
            <a:r>
              <a:rPr lang="en-US" dirty="0"/>
              <a:t>One Step Further…</a:t>
            </a:r>
          </a:p>
        </p:txBody>
      </p:sp>
      <p:pic>
        <p:nvPicPr>
          <p:cNvPr id="7" name="Content Placeholder 6" descr="A rack-scale NVIDIA Groq 3 LPX system with a side table listing key specifications, including 256 Groq 3 LP30 chips, 40 PB/s on-chip SRAM bandwidth, 640 TB/s scale-up bandwidth, 128 GB total SRAM capacity, and 315 PFLOPS of FP8 compute.">
            <a:extLst>
              <a:ext uri="{FF2B5EF4-FFF2-40B4-BE49-F238E27FC236}">
                <a16:creationId xmlns:a16="http://schemas.microsoft.com/office/drawing/2014/main" id="{F56836F0-6F7C-487B-2F99-6DDBF1683400}"/>
              </a:ext>
            </a:extLst>
          </p:cNvPr>
          <p:cNvPicPr>
            <a:picLocks noGrp="1" noChangeAspect="1"/>
          </p:cNvPicPr>
          <p:nvPr>
            <p:ph idx="1"/>
          </p:nvPr>
        </p:nvPicPr>
        <p:blipFill>
          <a:blip r:embed="rId2"/>
          <a:stretch>
            <a:fillRect/>
          </a:stretch>
        </p:blipFill>
        <p:spPr>
          <a:xfrm>
            <a:off x="2379473" y="1825625"/>
            <a:ext cx="7433054" cy="4351338"/>
          </a:xfrm>
          <a:prstGeom prst="rect">
            <a:avLst/>
          </a:prstGeom>
        </p:spPr>
      </p:pic>
      <p:sp>
        <p:nvSpPr>
          <p:cNvPr id="6" name="Slide Number Placeholder 5">
            <a:extLst>
              <a:ext uri="{FF2B5EF4-FFF2-40B4-BE49-F238E27FC236}">
                <a16:creationId xmlns:a16="http://schemas.microsoft.com/office/drawing/2014/main" id="{A7DA65E8-1C9D-B73B-0564-23BDF28051D8}"/>
              </a:ext>
            </a:extLst>
          </p:cNvPr>
          <p:cNvSpPr>
            <a:spLocks noGrp="1"/>
          </p:cNvSpPr>
          <p:nvPr>
            <p:ph type="sldNum" sz="quarter" idx="12"/>
          </p:nvPr>
        </p:nvSpPr>
        <p:spPr/>
        <p:txBody>
          <a:bodyPr/>
          <a:lstStyle/>
          <a:p>
            <a:fld id="{4EEF9975-6C58-5C4C-8961-54FFA2646BAA}" type="slidenum">
              <a:rPr lang="en-US" smtClean="0"/>
              <a:t>30</a:t>
            </a:fld>
            <a:endParaRPr lang="en-US"/>
          </a:p>
        </p:txBody>
      </p:sp>
      <p:sp>
        <p:nvSpPr>
          <p:cNvPr id="8" name="TextBox 7">
            <a:extLst>
              <a:ext uri="{FF2B5EF4-FFF2-40B4-BE49-F238E27FC236}">
                <a16:creationId xmlns:a16="http://schemas.microsoft.com/office/drawing/2014/main" id="{958A6EFF-4379-7AD3-D981-152B9CB48272}"/>
              </a:ext>
            </a:extLst>
          </p:cNvPr>
          <p:cNvSpPr txBox="1"/>
          <p:nvPr/>
        </p:nvSpPr>
        <p:spPr>
          <a:xfrm>
            <a:off x="5551606" y="5715298"/>
            <a:ext cx="4275301" cy="461665"/>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/blog/inside-nvidia-groq-3-lpx-the-low-latency-inference-accelerator-for-the-nvidia-vera-rubin-platform</a:t>
            </a:r>
          </a:p>
        </p:txBody>
      </p:sp>
    </p:spTree>
    <p:extLst>
      <p:ext uri="{BB962C8B-B14F-4D97-AF65-F5344CB8AC3E}">
        <p14:creationId xmlns:p14="http://schemas.microsoft.com/office/powerpoint/2010/main" val="224300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85529" cy="1325563"/>
          </a:xfrm>
        </p:spPr>
        <p:txBody>
          <a:bodyPr/>
          <a:lstStyle/>
          <a:p>
            <a:r>
              <a:rPr lang="en-US" dirty="0"/>
              <a:t>Scale Out: Warehouse-Scale Computer (WSC)</a:t>
            </a:r>
          </a:p>
        </p:txBody>
      </p:sp>
      <p:sp>
        <p:nvSpPr>
          <p:cNvPr id="3" name="Content Placeholder 2"/>
          <p:cNvSpPr>
            <a:spLocks noGrp="1"/>
          </p:cNvSpPr>
          <p:nvPr>
            <p:ph sz="half" idx="1"/>
          </p:nvPr>
        </p:nvSpPr>
        <p:spPr/>
        <p:txBody>
          <a:bodyPr anchor="ctr"/>
          <a:lstStyle/>
          <a:p>
            <a:pPr marL="0" indent="0">
              <a:buNone/>
            </a:pPr>
            <a:r>
              <a:rPr lang="en-US"/>
              <a:t>Single organization</a:t>
            </a:r>
          </a:p>
          <a:p>
            <a:pPr marL="0" indent="0">
              <a:buNone/>
            </a:pPr>
            <a:r>
              <a:rPr lang="en-US"/>
              <a:t>Homogeneity (to some extent)</a:t>
            </a:r>
          </a:p>
          <a:p>
            <a:pPr marL="0" indent="0">
              <a:buNone/>
            </a:pPr>
            <a:r>
              <a:rPr lang="en-US"/>
              <a:t>Cost efficiency at scale</a:t>
            </a:r>
          </a:p>
          <a:p>
            <a:pPr lvl="1"/>
            <a:r>
              <a:rPr lang="en-US"/>
              <a:t>Multiplexing across applications and services</a:t>
            </a:r>
          </a:p>
          <a:p>
            <a:pPr lvl="1"/>
            <a:r>
              <a:rPr lang="en-US"/>
              <a:t>Rent it out!</a:t>
            </a:r>
            <a:endParaRPr lang="en-US" dirty="0"/>
          </a:p>
        </p:txBody>
      </p:sp>
      <p:sp>
        <p:nvSpPr>
          <p:cNvPr id="4" name="Content Placeholder 3"/>
          <p:cNvSpPr>
            <a:spLocks noGrp="1"/>
          </p:cNvSpPr>
          <p:nvPr>
            <p:ph sz="half" idx="2"/>
          </p:nvPr>
        </p:nvSpPr>
        <p:spPr>
          <a:xfrm>
            <a:off x="6978113" y="1825625"/>
            <a:ext cx="4114800" cy="4351338"/>
          </a:xfrm>
        </p:spPr>
        <p:txBody>
          <a:bodyPr anchor="ctr"/>
          <a:lstStyle/>
          <a:p>
            <a:pPr marL="0" indent="0">
              <a:buNone/>
            </a:pPr>
            <a:r>
              <a:rPr lang="en-US"/>
              <a:t>Many concerns</a:t>
            </a:r>
          </a:p>
          <a:p>
            <a:pPr lvl="1"/>
            <a:r>
              <a:rPr lang="en-US"/>
              <a:t>Infrastructure</a:t>
            </a:r>
          </a:p>
          <a:p>
            <a:pPr lvl="1"/>
            <a:r>
              <a:rPr lang="en-US"/>
              <a:t>Networking</a:t>
            </a:r>
          </a:p>
          <a:p>
            <a:pPr lvl="1"/>
            <a:r>
              <a:rPr lang="en-US"/>
              <a:t>Storage</a:t>
            </a:r>
          </a:p>
          <a:p>
            <a:pPr lvl="1"/>
            <a:r>
              <a:rPr lang="en-US"/>
              <a:t>Software</a:t>
            </a:r>
          </a:p>
          <a:p>
            <a:pPr lvl="1"/>
            <a:r>
              <a:rPr lang="en-US"/>
              <a:t>Power/Energy</a:t>
            </a:r>
          </a:p>
          <a:p>
            <a:pPr lvl="1"/>
            <a:r>
              <a:rPr lang="en-US"/>
              <a:t>Failure/Recovery</a:t>
            </a:r>
          </a:p>
          <a:p>
            <a:pPr lvl="1"/>
            <a:r>
              <a:rPr lang="en-US"/>
              <a:t>…</a:t>
            </a:r>
            <a:endParaRPr lang="en-US" dirty="0"/>
          </a:p>
        </p:txBody>
      </p:sp>
      <p:sp>
        <p:nvSpPr>
          <p:cNvPr id="7" name="Slide Number Placeholder 6"/>
          <p:cNvSpPr>
            <a:spLocks noGrp="1"/>
          </p:cNvSpPr>
          <p:nvPr>
            <p:ph type="sldNum" sz="quarter" idx="12"/>
          </p:nvPr>
        </p:nvSpPr>
        <p:spPr/>
        <p:txBody>
          <a:bodyPr/>
          <a:lstStyle/>
          <a:p>
            <a:fld id="{4EEF9975-6C58-5C4C-8961-54FFA2646BAA}" type="slidenum">
              <a:rPr lang="en-US" smtClean="0"/>
              <a:t>31</a:t>
            </a:fld>
            <a:endParaRPr lang="en-US"/>
          </a:p>
        </p:txBody>
      </p:sp>
    </p:spTree>
    <p:extLst>
      <p:ext uri="{BB962C8B-B14F-4D97-AF65-F5344CB8AC3E}">
        <p14:creationId xmlns:p14="http://schemas.microsoft.com/office/powerpoint/2010/main" val="205428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WSC/Datacenter Architecture</a:t>
            </a:r>
          </a:p>
        </p:txBody>
      </p:sp>
      <p:sp>
        <p:nvSpPr>
          <p:cNvPr id="7" name="Slide Number Placeholder 6"/>
          <p:cNvSpPr>
            <a:spLocks noGrp="1"/>
          </p:cNvSpPr>
          <p:nvPr>
            <p:ph type="sldNum" sz="quarter" idx="12"/>
          </p:nvPr>
        </p:nvSpPr>
        <p:spPr/>
        <p:txBody>
          <a:bodyPr/>
          <a:lstStyle/>
          <a:p>
            <a:fld id="{4EEF9975-6C58-5C4C-8961-54FFA2646BAA}" type="slidenum">
              <a:rPr lang="en-US" smtClean="0"/>
              <a:t>32</a:t>
            </a:fld>
            <a:endParaRPr lang="en-US"/>
          </a:p>
        </p:txBody>
      </p:sp>
      <p:grpSp>
        <p:nvGrpSpPr>
          <p:cNvPr id="24" name="Group 23"/>
          <p:cNvGrpSpPr/>
          <p:nvPr/>
        </p:nvGrpSpPr>
        <p:grpSpPr>
          <a:xfrm>
            <a:off x="6370934" y="1255458"/>
            <a:ext cx="5268660" cy="4711555"/>
            <a:chOff x="6370934" y="1255458"/>
            <a:chExt cx="5268660" cy="4711555"/>
          </a:xfrm>
        </p:grpSpPr>
        <p:grpSp>
          <p:nvGrpSpPr>
            <p:cNvPr id="48" name="Group 47"/>
            <p:cNvGrpSpPr/>
            <p:nvPr/>
          </p:nvGrpSpPr>
          <p:grpSpPr>
            <a:xfrm>
              <a:off x="6370934" y="2825254"/>
              <a:ext cx="1227999" cy="3141759"/>
              <a:chOff x="6523463" y="2556514"/>
              <a:chExt cx="1839952" cy="3141759"/>
            </a:xfrm>
          </p:grpSpPr>
          <p:sp>
            <p:nvSpPr>
              <p:cNvPr id="36" name="Rectangle 35"/>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charset="0"/>
                    <a:ea typeface="Gill Sans" charset="0"/>
                    <a:cs typeface="Gill Sans" charset="0"/>
                  </a:rPr>
                  <a:t>Server</a:t>
                </a:r>
              </a:p>
            </p:txBody>
          </p:sp>
          <p:sp>
            <p:nvSpPr>
              <p:cNvPr id="37" name="Rectangle 36"/>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Gill Sans" charset="0"/>
                  <a:ea typeface="Gill Sans" charset="0"/>
                  <a:cs typeface="Gill Sans" charset="0"/>
                </a:endParaRPr>
              </a:p>
            </p:txBody>
          </p:sp>
          <p:sp>
            <p:nvSpPr>
              <p:cNvPr id="47" name="Rectangle 46"/>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7717821" y="2825254"/>
              <a:ext cx="1227999" cy="3141759"/>
              <a:chOff x="6523463" y="2556514"/>
              <a:chExt cx="1839952" cy="3141759"/>
            </a:xfrm>
          </p:grpSpPr>
          <p:sp>
            <p:nvSpPr>
              <p:cNvPr id="50" name="Rectangle 49"/>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p:cNvGrpSpPr/>
            <p:nvPr/>
          </p:nvGrpSpPr>
          <p:grpSpPr>
            <a:xfrm>
              <a:off x="9064708" y="2825254"/>
              <a:ext cx="1227999" cy="3141759"/>
              <a:chOff x="6523463" y="2556514"/>
              <a:chExt cx="1839952" cy="3141759"/>
            </a:xfrm>
          </p:grpSpPr>
          <p:sp>
            <p:nvSpPr>
              <p:cNvPr id="63" name="Rectangle 62"/>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p:cNvGrpSpPr/>
            <p:nvPr/>
          </p:nvGrpSpPr>
          <p:grpSpPr>
            <a:xfrm>
              <a:off x="10411595" y="2814822"/>
              <a:ext cx="1227999" cy="3141759"/>
              <a:chOff x="6523463" y="2556514"/>
              <a:chExt cx="1839952" cy="3141759"/>
            </a:xfrm>
          </p:grpSpPr>
          <p:sp>
            <p:nvSpPr>
              <p:cNvPr id="76" name="Rectangle 75"/>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Rectangle 87"/>
            <p:cNvSpPr/>
            <p:nvPr/>
          </p:nvSpPr>
          <p:spPr>
            <a:xfrm>
              <a:off x="7278712" y="1824875"/>
              <a:ext cx="3334215" cy="6679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Gill Sans" charset="0"/>
                <a:ea typeface="Gill Sans" charset="0"/>
                <a:cs typeface="Gill Sans" charset="0"/>
              </a:endParaRPr>
            </a:p>
          </p:txBody>
        </p:sp>
        <p:cxnSp>
          <p:nvCxnSpPr>
            <p:cNvPr id="90" name="Elbow Connector 89"/>
            <p:cNvCxnSpPr>
              <a:stCxn id="46" idx="0"/>
              <a:endCxn id="88" idx="2"/>
            </p:cNvCxnSpPr>
            <p:nvPr/>
          </p:nvCxnSpPr>
          <p:spPr>
            <a:xfrm rot="5400000" flipH="1" flipV="1">
              <a:off x="7729583" y="1744490"/>
              <a:ext cx="467865" cy="1964610"/>
            </a:xfrm>
            <a:prstGeom prst="bentConnector3">
              <a:avLst>
                <a:gd name="adj1" fmla="val 66684"/>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p:cNvCxnSpPr>
              <a:stCxn id="60" idx="0"/>
              <a:endCxn id="88" idx="2"/>
            </p:cNvCxnSpPr>
            <p:nvPr/>
          </p:nvCxnSpPr>
          <p:spPr>
            <a:xfrm rot="5400000" flipH="1" flipV="1">
              <a:off x="8403026" y="2417934"/>
              <a:ext cx="467865" cy="617723"/>
            </a:xfrm>
            <a:prstGeom prst="bentConnector3">
              <a:avLst>
                <a:gd name="adj1" fmla="val 50000"/>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94"/>
            <p:cNvCxnSpPr>
              <a:stCxn id="73" idx="0"/>
              <a:endCxn id="88" idx="2"/>
            </p:cNvCxnSpPr>
            <p:nvPr/>
          </p:nvCxnSpPr>
          <p:spPr>
            <a:xfrm rot="16200000" flipV="1">
              <a:off x="9076470" y="2362213"/>
              <a:ext cx="467865" cy="729164"/>
            </a:xfrm>
            <a:prstGeom prst="bentConnector3">
              <a:avLst>
                <a:gd name="adj1" fmla="val 50000"/>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p:cNvCxnSpPr>
              <a:stCxn id="86" idx="0"/>
              <a:endCxn id="88" idx="2"/>
            </p:cNvCxnSpPr>
            <p:nvPr/>
          </p:nvCxnSpPr>
          <p:spPr>
            <a:xfrm rot="16200000" flipV="1">
              <a:off x="9755130" y="1683553"/>
              <a:ext cx="457433" cy="2076051"/>
            </a:xfrm>
            <a:prstGeom prst="bentConnector3">
              <a:avLst>
                <a:gd name="adj1" fmla="val 67064"/>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p:cNvCxnSpPr>
              <a:stCxn id="88" idx="0"/>
            </p:cNvCxnSpPr>
            <p:nvPr/>
          </p:nvCxnSpPr>
          <p:spPr>
            <a:xfrm rot="5400000" flipH="1" flipV="1">
              <a:off x="9185804" y="1015473"/>
              <a:ext cx="569418" cy="1049387"/>
            </a:xfrm>
            <a:prstGeom prst="bentConnector2">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 name="Straight Connector 3"/>
          <p:cNvCxnSpPr/>
          <p:nvPr/>
        </p:nvCxnSpPr>
        <p:spPr>
          <a:xfrm>
            <a:off x="5464094" y="1823118"/>
            <a:ext cx="966377" cy="3852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5464094" y="5878524"/>
            <a:ext cx="966377" cy="78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p:cNvSpPr/>
          <p:nvPr/>
        </p:nvSpPr>
        <p:spPr>
          <a:xfrm>
            <a:off x="6430471" y="5687710"/>
            <a:ext cx="1101477"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charset="0"/>
                <a:ea typeface="Gill Sans" charset="0"/>
                <a:cs typeface="Gill Sans" charset="0"/>
              </a:rPr>
              <a:t>Server</a:t>
            </a:r>
          </a:p>
        </p:txBody>
      </p:sp>
      <p:grpSp>
        <p:nvGrpSpPr>
          <p:cNvPr id="108" name="Group 107">
            <a:extLst>
              <a:ext uri="{FF2B5EF4-FFF2-40B4-BE49-F238E27FC236}">
                <a16:creationId xmlns:a16="http://schemas.microsoft.com/office/drawing/2014/main" id="{4B191A8A-D3A4-8841-BC10-7F4059E4BF37}"/>
              </a:ext>
            </a:extLst>
          </p:cNvPr>
          <p:cNvGrpSpPr/>
          <p:nvPr/>
        </p:nvGrpSpPr>
        <p:grpSpPr>
          <a:xfrm>
            <a:off x="679268" y="1832266"/>
            <a:ext cx="4795024" cy="4455175"/>
            <a:chOff x="6477000" y="1901175"/>
            <a:chExt cx="4795024" cy="4455175"/>
          </a:xfrm>
        </p:grpSpPr>
        <p:pic>
          <p:nvPicPr>
            <p:cNvPr id="3" name="Picture 2">
              <a:extLst>
                <a:ext uri="{FF2B5EF4-FFF2-40B4-BE49-F238E27FC236}">
                  <a16:creationId xmlns:a16="http://schemas.microsoft.com/office/drawing/2014/main" id="{0837C36C-7911-4EAF-C0D0-4692DC8D2A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4546" y="1901175"/>
              <a:ext cx="1371600" cy="1371600"/>
            </a:xfrm>
            <a:prstGeom prst="rect">
              <a:avLst/>
            </a:prstGeom>
          </p:spPr>
        </p:pic>
        <p:pic>
          <p:nvPicPr>
            <p:cNvPr id="8" name="Picture 7">
              <a:extLst>
                <a:ext uri="{FF2B5EF4-FFF2-40B4-BE49-F238E27FC236}">
                  <a16:creationId xmlns:a16="http://schemas.microsoft.com/office/drawing/2014/main" id="{9764FC66-B6D4-C97D-35CA-C4728E58A9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38112" y="2062540"/>
              <a:ext cx="1371600" cy="1048871"/>
            </a:xfrm>
            <a:prstGeom prst="rect">
              <a:avLst/>
            </a:prstGeom>
          </p:spPr>
        </p:pic>
        <p:sp>
          <p:nvSpPr>
            <p:cNvPr id="9" name="Left-Right Arrow 8">
              <a:extLst>
                <a:ext uri="{FF2B5EF4-FFF2-40B4-BE49-F238E27FC236}">
                  <a16:creationId xmlns:a16="http://schemas.microsoft.com/office/drawing/2014/main" id="{301CFACC-9B65-349B-B8D8-93E272AB8975}"/>
                </a:ext>
              </a:extLst>
            </p:cNvPr>
            <p:cNvSpPr/>
            <p:nvPr/>
          </p:nvSpPr>
          <p:spPr>
            <a:xfrm>
              <a:off x="8395009" y="2436732"/>
              <a:ext cx="1172737" cy="395678"/>
            </a:xfrm>
            <a:prstGeom prst="lef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Up-Down Arrow 9">
              <a:extLst>
                <a:ext uri="{FF2B5EF4-FFF2-40B4-BE49-F238E27FC236}">
                  <a16:creationId xmlns:a16="http://schemas.microsoft.com/office/drawing/2014/main" id="{F94445EC-A748-B2DE-2856-635928386A23}"/>
                </a:ext>
              </a:extLst>
            </p:cNvPr>
            <p:cNvSpPr/>
            <p:nvPr/>
          </p:nvSpPr>
          <p:spPr>
            <a:xfrm>
              <a:off x="6934202" y="3327148"/>
              <a:ext cx="390292" cy="3029202"/>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Up Arrow 15">
              <a:extLst>
                <a:ext uri="{FF2B5EF4-FFF2-40B4-BE49-F238E27FC236}">
                  <a16:creationId xmlns:a16="http://schemas.microsoft.com/office/drawing/2014/main" id="{A0C7F85E-56E7-81DB-4EBB-77F16B30D161}"/>
                </a:ext>
              </a:extLst>
            </p:cNvPr>
            <p:cNvSpPr/>
            <p:nvPr/>
          </p:nvSpPr>
          <p:spPr>
            <a:xfrm>
              <a:off x="7472558" y="3327148"/>
              <a:ext cx="390292" cy="2192706"/>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C35F4055-7BF1-0BC9-84FD-4AD3E8058F7C}"/>
                </a:ext>
              </a:extLst>
            </p:cNvPr>
            <p:cNvSpPr/>
            <p:nvPr/>
          </p:nvSpPr>
          <p:spPr>
            <a:xfrm>
              <a:off x="7567962" y="5320529"/>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584F1E7-A1B7-C28F-8B58-F2A4EDB052F2}"/>
                </a:ext>
              </a:extLst>
            </p:cNvPr>
            <p:cNvSpPr txBox="1"/>
            <p:nvPr/>
          </p:nvSpPr>
          <p:spPr>
            <a:xfrm>
              <a:off x="8547456" y="2116310"/>
              <a:ext cx="785793" cy="369332"/>
            </a:xfrm>
            <a:prstGeom prst="rect">
              <a:avLst/>
            </a:prstGeom>
            <a:noFill/>
          </p:spPr>
          <p:txBody>
            <a:bodyPr wrap="none" rtlCol="0">
              <a:spAutoFit/>
            </a:bodyPr>
            <a:lstStyle/>
            <a:p>
              <a:r>
                <a:rPr lang="en-US" dirty="0">
                  <a:latin typeface="Gill Sans" charset="0"/>
                  <a:ea typeface="Gill Sans" charset="0"/>
                  <a:cs typeface="Gill Sans" charset="0"/>
                </a:rPr>
                <a:t>DDR5</a:t>
              </a:r>
            </a:p>
          </p:txBody>
        </p:sp>
        <p:sp>
          <p:nvSpPr>
            <p:cNvPr id="32" name="TextBox 31">
              <a:extLst>
                <a:ext uri="{FF2B5EF4-FFF2-40B4-BE49-F238E27FC236}">
                  <a16:creationId xmlns:a16="http://schemas.microsoft.com/office/drawing/2014/main" id="{56102255-1084-C5D1-E784-5C97D3E13EBD}"/>
                </a:ext>
              </a:extLst>
            </p:cNvPr>
            <p:cNvSpPr txBox="1"/>
            <p:nvPr/>
          </p:nvSpPr>
          <p:spPr>
            <a:xfrm rot="16200000">
              <a:off x="6367052" y="4915118"/>
              <a:ext cx="997389" cy="369332"/>
            </a:xfrm>
            <a:prstGeom prst="rect">
              <a:avLst/>
            </a:prstGeom>
            <a:noFill/>
          </p:spPr>
          <p:txBody>
            <a:bodyPr wrap="none" rtlCol="0">
              <a:spAutoFit/>
            </a:bodyPr>
            <a:lstStyle/>
            <a:p>
              <a:r>
                <a:rPr lang="en-US" dirty="0">
                  <a:latin typeface="Gill Sans" charset="0"/>
                  <a:ea typeface="Gill Sans" charset="0"/>
                  <a:cs typeface="Gill Sans" charset="0"/>
                </a:rPr>
                <a:t>Ethernet</a:t>
              </a:r>
            </a:p>
          </p:txBody>
        </p:sp>
        <p:sp>
          <p:nvSpPr>
            <p:cNvPr id="33" name="TextBox 32">
              <a:extLst>
                <a:ext uri="{FF2B5EF4-FFF2-40B4-BE49-F238E27FC236}">
                  <a16:creationId xmlns:a16="http://schemas.microsoft.com/office/drawing/2014/main" id="{5EAE2567-7B58-B972-C7F0-44114640ED2E}"/>
                </a:ext>
              </a:extLst>
            </p:cNvPr>
            <p:cNvSpPr txBox="1"/>
            <p:nvPr/>
          </p:nvSpPr>
          <p:spPr>
            <a:xfrm>
              <a:off x="7737495" y="5078784"/>
              <a:ext cx="793807" cy="369332"/>
            </a:xfrm>
            <a:prstGeom prst="rect">
              <a:avLst/>
            </a:prstGeom>
            <a:noFill/>
          </p:spPr>
          <p:txBody>
            <a:bodyPr wrap="none" rtlCol="0">
              <a:spAutoFit/>
            </a:bodyPr>
            <a:lstStyle/>
            <a:p>
              <a:r>
                <a:rPr lang="en-US" dirty="0" err="1">
                  <a:latin typeface="Gill Sans" charset="0"/>
                  <a:ea typeface="Gill Sans" charset="0"/>
                  <a:cs typeface="Gill Sans" charset="0"/>
                </a:rPr>
                <a:t>NVMe</a:t>
              </a:r>
              <a:endParaRPr lang="en-US" dirty="0">
                <a:latin typeface="Gill Sans" charset="0"/>
                <a:ea typeface="Gill Sans" charset="0"/>
                <a:cs typeface="Gill Sans" charset="0"/>
              </a:endParaRPr>
            </a:p>
          </p:txBody>
        </p:sp>
        <p:sp>
          <p:nvSpPr>
            <p:cNvPr id="34" name="Right Arrow 33">
              <a:extLst>
                <a:ext uri="{FF2B5EF4-FFF2-40B4-BE49-F238E27FC236}">
                  <a16:creationId xmlns:a16="http://schemas.microsoft.com/office/drawing/2014/main" id="{97FB883F-C19C-14D7-B47F-C7A25A441A87}"/>
                </a:ext>
              </a:extLst>
            </p:cNvPr>
            <p:cNvSpPr/>
            <p:nvPr/>
          </p:nvSpPr>
          <p:spPr>
            <a:xfrm>
              <a:off x="7570939" y="4289614"/>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9FE3EED0-7747-B8AD-0389-35B8CE3F758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38112" y="4647040"/>
              <a:ext cx="1371600" cy="803758"/>
            </a:xfrm>
            <a:prstGeom prst="rect">
              <a:avLst/>
            </a:prstGeom>
          </p:spPr>
        </p:pic>
        <p:sp>
          <p:nvSpPr>
            <p:cNvPr id="93" name="Up Arrow 92">
              <a:extLst>
                <a:ext uri="{FF2B5EF4-FFF2-40B4-BE49-F238E27FC236}">
                  <a16:creationId xmlns:a16="http://schemas.microsoft.com/office/drawing/2014/main" id="{EFED0479-3FF3-3A49-09D3-D8A5409D4764}"/>
                </a:ext>
              </a:extLst>
            </p:cNvPr>
            <p:cNvSpPr/>
            <p:nvPr/>
          </p:nvSpPr>
          <p:spPr>
            <a:xfrm>
              <a:off x="7992816" y="3327148"/>
              <a:ext cx="390292" cy="743764"/>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ight Arrow 93">
              <a:extLst>
                <a:ext uri="{FF2B5EF4-FFF2-40B4-BE49-F238E27FC236}">
                  <a16:creationId xmlns:a16="http://schemas.microsoft.com/office/drawing/2014/main" id="{C1778AC2-2353-13CC-D5FA-DCCDCBAC1710}"/>
                </a:ext>
              </a:extLst>
            </p:cNvPr>
            <p:cNvSpPr/>
            <p:nvPr/>
          </p:nvSpPr>
          <p:spPr>
            <a:xfrm>
              <a:off x="8091197" y="3846654"/>
              <a:ext cx="1580009"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F5AFF9F2-B484-C15C-76EA-7F97B070EBD5}"/>
                </a:ext>
              </a:extLst>
            </p:cNvPr>
            <p:cNvSpPr txBox="1"/>
            <p:nvPr/>
          </p:nvSpPr>
          <p:spPr>
            <a:xfrm>
              <a:off x="8369074" y="3523176"/>
              <a:ext cx="914033" cy="369332"/>
            </a:xfrm>
            <a:prstGeom prst="rect">
              <a:avLst/>
            </a:prstGeom>
            <a:noFill/>
          </p:spPr>
          <p:txBody>
            <a:bodyPr wrap="none" rtlCol="0">
              <a:spAutoFit/>
            </a:bodyPr>
            <a:lstStyle/>
            <a:p>
              <a:r>
                <a:rPr lang="en-US" dirty="0">
                  <a:latin typeface="Gill Sans" charset="0"/>
                  <a:ea typeface="Gill Sans" charset="0"/>
                  <a:cs typeface="Gill Sans" charset="0"/>
                </a:rPr>
                <a:t>PCIe v6</a:t>
              </a:r>
            </a:p>
          </p:txBody>
        </p:sp>
        <p:sp>
          <p:nvSpPr>
            <p:cNvPr id="97" name="Rectangle 96">
              <a:extLst>
                <a:ext uri="{FF2B5EF4-FFF2-40B4-BE49-F238E27FC236}">
                  <a16:creationId xmlns:a16="http://schemas.microsoft.com/office/drawing/2014/main" id="{A07D1C4D-F900-E9B1-7B7F-148F78AEF6D1}"/>
                </a:ext>
              </a:extLst>
            </p:cNvPr>
            <p:cNvSpPr/>
            <p:nvPr/>
          </p:nvSpPr>
          <p:spPr>
            <a:xfrm>
              <a:off x="6477000" y="1901175"/>
              <a:ext cx="4795024" cy="413346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CBD3DAC4-5B2C-9F25-661B-3A22587C2917}"/>
                </a:ext>
              </a:extLst>
            </p:cNvPr>
            <p:cNvSpPr txBox="1"/>
            <p:nvPr/>
          </p:nvSpPr>
          <p:spPr>
            <a:xfrm>
              <a:off x="7751299" y="4531428"/>
              <a:ext cx="871072" cy="369332"/>
            </a:xfrm>
            <a:prstGeom prst="rect">
              <a:avLst/>
            </a:prstGeom>
            <a:noFill/>
          </p:spPr>
          <p:txBody>
            <a:bodyPr wrap="none" rtlCol="0">
              <a:spAutoFit/>
            </a:bodyPr>
            <a:lstStyle/>
            <a:p>
              <a:r>
                <a:rPr lang="en-US" dirty="0">
                  <a:latin typeface="Gill Sans" charset="0"/>
                  <a:ea typeface="Gill Sans" charset="0"/>
                  <a:cs typeface="Gill Sans" charset="0"/>
                </a:rPr>
                <a:t>SATA 3</a:t>
              </a:r>
            </a:p>
          </p:txBody>
        </p:sp>
        <p:pic>
          <p:nvPicPr>
            <p:cNvPr id="107" name="Picture 106">
              <a:extLst>
                <a:ext uri="{FF2B5EF4-FFF2-40B4-BE49-F238E27FC236}">
                  <a16:creationId xmlns:a16="http://schemas.microsoft.com/office/drawing/2014/main" id="{12F07DEB-1A0B-C0F7-731D-F356FFAD448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45764" y="3538099"/>
              <a:ext cx="914400" cy="914400"/>
            </a:xfrm>
            <a:prstGeom prst="rect">
              <a:avLst/>
            </a:prstGeom>
          </p:spPr>
        </p:pic>
      </p:grpSp>
    </p:spTree>
    <p:extLst>
      <p:ext uri="{BB962C8B-B14F-4D97-AF65-F5344CB8AC3E}">
        <p14:creationId xmlns:p14="http://schemas.microsoft.com/office/powerpoint/2010/main" val="113324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wipe(left)">
                                      <p:cBhvr>
                                        <p:cTn id="10" dur="500"/>
                                        <p:tgtEl>
                                          <p:spTgt spid="8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9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29C4551-C339-970C-EC36-259158D93326}"/>
              </a:ext>
            </a:extLst>
          </p:cNvPr>
          <p:cNvSpPr>
            <a:spLocks noGrp="1"/>
          </p:cNvSpPr>
          <p:nvPr>
            <p:ph type="title"/>
          </p:nvPr>
        </p:nvSpPr>
        <p:spPr>
          <a:xfrm>
            <a:off x="745672" y="365125"/>
            <a:ext cx="10700657" cy="1325563"/>
          </a:xfrm>
        </p:spPr>
        <p:txBody>
          <a:bodyPr/>
          <a:lstStyle/>
          <a:p>
            <a:r>
              <a:rPr lang="en-US" dirty="0"/>
              <a:t>Vera Rubin NVL72 </a:t>
            </a:r>
            <a:r>
              <a:rPr lang="en-US" dirty="0" err="1"/>
              <a:t>NVLink</a:t>
            </a:r>
            <a:r>
              <a:rPr lang="en-US" dirty="0"/>
              <a:t> All-to-All Topology</a:t>
            </a:r>
          </a:p>
        </p:txBody>
      </p:sp>
      <p:sp>
        <p:nvSpPr>
          <p:cNvPr id="7" name="Slide Number Placeholder 6">
            <a:extLst>
              <a:ext uri="{FF2B5EF4-FFF2-40B4-BE49-F238E27FC236}">
                <a16:creationId xmlns:a16="http://schemas.microsoft.com/office/drawing/2014/main" id="{32133610-A81D-0F86-D821-88CF59066111}"/>
              </a:ext>
            </a:extLst>
          </p:cNvPr>
          <p:cNvSpPr>
            <a:spLocks noGrp="1"/>
          </p:cNvSpPr>
          <p:nvPr>
            <p:ph type="sldNum" sz="quarter" idx="12"/>
          </p:nvPr>
        </p:nvSpPr>
        <p:spPr/>
        <p:txBody>
          <a:bodyPr/>
          <a:lstStyle/>
          <a:p>
            <a:fld id="{4EEF9975-6C58-5C4C-8961-54FFA2646BAA}" type="slidenum">
              <a:rPr lang="en-US" smtClean="0"/>
              <a:t>33</a:t>
            </a:fld>
            <a:endParaRPr lang="en-US"/>
          </a:p>
        </p:txBody>
      </p:sp>
      <p:pic>
        <p:nvPicPr>
          <p:cNvPr id="3074" name="Picture 2" descr="Diagram showing a 72-GPU NVL72 rack connected through 36 NVLink 6 switches in an all-to-all topology, illustrating single-hop GPU-to-GPU connectivity across the entire rack.">
            <a:extLst>
              <a:ext uri="{FF2B5EF4-FFF2-40B4-BE49-F238E27FC236}">
                <a16:creationId xmlns:a16="http://schemas.microsoft.com/office/drawing/2014/main" id="{C338D24C-A14A-29C3-5671-1CB366D477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8093" y="1624885"/>
            <a:ext cx="7023036" cy="42976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9F4419-01F6-0768-71B2-DDEB337F916F}"/>
              </a:ext>
            </a:extLst>
          </p:cNvPr>
          <p:cNvSpPr txBox="1"/>
          <p:nvPr/>
        </p:nvSpPr>
        <p:spPr>
          <a:xfrm>
            <a:off x="2750532" y="5975485"/>
            <a:ext cx="6690937" cy="276999"/>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/blog/inside-the-nvidia-rubin-platform-six-new-chips-one-ai-supercomputer/</a:t>
            </a:r>
          </a:p>
        </p:txBody>
      </p:sp>
      <p:pic>
        <p:nvPicPr>
          <p:cNvPr id="3076" name="Picture 4" descr="Image of the NVIDIA NVLink 6 Switch showing a chip package alongside key capabilities, including 3.6 terabytes per second of bandwidth per GPU, an ultra-low-latency all-to-all fabric, SHARP in-network compute for FP8 collective acceleration, rack-scale aggregation delivering up to 28.8 TB/s per switch tray and 260 TB/s per NVL72 rack, and a deterministic low-latency switching pipeline optimized for expert routing and collective communication.">
            <a:extLst>
              <a:ext uri="{FF2B5EF4-FFF2-40B4-BE49-F238E27FC236}">
                <a16:creationId xmlns:a16="http://schemas.microsoft.com/office/drawing/2014/main" id="{B5A6EB0D-F656-9FE7-7A6B-5E1EC8CDEB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678" t="24224" r="10268" b="24511"/>
          <a:stretch>
            <a:fillRect/>
          </a:stretch>
        </p:blipFill>
        <p:spPr bwMode="auto">
          <a:xfrm>
            <a:off x="7738461" y="2784457"/>
            <a:ext cx="3975446" cy="201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5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Datacenter Needs an Operating System</a:t>
            </a:r>
          </a:p>
        </p:txBody>
      </p:sp>
      <p:sp>
        <p:nvSpPr>
          <p:cNvPr id="10" name="Content Placeholder 9"/>
          <p:cNvSpPr>
            <a:spLocks noGrp="1"/>
          </p:cNvSpPr>
          <p:nvPr>
            <p:ph sz="half" idx="1"/>
          </p:nvPr>
        </p:nvSpPr>
        <p:spPr/>
        <p:txBody>
          <a:bodyPr anchor="ctr"/>
          <a:lstStyle/>
          <a:p>
            <a:pPr marL="0" indent="0">
              <a:buNone/>
            </a:pPr>
            <a:r>
              <a:rPr lang="en-US" dirty="0"/>
              <a:t>Datacenter is a collection of</a:t>
            </a:r>
          </a:p>
          <a:p>
            <a:pPr lvl="1"/>
            <a:r>
              <a:rPr lang="en-US" dirty="0"/>
              <a:t>Compute</a:t>
            </a:r>
          </a:p>
          <a:p>
            <a:pPr lvl="1"/>
            <a:r>
              <a:rPr lang="en-US" dirty="0"/>
              <a:t>Memory</a:t>
            </a:r>
          </a:p>
          <a:p>
            <a:pPr lvl="1"/>
            <a:r>
              <a:rPr lang="en-US" dirty="0"/>
              <a:t>All connected by an interconnect</a:t>
            </a:r>
          </a:p>
          <a:p>
            <a:pPr marL="0" indent="0">
              <a:buNone/>
            </a:pPr>
            <a:r>
              <a:rPr lang="en-US" dirty="0"/>
              <a:t>Not unlike a computer</a:t>
            </a:r>
          </a:p>
        </p:txBody>
      </p:sp>
      <p:sp>
        <p:nvSpPr>
          <p:cNvPr id="7" name="Slide Number Placeholder 6"/>
          <p:cNvSpPr>
            <a:spLocks noGrp="1"/>
          </p:cNvSpPr>
          <p:nvPr>
            <p:ph type="sldNum" sz="quarter" idx="12"/>
          </p:nvPr>
        </p:nvSpPr>
        <p:spPr/>
        <p:txBody>
          <a:bodyPr/>
          <a:lstStyle/>
          <a:p>
            <a:fld id="{4EEF9975-6C58-5C4C-8961-54FFA2646BAA}" type="slidenum">
              <a:rPr lang="en-US" smtClean="0"/>
              <a:t>34</a:t>
            </a:fld>
            <a:endParaRPr lang="en-US"/>
          </a:p>
        </p:txBody>
      </p:sp>
      <p:sp>
        <p:nvSpPr>
          <p:cNvPr id="3" name="Content Placeholder 2">
            <a:extLst>
              <a:ext uri="{FF2B5EF4-FFF2-40B4-BE49-F238E27FC236}">
                <a16:creationId xmlns:a16="http://schemas.microsoft.com/office/drawing/2014/main" id="{7FB3760C-20F9-0F98-6312-0E22ED5DE940}"/>
              </a:ext>
            </a:extLst>
          </p:cNvPr>
          <p:cNvSpPr>
            <a:spLocks noGrp="1"/>
          </p:cNvSpPr>
          <p:nvPr>
            <p:ph sz="half" idx="2"/>
          </p:nvPr>
        </p:nvSpPr>
        <p:spPr/>
        <p:txBody>
          <a:bodyPr anchor="ctr"/>
          <a:lstStyle/>
          <a:p>
            <a:pPr marL="0" indent="0">
              <a:buNone/>
            </a:pPr>
            <a:r>
              <a:rPr lang="en-US" dirty="0"/>
              <a:t>Some differences</a:t>
            </a:r>
          </a:p>
          <a:p>
            <a:pPr marL="971550" lvl="1" indent="-514350">
              <a:buFont typeface="+mj-lt"/>
              <a:buAutoNum type="arabicPeriod"/>
            </a:pPr>
            <a:r>
              <a:rPr lang="en-US" dirty="0"/>
              <a:t>VERY high level of parallelism</a:t>
            </a:r>
          </a:p>
          <a:p>
            <a:pPr marL="971550" lvl="1" indent="-514350">
              <a:buFont typeface="+mj-lt"/>
              <a:buAutoNum type="arabicPeriod"/>
            </a:pPr>
            <a:r>
              <a:rPr lang="en-US" dirty="0"/>
              <a:t>VERY large scale</a:t>
            </a:r>
          </a:p>
          <a:p>
            <a:pPr marL="971550" lvl="1" indent="-514350">
              <a:buFont typeface="+mj-lt"/>
              <a:buAutoNum type="arabicPeriod"/>
            </a:pPr>
            <a:r>
              <a:rPr lang="en-US" dirty="0"/>
              <a:t>Diversity of workloads</a:t>
            </a:r>
          </a:p>
          <a:p>
            <a:pPr marL="971550" lvl="1" indent="-514350">
              <a:buFont typeface="+mj-lt"/>
              <a:buAutoNum type="arabicPeriod"/>
            </a:pPr>
            <a:r>
              <a:rPr lang="en-US" dirty="0"/>
              <a:t>Resource heterogeneity</a:t>
            </a:r>
          </a:p>
          <a:p>
            <a:pPr marL="971550" lvl="1" indent="-514350">
              <a:buFont typeface="+mj-lt"/>
              <a:buAutoNum type="arabicPeriod"/>
            </a:pPr>
            <a:r>
              <a:rPr lang="en-US" dirty="0"/>
              <a:t>Failure is the norm</a:t>
            </a:r>
          </a:p>
        </p:txBody>
      </p:sp>
    </p:spTree>
    <p:extLst>
      <p:ext uri="{BB962C8B-B14F-4D97-AF65-F5344CB8AC3E}">
        <p14:creationId xmlns:p14="http://schemas.microsoft.com/office/powerpoint/2010/main" val="1484470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Categories of Software</a:t>
            </a:r>
          </a:p>
        </p:txBody>
      </p:sp>
      <p:sp>
        <p:nvSpPr>
          <p:cNvPr id="3" name="Content Placeholder 2"/>
          <p:cNvSpPr>
            <a:spLocks noGrp="1"/>
          </p:cNvSpPr>
          <p:nvPr>
            <p:ph idx="1"/>
          </p:nvPr>
        </p:nvSpPr>
        <p:spPr/>
        <p:txBody>
          <a:bodyPr/>
          <a:lstStyle/>
          <a:p>
            <a:pPr marL="514350" indent="-514350">
              <a:buFont typeface="+mj-lt"/>
              <a:buAutoNum type="arabicPeriod"/>
            </a:pPr>
            <a:r>
              <a:rPr lang="en-US" dirty="0">
                <a:solidFill>
                  <a:schemeClr val="accent2"/>
                </a:solidFill>
              </a:rPr>
              <a:t>Platform-level</a:t>
            </a:r>
          </a:p>
          <a:p>
            <a:pPr lvl="1"/>
            <a:r>
              <a:rPr lang="en-US" dirty="0">
                <a:solidFill>
                  <a:schemeClr val="accent2"/>
                </a:solidFill>
              </a:rPr>
              <a:t>Software firmware that are present in every machine</a:t>
            </a:r>
          </a:p>
          <a:p>
            <a:pPr marL="514350" indent="-514350">
              <a:buFont typeface="+mj-lt"/>
              <a:buAutoNum type="arabicPeriod"/>
            </a:pPr>
            <a:r>
              <a:rPr lang="en-US" dirty="0">
                <a:solidFill>
                  <a:schemeClr val="accent2"/>
                </a:solidFill>
              </a:rPr>
              <a:t>Cluster-level</a:t>
            </a:r>
          </a:p>
          <a:p>
            <a:pPr lvl="1"/>
            <a:r>
              <a:rPr lang="en-US" dirty="0">
                <a:solidFill>
                  <a:schemeClr val="accent2"/>
                </a:solidFill>
              </a:rPr>
              <a:t>Distributed systems to enable everything</a:t>
            </a:r>
          </a:p>
          <a:p>
            <a:pPr marL="514350" indent="-514350">
              <a:buFont typeface="+mj-lt"/>
              <a:buAutoNum type="arabicPeriod"/>
            </a:pPr>
            <a:r>
              <a:rPr lang="en-US" dirty="0"/>
              <a:t>Application-level</a:t>
            </a:r>
          </a:p>
          <a:p>
            <a:pPr lvl="1"/>
            <a:r>
              <a:rPr lang="en-US" dirty="0"/>
              <a:t>User-facing applications built on top</a:t>
            </a:r>
          </a:p>
        </p:txBody>
      </p:sp>
      <p:sp>
        <p:nvSpPr>
          <p:cNvPr id="6" name="Slide Number Placeholder 5"/>
          <p:cNvSpPr>
            <a:spLocks noGrp="1"/>
          </p:cNvSpPr>
          <p:nvPr>
            <p:ph type="sldNum" sz="quarter" idx="12"/>
          </p:nvPr>
        </p:nvSpPr>
        <p:spPr/>
        <p:txBody>
          <a:bodyPr/>
          <a:lstStyle/>
          <a:p>
            <a:fld id="{4EEF9975-6C58-5C4C-8961-54FFA2646BAA}" type="slidenum">
              <a:rPr lang="en-US" smtClean="0"/>
              <a:t>35</a:t>
            </a:fld>
            <a:endParaRPr lang="en-US"/>
          </a:p>
        </p:txBody>
      </p:sp>
    </p:spTree>
    <p:extLst>
      <p:ext uri="{BB962C8B-B14F-4D97-AF65-F5344CB8AC3E}">
        <p14:creationId xmlns:p14="http://schemas.microsoft.com/office/powerpoint/2010/main" val="3321056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“Systems” Techniques</a:t>
            </a:r>
          </a:p>
        </p:txBody>
      </p:sp>
      <p:graphicFrame>
        <p:nvGraphicFramePr>
          <p:cNvPr id="7" name="Content Placeholder 6"/>
          <p:cNvGraphicFramePr>
            <a:graphicFrameLocks noGrp="1"/>
          </p:cNvGraphicFramePr>
          <p:nvPr>
            <p:ph idx="1"/>
          </p:nvPr>
        </p:nvGraphicFramePr>
        <p:xfrm>
          <a:off x="838200" y="2120093"/>
          <a:ext cx="10515600" cy="3566160"/>
        </p:xfrm>
        <a:graphic>
          <a:graphicData uri="http://schemas.openxmlformats.org/drawingml/2006/table">
            <a:tbl>
              <a:tblPr firstRow="1" bandRow="1">
                <a:tableStyleId>{5C22544A-7EE6-4342-B048-85BDC9FD1C3A}</a:tableStyleId>
              </a:tblPr>
              <a:tblGrid>
                <a:gridCol w="4229746">
                  <a:extLst>
                    <a:ext uri="{9D8B030D-6E8A-4147-A177-3AD203B41FA5}">
                      <a16:colId xmlns:a16="http://schemas.microsoft.com/office/drawing/2014/main" val="20000"/>
                    </a:ext>
                  </a:extLst>
                </a:gridCol>
                <a:gridCol w="3301139">
                  <a:extLst>
                    <a:ext uri="{9D8B030D-6E8A-4147-A177-3AD203B41FA5}">
                      <a16:colId xmlns:a16="http://schemas.microsoft.com/office/drawing/2014/main" val="20001"/>
                    </a:ext>
                  </a:extLst>
                </a:gridCol>
                <a:gridCol w="2984715">
                  <a:extLst>
                    <a:ext uri="{9D8B030D-6E8A-4147-A177-3AD203B41FA5}">
                      <a16:colId xmlns:a16="http://schemas.microsoft.com/office/drawing/2014/main" val="20002"/>
                    </a:ext>
                  </a:extLst>
                </a:gridCol>
              </a:tblGrid>
              <a:tr h="370840">
                <a:tc>
                  <a:txBody>
                    <a:bodyPr/>
                    <a:lstStyle/>
                    <a:p>
                      <a:r>
                        <a:rPr lang="en-US" sz="2000" b="0" dirty="0">
                          <a:solidFill>
                            <a:schemeClr val="bg1"/>
                          </a:solidFill>
                          <a:latin typeface="Gill Sans" charset="0"/>
                          <a:ea typeface="Gill Sans" charset="0"/>
                          <a:cs typeface="Gill Sans" charset="0"/>
                        </a:rPr>
                        <a:t>Technique</a:t>
                      </a:r>
                    </a:p>
                  </a:txBody>
                  <a:tcPr/>
                </a:tc>
                <a:tc>
                  <a:txBody>
                    <a:bodyPr/>
                    <a:lstStyle/>
                    <a:p>
                      <a:pPr algn="ctr"/>
                      <a:r>
                        <a:rPr lang="en-US" sz="2000" b="0" dirty="0">
                          <a:solidFill>
                            <a:schemeClr val="bg1"/>
                          </a:solidFill>
                          <a:latin typeface="Gill Sans" charset="0"/>
                          <a:ea typeface="Gill Sans" charset="0"/>
                          <a:cs typeface="Gill Sans" charset="0"/>
                        </a:rPr>
                        <a:t>Performance/Efficiency</a:t>
                      </a:r>
                    </a:p>
                  </a:txBody>
                  <a:tcPr/>
                </a:tc>
                <a:tc>
                  <a:txBody>
                    <a:bodyPr/>
                    <a:lstStyle/>
                    <a:p>
                      <a:pPr algn="ctr"/>
                      <a:r>
                        <a:rPr lang="en-US" sz="2000" b="0" dirty="0">
                          <a:solidFill>
                            <a:schemeClr val="bg1"/>
                          </a:solidFill>
                          <a:latin typeface="Gill Sans" charset="0"/>
                          <a:ea typeface="Gill Sans" charset="0"/>
                          <a:cs typeface="Gill Sans" charset="0"/>
                        </a:rPr>
                        <a:t>Availability/Resilience</a:t>
                      </a:r>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Gill Sans" charset="0"/>
                          <a:ea typeface="Gill Sans" charset="0"/>
                          <a:cs typeface="Gill Sans" charset="0"/>
                        </a:rPr>
                        <a:t>Replication &amp; Erasure coding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1"/>
                  </a:ext>
                </a:extLst>
              </a:tr>
              <a:tr h="370840">
                <a:tc>
                  <a:txBody>
                    <a:bodyPr/>
                    <a:lstStyle/>
                    <a:p>
                      <a:r>
                        <a:rPr lang="en-US" sz="2000" dirty="0">
                          <a:latin typeface="Gill Sans" charset="0"/>
                          <a:ea typeface="Gill Sans" charset="0"/>
                          <a:cs typeface="Gill Sans" charset="0"/>
                        </a:rPr>
                        <a:t>Sharding/partitioning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3"/>
                  </a:ext>
                </a:extLst>
              </a:tr>
              <a:tr h="370840">
                <a:tc>
                  <a:txBody>
                    <a:bodyPr/>
                    <a:lstStyle/>
                    <a:p>
                      <a:r>
                        <a:rPr lang="en-US" sz="2000" dirty="0">
                          <a:latin typeface="Gill Sans" charset="0"/>
                          <a:ea typeface="Gill Sans" charset="0"/>
                          <a:cs typeface="Gill Sans" charset="0"/>
                        </a:rPr>
                        <a:t>Scheduling &amp; Load balancing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a:latin typeface="Gill Sans" charset="0"/>
                        <a:ea typeface="Gill Sans" charset="0"/>
                        <a:cs typeface="Gill Sans" charset="0"/>
                      </a:endParaRPr>
                    </a:p>
                  </a:txBody>
                  <a:tcPr/>
                </a:tc>
                <a:extLst>
                  <a:ext uri="{0D108BD9-81ED-4DB2-BD59-A6C34878D82A}">
                    <a16:rowId xmlns:a16="http://schemas.microsoft.com/office/drawing/2014/main" val="10004"/>
                  </a:ext>
                </a:extLst>
              </a:tr>
              <a:tr h="370840">
                <a:tc>
                  <a:txBody>
                    <a:bodyPr/>
                    <a:lstStyle/>
                    <a:p>
                      <a:r>
                        <a:rPr lang="en-US" sz="2000" dirty="0">
                          <a:latin typeface="Gill Sans" charset="0"/>
                          <a:ea typeface="Gill Sans" charset="0"/>
                          <a:cs typeface="Gill Sans" charset="0"/>
                        </a:rPr>
                        <a:t>Health &amp; Integrity checks</a:t>
                      </a:r>
                    </a:p>
                  </a:txBody>
                  <a:tcPr/>
                </a:tc>
                <a:tc>
                  <a:txBody>
                    <a:bodyPr/>
                    <a:lstStyle/>
                    <a:p>
                      <a:pPr algn="ctr"/>
                      <a:endParaRPr lang="en-US" sz="2000">
                        <a:latin typeface="Gill Sans" charset="0"/>
                        <a:ea typeface="Gill Sans" charset="0"/>
                        <a:cs typeface="Gill Sans" charset="0"/>
                      </a:endParaRP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5"/>
                  </a:ext>
                </a:extLst>
              </a:tr>
              <a:tr h="370840">
                <a:tc>
                  <a:txBody>
                    <a:bodyPr/>
                    <a:lstStyle/>
                    <a:p>
                      <a:r>
                        <a:rPr lang="en-US" sz="2000" dirty="0">
                          <a:latin typeface="Gill Sans" charset="0"/>
                          <a:ea typeface="Gill Sans" charset="0"/>
                          <a:cs typeface="Gill Sans" charset="0"/>
                        </a:rPr>
                        <a:t>Compression &amp; Quantization</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07"/>
                  </a:ext>
                </a:extLst>
              </a:tr>
              <a:tr h="370840">
                <a:tc>
                  <a:txBody>
                    <a:bodyPr/>
                    <a:lstStyle/>
                    <a:p>
                      <a:r>
                        <a:rPr lang="en-US" sz="2000" dirty="0">
                          <a:latin typeface="Gill Sans" charset="0"/>
                          <a:ea typeface="Gill Sans" charset="0"/>
                          <a:cs typeface="Gill Sans" charset="0"/>
                        </a:rPr>
                        <a:t>Centralized controller</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09"/>
                  </a:ext>
                </a:extLst>
              </a:tr>
              <a:tr h="370840">
                <a:tc>
                  <a:txBody>
                    <a:bodyPr/>
                    <a:lstStyle/>
                    <a:p>
                      <a:r>
                        <a:rPr lang="en-US" sz="2000" dirty="0">
                          <a:latin typeface="Gill Sans" charset="0"/>
                          <a:ea typeface="Gill Sans" charset="0"/>
                          <a:cs typeface="Gill Sans" charset="0"/>
                        </a:rPr>
                        <a:t>Canaries</a:t>
                      </a:r>
                    </a:p>
                  </a:txBody>
                  <a:tcPr/>
                </a:tc>
                <a:tc>
                  <a:txBody>
                    <a:bodyPr/>
                    <a:lstStyle/>
                    <a:p>
                      <a:pPr algn="ctr"/>
                      <a:endParaRPr lang="en-US" sz="2000" dirty="0">
                        <a:latin typeface="Gill Sans" charset="0"/>
                        <a:ea typeface="Gill Sans" charset="0"/>
                        <a:cs typeface="Gill Sans" charset="0"/>
                      </a:endParaRP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10"/>
                  </a:ext>
                </a:extLst>
              </a:tr>
              <a:tr h="370840">
                <a:tc>
                  <a:txBody>
                    <a:bodyPr/>
                    <a:lstStyle/>
                    <a:p>
                      <a:r>
                        <a:rPr lang="en-US" sz="2000" dirty="0">
                          <a:latin typeface="Gill Sans" charset="0"/>
                          <a:ea typeface="Gill Sans" charset="0"/>
                          <a:cs typeface="Gill Sans" charset="0"/>
                        </a:rPr>
                        <a:t>Speculation &amp; Redundant execution</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11"/>
                  </a:ext>
                </a:extLst>
              </a:tr>
            </a:tbl>
          </a:graphicData>
        </a:graphic>
      </p:graphicFrame>
      <p:sp>
        <p:nvSpPr>
          <p:cNvPr id="6" name="Slide Number Placeholder 5"/>
          <p:cNvSpPr>
            <a:spLocks noGrp="1"/>
          </p:cNvSpPr>
          <p:nvPr>
            <p:ph type="sldNum" sz="quarter" idx="12"/>
          </p:nvPr>
        </p:nvSpPr>
        <p:spPr/>
        <p:txBody>
          <a:bodyPr/>
          <a:lstStyle/>
          <a:p>
            <a:fld id="{4EEF9975-6C58-5C4C-8961-54FFA2646BAA}" type="slidenum">
              <a:rPr lang="en-US" smtClean="0"/>
              <a:t>36</a:t>
            </a:fld>
            <a:endParaRPr lang="en-US"/>
          </a:p>
        </p:txBody>
      </p:sp>
    </p:spTree>
    <p:extLst>
      <p:ext uri="{BB962C8B-B14F-4D97-AF65-F5344CB8AC3E}">
        <p14:creationId xmlns:p14="http://schemas.microsoft.com/office/powerpoint/2010/main" val="1126292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529</TotalTime>
  <Words>1636</Words>
  <Application>Microsoft Macintosh PowerPoint</Application>
  <PresentationFormat>Widescreen</PresentationFormat>
  <Paragraphs>341</Paragraphs>
  <Slides>36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Aptos Display</vt:lpstr>
      <vt:lpstr>Arial</vt:lpstr>
      <vt:lpstr>Gill Sans</vt:lpstr>
      <vt:lpstr>Gill Sans Light</vt:lpstr>
      <vt:lpstr>Gill Sans SemiBold</vt:lpstr>
      <vt:lpstr>Office Theme</vt:lpstr>
      <vt:lpstr>CSCI 5540: Machine Learning Systems</vt:lpstr>
      <vt:lpstr>Today’s Agenda</vt:lpstr>
      <vt:lpstr>About Me</vt:lpstr>
      <vt:lpstr>TAs</vt:lpstr>
      <vt:lpstr>Course Schedule</vt:lpstr>
      <vt:lpstr>Course Requirements</vt:lpstr>
      <vt:lpstr>Policies</vt:lpstr>
      <vt:lpstr>What is good use of AI</vt:lpstr>
      <vt:lpstr>Topics (#Lectures)</vt:lpstr>
      <vt:lpstr>Group-Based Work</vt:lpstr>
      <vt:lpstr>Form Groups ASAP</vt:lpstr>
      <vt:lpstr>Readings</vt:lpstr>
      <vt:lpstr>Paper Presentation</vt:lpstr>
      <vt:lpstr>Paper Presentation</vt:lpstr>
      <vt:lpstr>Paper Summaries</vt:lpstr>
      <vt:lpstr>Paper Summaries</vt:lpstr>
      <vt:lpstr>Panel Discussion</vt:lpstr>
      <vt:lpstr>In general,</vt:lpstr>
      <vt:lpstr>Projects</vt:lpstr>
      <vt:lpstr>Research-Oriented Course!</vt:lpstr>
      <vt:lpstr>How to Approach it?</vt:lpstr>
      <vt:lpstr>Milestones (subject to change)</vt:lpstr>
      <vt:lpstr>Draft Proposal (Sep 30)</vt:lpstr>
      <vt:lpstr>Mid-Semester Checkpoint</vt:lpstr>
      <vt:lpstr>Presentation &amp; Paper</vt:lpstr>
      <vt:lpstr>Basics of the Bare-Metal </vt:lpstr>
      <vt:lpstr>What’s in a (Simplified) Server?</vt:lpstr>
      <vt:lpstr>Typical Memory/Storage Hierarchy</vt:lpstr>
      <vt:lpstr>What’s in a Modern AI Server?</vt:lpstr>
      <vt:lpstr>One Step Further…</vt:lpstr>
      <vt:lpstr>Scale Out: Warehouse-Scale Computer (WSC)</vt:lpstr>
      <vt:lpstr>WSC/Datacenter Architecture</vt:lpstr>
      <vt:lpstr>Vera Rubin NVL72 NVLink All-to-All Topology</vt:lpstr>
      <vt:lpstr>Datacenter Needs an Operating System</vt:lpstr>
      <vt:lpstr>Three Categories of Software</vt:lpstr>
      <vt:lpstr>Common “Systems”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Hong Xu</dc:creator>
  <cp:lastModifiedBy>Hong Xu</cp:lastModifiedBy>
  <cp:revision>128</cp:revision>
  <dcterms:created xsi:type="dcterms:W3CDTF">2026-09-05T01:48:52Z</dcterms:created>
  <dcterms:modified xsi:type="dcterms:W3CDTF">2026-09-06T10:16:16Z</dcterms:modified>
</cp:coreProperties>
</file>